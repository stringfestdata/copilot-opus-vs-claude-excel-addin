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81" r:id="rId2"/>
    <p:sldId id="282" r:id="rId3"/>
    <p:sldId id="283" r:id="rId4"/>
    <p:sldId id="284" r:id="rId5"/>
    <p:sldId id="285" r:id="rId6"/>
    <p:sldId id="286" r:id="rId7"/>
    <p:sldId id="287" r:id="rId8"/>
    <p:sldId id="288" r:id="rId9"/>
    <p:sldId id="289"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02" r:id="rId23"/>
    <p:sldId id="303" r:id="rId24"/>
    <p:sldId id="304" r:id="rId25"/>
    <p:sldId id="305"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8642" autoAdjust="0"/>
  </p:normalViewPr>
  <p:slideViewPr>
    <p:cSldViewPr snapToGrid="0" snapToObjects="1">
      <p:cViewPr varScale="1">
        <p:scale>
          <a:sx n="64" d="100"/>
          <a:sy n="64" d="100"/>
        </p:scale>
        <p:origin x="24" y="2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16647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we're doing a head-to-head, practical comparison of Microsoft Copilot and Anthropic's Claude add-in for Excel. This isn't a theoretical overview — we'll be running both tools on the same dataset with the same prompts so you can see exactly how they compare. By the end of this session you'll have a clear sense of which tool fits your workflow, and you'll walk away with hands-on materials to keep exploring on your own.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background on me: I run Stringfest Analytics, where I help teams modernize how they work in Excel. I'm a Microsoft Excel MVP, an O'Reilly author, and a LinkedIn Learning instructor. My focus is on combining Excel with the broader tool ecosystem — Python, Power Query, Power Automate, Copilot, and now AI add-ins like Claude. I see both sides of this comparison regularly in my consulting work, so I want to share what I've learned with you today. My goal isn't to sell you on one tool over the other — it's to give you the information to make the right call for your team.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roadmap for today. We'll start by surveying the landscape — what tools are out there and why the options can be genuinely confusing right now, especially with Microsoft now offering Claude models inside Copilot. Then we'll look at how each tool is set up and operates inside Excel — the interface differences matter more than you'd think. The heart of the session is our live demos: same data, same prompts, different tools. You'll see in real time how they handle categorization and summary tasks. After that we'll do a structured feature-by-feature comparison so you have a reference you can take back to your team. We'll cover universal prompting principles that work regardless of which tool you pick. And we'll close with practical guidance on making the buying decision. Let's jump in.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this comparison matters right now is that for the first time, Excel users have real, meaningful choices. It used to be simple: does your company have Copilot or not? Now there are multiple AI options that plug directly into your spreadsheet. But with choice comes confusion. These tools overlap in some areas and diverge sharply in others. Pricing models differ, data handling policies differ, and the actual capabilities inside Excel are not the same even when the underlying AI model is identical. If you pick the wrong tool, you're either overpaying for features you don't need or underserving your workflow with a tool that can't do what you actually require. So let's get clear on what each one does and doesn't do.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lay out the three things you need to understand about the current landscape. First: Microsoft Copilot is the native, built-in option. It's part of Microsoft 365, supports multiple AI models under the hood, and costs about $30 per user per month as a paid add-on. The key feature for Excel users is the "Edit with Copilot" toggle, which lets Copilot make changes directly in your cells — no copy-paste, no approval step. Second: the Claude add-in is a third-party option from Anthropic. You install it from the Office add-in store. It runs in a side panel, uses Claude models exclusively, and requires its own separate subscription. A critical difference: Claude asks your permission before modifying data. You approve or deny each change. Third — and this is the twist that confuses almost everyone — Microsoft's premium Copilot tier can actually run Anthropic's Claude models. So you can have the exact same underlying AI model powering two completely different interfaces with different capabilities. The wrapper matters. We'll see exactly why during the demos.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about how these tools actually work once you're inside Excel. Copilot lives in the ribbon and the side panel. The key feature is the "Edit with Copilot" toggle — when that's on, Copilot can write directly into your cells without asking. It detects your existing tables and works with them natively. Under the three-dot menu you'll find a model selector where you can choose which AI model powers your session. Changes appear inline — there's no separate approval step, which is fast but means you need to pay attention to what it changes. Claude works differently. You install it from the Office add-in store and it opens in a side panel. It has its own model selector in the panel header. The critical behavioral difference: Claude asks permission before modifying your data. Every change requires your explicit approval. This is slower for routine tasks but gives you a safety net, especially when working with data you can't afford to accidentally corrupt.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dataset we'll use for our demos. It's an employee expense report with 29 transactions across 3 departments. The columns include Date, Employee, Department, Vendor, Description, and Amount — plus a Category column that's intentionally left blank. That blank column is the test: each AI tool will categorize the expenses based on the vendor and description. I've included a few curveballs to make things interesting: there's a deliberate typo in one entry, a refund transaction with a negative amount, and an ambiguous entry that could reasonably go into more than one category. These edge cases are where you really see the differences between the tools. We'll ask each tool to do two tasks. Task 1: categorize each expense based on vendor and description. Task 2: build a summary report with totals by category and by department. Same data, same prompts — let's see what happens.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this is the fun part. We're switching to live Excel now. Same dataset, same prompts, two different tools. I want you to pay attention not just to the results, but to the experience of using each tool — how they interact with you, how they handle uncertainty, and how they explain what they did. Let's start with Task 1: expense categorization.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first live demo: expense categorization. As I run this, I want you to watch for five things. First, how does each tool interact with the table? Does it recognize the Excel Table structure automatically or does it need guidance? Second, does it ask for permission before writing to cells, or does it just go ahead and fill things in? Third — and this is the real test — how does each tool handle the ambiguous items? The typo, the refund, the entry that could go into two categories. Fourth, does the tool explain its reasoning? Can you understand why it made the choices it did? And fifth, do both tools even agree on the categories? You might be surprised. Let me switch to Excel now.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Task 2: building a summary report. This is where things get really interesting because I'm intentionally being a bit vague in my prompt. I'll ask for a summary by category and department, but I won't specify whether to use formulas or PivotTables. I won't say which formulas. I'll ask for a new worksheet, but watch whether each tool actually creates one or dumps the summary somewhere else. Pay attention to five things: Does the tool use SUMIFS formulas, a PivotTable, or something else entirely? Remember, we didn't specify. Does it actually create a new worksheet as requested? Does it accidentally overwrite or modify any of the original data? How closely does it follow the exact wording of your instructions? And finally, look at the written explanation each tool provides — how detailed and useful is it? Let me switch back to Excel.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you've seen the demos, let me share the patterns I typically observe across many runs. These aren't one-time results — they hold consistently, even as the specific outputs vary each time. Copilot tends to be faster and more action-oriented. It jumps right in and makes changes. Claude tends to be more cautious and explanatory — it tells you what it's about to do, asks for confirmation, and provides more detailed reasoning. Neither approach is universally better; it depends on your workflow and risk tolerance. For categorization tasks, both tools generally arrive at similar categories, but they handle edge cases differently. For summary tasks, Copilot often defaults to PivotTables while Claude leans toward formulas — unless you specify. The quality of explanations differs significantly: Claude typically provides longer, more structured reasoning while Copilot is more concise. Let me be clear: these patterns shift as models are updated, so focus on the behavioral differences more than specific outputs.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move beyond what we saw in the demos and look at the full picture. The demos showed you the experience of using each tool, but there are important differences in features, pricing, data handling, and ecosystem that you need to understand before making a decision. Think of this section as your "Consumer Reports" comparison — the structured, side-by-side breakdown that goes beyond a single test drive.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feature-by-feature comparison table. I won't read every row to you, but let me highlight the key differences. On integration depth, Copilot has a clear advantage — it's built into Excel natively, so it can read your tables, write to cells, and create PivotTables without any friction. The Claude add-in works through a side panel and needs to request permission for each modification. On explanation quality, Claude tends to be stronger — it provides more structured, detailed reasoning about what it's doing and why. On pricing, Copilot is part of the Microsoft 365 ecosystem at roughly $30 per user per month, while Claude requires a separate Anthropic subscription. On data privacy, Copilot keeps data within the Microsoft ecosystem with enterprise admin controls, while the Claude add-in sends data to Anthropic's servers. The comparison handout in your materials has the full breakdown — take that back to your team for reference.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point that's easy to miss: when you're evaluating these tools, you're not just buying an Excel feature — you're buying into an ecosystem. On the Microsoft side, one Copilot subscription gives you AI across Excel, Word, PowerPoint, Outlook, and Teams. That's meeting summaries, email drafting, slide generation, document editing — all under one roof with one admin panel and one compliance framework. On the Claude side, the Excel add-in is just one piece. Anthropic's broader ecosystem includes Cowork for full deliverable generation — think entire reports, analyses, and documents built end to end. There's Claude Code for developer-style workflows and automation. There's the API for custom integrations. And there's the web and mobile interface for general use. Claude's ecosystem is more power-user oriented. So when you're comparing prices, don't just compare the Excel feature — compare the total value of the ecosystem you're getting access to. For many organizations, the M365 Copilot bundle is the better deal simply because it touches so many workflows. For power users who need deep, flexible AI capabilities, Claude's ecosystem may offer more.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shift from comparing tools to talking about what works regardless of which one you use. These five principles will make you more effective with any AI tool in Excel — Copilot, Claude, or whatever ships next year. These aren't theoretical best practices; they come from working with real teams on real spreadsheets. If you take nothing else away from this session, internalize these five principles and you'll get dramatically better results from any AI tool you use.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number one: always review AI output. This is the most important habit you can build. AI gives you a strong first draft — often a very good one — but it is not a final answer. You saw in the demos that both tools made reasonable categorization choices, but they weren't always the same. And neither tool flagged its own uncertainty on the ambiguous entries. So what should you check? First, look at edge cases and ambiguous classifications. The typo entry, the refund, anything that could go two ways. Second, verify formula logic — make sure SUMIFS, XLOOKUP, or whatever it used actually references the right cells and ranges. Third, sanity-check the totals against values you already know. If you know total spend was around $15,000 and the summary says $22,000, something went wrong. And fourth, look for structural changes you didn't ask for — did it add columns, rename sheets, or reformat your table? The mindset shift is: AI is your analyst, not your calculator. Calculators are deterministic. Analysts need to be checked.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two: be specific in your prompts. This is the single biggest lever you have for improving AI output quality. Look at the contrast on screen. The vague prompt — "summarize this data" — leaves everything up to the AI. Formulas or PivotTables? New sheet or same sheet? Which metrics? You're rolling the dice every time. The specific prompt tells the AI exactly what you want: use SUMIFS formulas, put them in a new worksheet called "Summary," calculate total spend by category and by department, and highlight the largest single expense. When you're this explicit, the results become consistent and auditable regardless of which tool you use. The more constraints you give the AI, the less room it has to improvise, and the more predictable your output becomes. This is true for Copilot, Claude, ChatGPT, Gemini — any AI tool. Specificity is the universal skill.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three: use a style guide. This is a game-changer that most people overlook. Create a document — it can be a simple text file or a Word doc — that tells the AI how you want Excel work done. Think of it as onboarding instructions for a new analyst on your team. Specify that you want Excel Tables, not loose ranges. Define your naming conventions — I use tbl_ for tables, p_ for parameters, m_ for measures. State your preferred functions: XLOOKUP over VLOOKUP, SUMIFS over SUMPRODUCT for simple aggregations. Include formatting standards and documentation expectations. Then, at the start of every AI session, paste that style guide into the chat. Both Copilot and Claude will follow these conventions if you tell them upfront. The style guide is included in your workshop materials, so you can customize it and start using it right away. This single practice probably has the highest return on investment of anything I'll share today.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four: expect variability. This catches people off guard because we're used to Excel being deterministic — you write a formula, it returns the same answer every time. AI models are fundamentally different. They're generative, which means there's an element of randomness built in. Run the exact same prompt twice and you may get different results. The same model running in Copilot versus the Claude add-in can behave differently because of how each tool frames the conversation. And results will change as models are updated — what worked perfectly last month may work differently after a model update. Your job isn't to trust the output blindly — it's to understand the output, verify it makes sense, and know enough about what you asked for to catch errors. Think of it like managing a junior analyst: you give clear instructions, you check the work, and you build a workflow that accounts for human variability. Same principle applies to AI. The key difference is that AI is fast and cheap, so you can afford to run it multiple times and compare.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five: learn Excel fundamentals. I know this sounds counterintuitive in an AI session, but hear me out. AI does not replace your need to understand Excel — it amplifies it. If you can't read a SUMIFS formula, how will you verify that the AI wrote the right one? If you don't know what a PivotTable should look like, how will you catch it when the AI builds one incorrectly? The people who get the most value from AI in Excel are the ones who already have strong Excel skills. They can prompt more precisely because they know the vocabulary. They can spot errors faster because they know what correct looks like. And they can fix things when the AI gets stuck. The minimum you need: understand Tables, named ranges, key functions like SUMIFS, XLOOKUP, IF, and basic PivotTables. Once you have those, you can direct any AI tool effectively. Without them, you're trusting a black box.</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you actually decide? Given how fast features are evolving, I want to give you a practical framework rather than a definitive answer. For most users in an enterprise setting, Copilot for Microsoft 365 is the stronger choice right now. It's a paid add-on at roughly $30 per user per month, but it gives you tighter Excel integration, keeps your data in the Microsoft ecosystem with enterprise admin controls, and one subscription covers Word, PowerPoint, Outlook, and Teams in addition to Excel. That's a lot of value per dollar. For power users who need capabilities beyond what's available inside Excel — full deliverable generation, developer-style workflows, more flexibility for complex analytical tasks — Claude's ecosystem, especially Cowork and Code, is worth exploring. It requires a separate subscription and represents a different approach to AI-assisted work. One important caveat: Microsoft has announced they're building their own Cowork-like tool on Anthropic technology. That could significantly change this comparison when it ships. The bottom line: evaluate based on your specific workflows, your organization's data policies, and the total ecosystem value — not just the Excel add-in in isolation.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transparent about where things are heading, because this landscape is moving fast. Copilot now supports third-party models — you can select Claude or Gemini right inside Copilot's interface. That blurs the lines between these tools significantly. Microsoft has announced a Cowork-like tool built on Anthropic's technology, which would bring Claude-quality reasoning directly into the Microsoft ecosystem without needing a separate subscription. Meanwhile, Claude's Excel add-in continues to improve with each update, and new models ship regularly from both sides. Here's my honest advice: focus on principles, not products. The five principles we covered today — review output, be specific, use style guides, expect variability, and learn fundamentals — those will serve you regardless of which tool is trending next quarter. The specific feature comparisons on slide 13 will look different in six months. The principles won't change. That's why I spent more time on principles than features today.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open up for questions, let me make sure you know what's in your takeaway toolkit. These are included in your workshop materials and they're designed to be immediately useful — not just reference documents that sit in a folder. First, the comparison handout in Consumer Report format. This is the full side-by-side comparison we covered on screen, formatted for easy reference. Share it with your team or your manager when they ask "which tool should we use?" Second, the Excel AI Style Guide. This is the one I mentioned during Principle 3. It's a ready-to-paste document that tells any AI tool how you want Excel work done. Customize it for your team's conventions and paste it at the start of every AI session. Third, the Excel AI Prompt Library. These are ready-to-paste prompts for common Excel tasks — categorization, summarization, data cleaning, formula writing. Modify them for your specific use cases. Fourth, the "Which tool?" decision flowchart. A simple visual guide that walks you through the key questions to help you pick the right tool for your situation. And fifth, the practice workbook — the same dataset I used in the demos. Open it up, try both tools, and see the differences for yourself. Practice is the best teacher.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let's open it up for questions. I'm happy to go deeper on anything we covered — the demos, the comparison, the principles, the specific tools. If you have a use case at work that you're wondering about, I'd love to hear it and we can talk through which approach would work best. And if you want to connect after the session, my contact info is on screen — feel free to reach out via the website or LinkedIn.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your time and attention today. Remember: the tools will keep evolving, but the principles stay constant. Review output, be specific, use style guides, expect variability, and keep building your Excel fundamentals. Enjoy the rest of your conference, and please don't hesitate to reach out if you have follow-up questions. I'm always happy to chat about this stuff. Safe travels, everyone.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731520"/>
            <a:ext cx="6400800" cy="2011680"/>
          </a:xfrm>
          <a:prstGeom prst="rect">
            <a:avLst/>
          </a:prstGeom>
          <a:noFill/>
          <a:ln/>
        </p:spPr>
        <p:txBody>
          <a:bodyPr wrap="square" rtlCol="0" anchor="ctr"/>
          <a:lstStyle/>
          <a:p>
            <a:pPr marL="0" indent="0">
              <a:lnSpc>
                <a:spcPct val="110000"/>
              </a:lnSpc>
              <a:buNone/>
            </a:pPr>
            <a:r>
              <a:rPr lang="en-US" sz="4000" b="1" dirty="0">
                <a:solidFill>
                  <a:srgbClr val="CF3338"/>
                </a:solidFill>
                <a:latin typeface="Arial Black" pitchFamily="34" charset="0"/>
                <a:ea typeface="Arial Black" pitchFamily="34" charset="-122"/>
                <a:cs typeface="Arial Black" pitchFamily="34" charset="-120"/>
              </a:rPr>
              <a:t>Claude vs Copilot for Excel</a:t>
            </a:r>
            <a:endParaRPr lang="en-US" sz="4000" dirty="0"/>
          </a:p>
        </p:txBody>
      </p:sp>
      <p:sp>
        <p:nvSpPr>
          <p:cNvPr id="3" name="Text 1"/>
          <p:cNvSpPr/>
          <p:nvPr/>
        </p:nvSpPr>
        <p:spPr>
          <a:xfrm>
            <a:off x="731520" y="2743200"/>
            <a:ext cx="5486400" cy="548640"/>
          </a:xfrm>
          <a:prstGeom prst="rect">
            <a:avLst/>
          </a:prstGeom>
          <a:noFill/>
          <a:ln/>
        </p:spPr>
        <p:txBody>
          <a:bodyPr wrap="square" rtlCol="0" anchor="ctr"/>
          <a:lstStyle/>
          <a:p>
            <a:pPr marL="0" indent="0">
              <a:buNone/>
            </a:pPr>
            <a:r>
              <a:rPr lang="en-US" sz="2000" i="1" dirty="0">
                <a:solidFill>
                  <a:srgbClr val="1F2120"/>
                </a:solidFill>
                <a:latin typeface="Arial" pitchFamily="34" charset="0"/>
                <a:ea typeface="Arial" pitchFamily="34" charset="-122"/>
                <a:cs typeface="Arial" pitchFamily="34" charset="-120"/>
              </a:rPr>
              <a:t>A Practical Comparison for Analysts</a:t>
            </a:r>
            <a:endParaRPr lang="en-US" sz="2000" dirty="0"/>
          </a:p>
        </p:txBody>
      </p:sp>
      <p:sp>
        <p:nvSpPr>
          <p:cNvPr id="4" name="Text 2"/>
          <p:cNvSpPr/>
          <p:nvPr/>
        </p:nvSpPr>
        <p:spPr>
          <a:xfrm>
            <a:off x="731520" y="3474720"/>
            <a:ext cx="4572000" cy="365760"/>
          </a:xfrm>
          <a:prstGeom prst="rect">
            <a:avLst/>
          </a:prstGeom>
          <a:noFill/>
          <a:ln/>
        </p:spPr>
        <p:txBody>
          <a:bodyPr wrap="square" rtlCol="0" anchor="ctr"/>
          <a:lstStyle/>
          <a:p>
            <a:pPr marL="0" indent="0">
              <a:buNone/>
            </a:pPr>
            <a:r>
              <a:rPr lang="en-US" sz="1400" dirty="0">
                <a:solidFill>
                  <a:srgbClr val="707070"/>
                </a:solidFill>
                <a:latin typeface="Arial" pitchFamily="34" charset="0"/>
                <a:ea typeface="Arial" pitchFamily="34" charset="-122"/>
                <a:cs typeface="Arial" pitchFamily="34" charset="-120"/>
              </a:rPr>
              <a:t>George Mount | Stringfest Analytics</a:t>
            </a:r>
            <a:endParaRPr lang="en-US" sz="1400" dirty="0"/>
          </a:p>
        </p:txBody>
      </p:sp>
      <p:sp>
        <p:nvSpPr>
          <p:cNvPr id="5" name="Text 3"/>
          <p:cNvSpPr/>
          <p:nvPr/>
        </p:nvSpPr>
        <p:spPr>
          <a:xfrm>
            <a:off x="731520" y="3840480"/>
            <a:ext cx="5486400" cy="365760"/>
          </a:xfrm>
          <a:prstGeom prst="rect">
            <a:avLst/>
          </a:prstGeom>
          <a:noFill/>
          <a:ln/>
        </p:spPr>
        <p:txBody>
          <a:bodyPr wrap="square" rtlCol="0" anchor="ctr"/>
          <a:lstStyle/>
          <a:p>
            <a:pPr marL="0" indent="0">
              <a:buNone/>
            </a:pPr>
            <a:r>
              <a:rPr lang="en-US" sz="1100" dirty="0">
                <a:solidFill>
                  <a:srgbClr val="707070"/>
                </a:solidFill>
                <a:latin typeface="Arial" pitchFamily="34" charset="0"/>
                <a:ea typeface="Arial" pitchFamily="34" charset="-122"/>
                <a:cs typeface="Arial" pitchFamily="34" charset="-120"/>
              </a:rPr>
              <a:t>Microsoft Excel MVP | LinkedIn Learning Instructor | O'Reilly Author</a:t>
            </a:r>
            <a:endParaRPr lang="en-US" sz="1100" dirty="0"/>
          </a:p>
        </p:txBody>
      </p:sp>
    </p:spTree>
    <p:extLst>
      <p:ext uri="{BB962C8B-B14F-4D97-AF65-F5344CB8AC3E}">
        <p14:creationId xmlns:p14="http://schemas.microsoft.com/office/powerpoint/2010/main" val="9431094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731520"/>
          </a:xfrm>
          <a:prstGeom prst="rect">
            <a:avLst/>
          </a:prstGeom>
          <a:noFill/>
          <a:ln/>
        </p:spPr>
        <p:txBody>
          <a:bodyPr wrap="square" rtlCol="0" anchor="ctr"/>
          <a:lstStyle/>
          <a:p>
            <a:pPr marL="0" indent="0">
              <a:buNone/>
            </a:pPr>
            <a:r>
              <a:rPr lang="en-US" sz="3200" b="1" dirty="0">
                <a:solidFill>
                  <a:srgbClr val="CF3338"/>
                </a:solidFill>
                <a:latin typeface="Arial Black" pitchFamily="34" charset="0"/>
                <a:ea typeface="Arial Black" pitchFamily="34" charset="-122"/>
                <a:cs typeface="Arial Black" pitchFamily="34" charset="-120"/>
              </a:rPr>
              <a:t>About Me</a:t>
            </a:r>
            <a:endParaRPr lang="en-US" sz="3200" dirty="0"/>
          </a:p>
        </p:txBody>
      </p:sp>
      <p:sp>
        <p:nvSpPr>
          <p:cNvPr id="3" name="Text 1"/>
          <p:cNvSpPr/>
          <p:nvPr/>
        </p:nvSpPr>
        <p:spPr>
          <a:xfrm>
            <a:off x="731520" y="1143000"/>
            <a:ext cx="7772400" cy="3474720"/>
          </a:xfrm>
          <a:prstGeom prst="rect">
            <a:avLst/>
          </a:prstGeom>
          <a:noFill/>
          <a:ln/>
        </p:spPr>
        <p:txBody>
          <a:bodyPr wrap="square" rtlCol="0" anchor="t"/>
          <a:lstStyle/>
          <a:p>
            <a:pPr marL="0" indent="0">
              <a:spcAft>
                <a:spcPts val="200"/>
              </a:spcAft>
              <a:buNone/>
            </a:pPr>
            <a:r>
              <a:rPr lang="en-US" sz="2200" b="1" dirty="0">
                <a:solidFill>
                  <a:srgbClr val="CF3338"/>
                </a:solidFill>
                <a:latin typeface="Arial" pitchFamily="34" charset="0"/>
              </a:rPr>
              <a:t>George J. Mount</a:t>
            </a:r>
          </a:p>
          <a:p>
            <a:pPr marL="0" indent="0">
              <a:spcAft>
                <a:spcPts val="800"/>
              </a:spcAft>
              <a:buNone/>
            </a:pPr>
            <a:r>
              <a:rPr lang="en-US" sz="1400" dirty="0">
                <a:solidFill>
                  <a:srgbClr val="707070"/>
                </a:solidFill>
                <a:latin typeface="Arial" pitchFamily="34" charset="0"/>
              </a:rPr>
              <a:t>Stringfest Analytics | Modern Excel + AI systems that make your analysts faster, smarter, and more reliable</a:t>
            </a:r>
          </a:p>
          <a:p>
            <a:pPr marL="0" indent="0">
              <a:spcAft>
                <a:spcPts val="600"/>
              </a:spcAft>
              <a:buNone/>
            </a:pPr>
            <a:r>
              <a:rPr lang="en-US" sz="1400" dirty="0">
                <a:solidFill>
                  <a:srgbClr val="1F2120"/>
                </a:solidFill>
                <a:latin typeface="Arial" pitchFamily="34" charset="0"/>
              </a:rPr>
              <a:t>I am an O’Reilly author, a Microsoft MVP, and a LinkedIn Learning instructor.</a:t>
            </a:r>
          </a:p>
          <a:p>
            <a:pPr marL="0" indent="0">
              <a:spcAft>
                <a:spcPts val="600"/>
              </a:spcAft>
              <a:buNone/>
            </a:pPr>
            <a:r>
              <a:rPr lang="en-US" sz="1400" dirty="0">
                <a:solidFill>
                  <a:srgbClr val="1F2120"/>
                </a:solidFill>
                <a:latin typeface="Arial" pitchFamily="34" charset="0"/>
              </a:rPr>
              <a:t>I help teams modernize the way they use Excel. When you combine Excel with tools your organization already has like Python, Copilot, Power Query, and Power Automate, you get faster analysis, fewer errors, stronger documentation, and workflows that scale.</a:t>
            </a:r>
          </a:p>
          <a:p>
            <a:pPr marL="0" indent="0">
              <a:spcAft>
                <a:spcPts val="600"/>
              </a:spcAft>
              <a:buNone/>
            </a:pPr>
            <a:r>
              <a:rPr lang="en-US" sz="1400" dirty="0">
                <a:solidFill>
                  <a:srgbClr val="1F2120"/>
                </a:solidFill>
                <a:latin typeface="Arial" pitchFamily="34" charset="0"/>
              </a:rPr>
              <a:t>My goal is to help your analysts work with clarity and confidence, spend less time fighting spreadsheets, and finish the day with less stress and more control over their work.</a:t>
            </a:r>
          </a:p>
        </p:txBody>
      </p:sp>
    </p:spTree>
    <p:extLst>
      <p:ext uri="{BB962C8B-B14F-4D97-AF65-F5344CB8AC3E}">
        <p14:creationId xmlns:p14="http://schemas.microsoft.com/office/powerpoint/2010/main" val="32565600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731520"/>
          </a:xfrm>
          <a:prstGeom prst="rect">
            <a:avLst/>
          </a:prstGeom>
          <a:noFill/>
          <a:ln/>
        </p:spPr>
        <p:txBody>
          <a:bodyPr wrap="square" rtlCol="0" anchor="ctr"/>
          <a:lstStyle/>
          <a:p>
            <a:pPr marL="0" indent="0">
              <a:buNone/>
            </a:pPr>
            <a:r>
              <a:rPr lang="en-US" sz="3200" b="1" dirty="0">
                <a:solidFill>
                  <a:srgbClr val="1F2120"/>
                </a:solidFill>
                <a:latin typeface="Arial Black" pitchFamily="34" charset="0"/>
                <a:ea typeface="Arial Black" pitchFamily="34" charset="-122"/>
                <a:cs typeface="Arial Black" pitchFamily="34" charset="-120"/>
              </a:rPr>
              <a:t>Session Roadmap</a:t>
            </a:r>
            <a:endParaRPr lang="en-US" sz="3200" dirty="0"/>
          </a:p>
        </p:txBody>
      </p:sp>
      <p:pic>
        <p:nvPicPr>
          <p:cNvPr id="3" name="Image 0" descr="preencoded.png"/>
          <p:cNvPicPr>
            <a:picLocks noChangeAspect="1"/>
          </p:cNvPicPr>
          <p:nvPr/>
        </p:nvPicPr>
        <p:blipFill>
          <a:blip r:embed="rId3"/>
          <a:stretch>
            <a:fillRect/>
          </a:stretch>
        </p:blipFill>
        <p:spPr>
          <a:xfrm>
            <a:off x="822960" y="1280160"/>
            <a:ext cx="320040" cy="320040"/>
          </a:xfrm>
          <a:prstGeom prst="rect">
            <a:avLst/>
          </a:prstGeom>
        </p:spPr>
      </p:pic>
      <p:sp>
        <p:nvSpPr>
          <p:cNvPr id="4" name="Text 1"/>
          <p:cNvSpPr/>
          <p:nvPr/>
        </p:nvSpPr>
        <p:spPr>
          <a:xfrm>
            <a:off x="1371600" y="1234440"/>
            <a:ext cx="274320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The Landscape</a:t>
            </a:r>
            <a:endParaRPr lang="en-US" sz="1500" dirty="0"/>
          </a:p>
        </p:txBody>
      </p:sp>
      <p:sp>
        <p:nvSpPr>
          <p:cNvPr id="5" name="Text 2"/>
          <p:cNvSpPr/>
          <p:nvPr/>
        </p:nvSpPr>
        <p:spPr>
          <a:xfrm>
            <a:off x="4114800" y="1234440"/>
            <a:ext cx="4114800" cy="411480"/>
          </a:xfrm>
          <a:prstGeom prst="rect">
            <a:avLst/>
          </a:prstGeom>
          <a:noFill/>
          <a:ln/>
        </p:spPr>
        <p: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What's available and why it's confusing</a:t>
            </a:r>
            <a:endParaRPr lang="en-US" sz="1300" dirty="0"/>
          </a:p>
        </p:txBody>
      </p:sp>
      <p:pic>
        <p:nvPicPr>
          <p:cNvPr id="6" name="Image 1" descr="preencoded.png"/>
          <p:cNvPicPr>
            <a:picLocks noChangeAspect="1"/>
          </p:cNvPicPr>
          <p:nvPr/>
        </p:nvPicPr>
        <p:blipFill>
          <a:blip r:embed="rId4"/>
          <a:stretch>
            <a:fillRect/>
          </a:stretch>
        </p:blipFill>
        <p:spPr>
          <a:xfrm>
            <a:off x="822960" y="1874520"/>
            <a:ext cx="320040" cy="320040"/>
          </a:xfrm>
          <a:prstGeom prst="rect">
            <a:avLst/>
          </a:prstGeom>
        </p:spPr>
      </p:pic>
      <p:sp>
        <p:nvSpPr>
          <p:cNvPr id="7" name="Text 3"/>
          <p:cNvSpPr/>
          <p:nvPr/>
        </p:nvSpPr>
        <p:spPr>
          <a:xfrm>
            <a:off x="1371600" y="1828800"/>
            <a:ext cx="274320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Setup + First Look</a:t>
            </a:r>
            <a:endParaRPr lang="en-US" sz="1500" dirty="0"/>
          </a:p>
        </p:txBody>
      </p:sp>
      <p:sp>
        <p:nvSpPr>
          <p:cNvPr id="8" name="Text 4"/>
          <p:cNvSpPr/>
          <p:nvPr/>
        </p:nvSpPr>
        <p:spPr>
          <a:xfrm>
            <a:off x="4114800" y="1828800"/>
            <a:ext cx="4114800" cy="411480"/>
          </a:xfrm>
          <a:prstGeom prst="rect">
            <a:avLst/>
          </a:prstGeom>
          <a:noFill/>
          <a:ln/>
        </p:spPr>
        <p: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How each tool works inside Excel</a:t>
            </a:r>
            <a:endParaRPr lang="en-US" sz="1300" dirty="0"/>
          </a:p>
        </p:txBody>
      </p:sp>
      <p:pic>
        <p:nvPicPr>
          <p:cNvPr id="9" name="Image 2" descr="preencoded.png"/>
          <p:cNvPicPr>
            <a:picLocks noChangeAspect="1"/>
          </p:cNvPicPr>
          <p:nvPr/>
        </p:nvPicPr>
        <p:blipFill>
          <a:blip r:embed="rId5"/>
          <a:stretch>
            <a:fillRect/>
          </a:stretch>
        </p:blipFill>
        <p:spPr>
          <a:xfrm>
            <a:off x="822960" y="2468880"/>
            <a:ext cx="320040" cy="320040"/>
          </a:xfrm>
          <a:prstGeom prst="rect">
            <a:avLst/>
          </a:prstGeom>
        </p:spPr>
      </p:pic>
      <p:sp>
        <p:nvSpPr>
          <p:cNvPr id="10" name="Text 5"/>
          <p:cNvSpPr/>
          <p:nvPr/>
        </p:nvSpPr>
        <p:spPr>
          <a:xfrm>
            <a:off x="1371600" y="2423160"/>
            <a:ext cx="274320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Live Demos</a:t>
            </a:r>
            <a:endParaRPr lang="en-US" sz="1500" dirty="0"/>
          </a:p>
        </p:txBody>
      </p:sp>
      <p:sp>
        <p:nvSpPr>
          <p:cNvPr id="11" name="Text 6"/>
          <p:cNvSpPr/>
          <p:nvPr/>
        </p:nvSpPr>
        <p:spPr>
          <a:xfrm>
            <a:off x="4114800" y="2423160"/>
            <a:ext cx="4114800" cy="411480"/>
          </a:xfrm>
          <a:prstGeom prst="rect">
            <a:avLst/>
          </a:prstGeom>
          <a:noFill/>
          <a:ln/>
        </p:spPr>
        <p: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Same data, same prompts, different tools</a:t>
            </a:r>
            <a:endParaRPr lang="en-US" sz="1300" dirty="0"/>
          </a:p>
        </p:txBody>
      </p:sp>
      <p:pic>
        <p:nvPicPr>
          <p:cNvPr id="12" name="Image 3" descr="preencoded.png"/>
          <p:cNvPicPr>
            <a:picLocks noChangeAspect="1"/>
          </p:cNvPicPr>
          <p:nvPr/>
        </p:nvPicPr>
        <p:blipFill>
          <a:blip r:embed="rId6"/>
          <a:stretch>
            <a:fillRect/>
          </a:stretch>
        </p:blipFill>
        <p:spPr>
          <a:xfrm>
            <a:off x="822960" y="3063240"/>
            <a:ext cx="320040" cy="320040"/>
          </a:xfrm>
          <a:prstGeom prst="rect">
            <a:avLst/>
          </a:prstGeom>
        </p:spPr>
      </p:pic>
      <p:sp>
        <p:nvSpPr>
          <p:cNvPr id="13" name="Text 7"/>
          <p:cNvSpPr/>
          <p:nvPr/>
        </p:nvSpPr>
        <p:spPr>
          <a:xfrm>
            <a:off x="1371600" y="3017520"/>
            <a:ext cx="274320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The Spec Sheet</a:t>
            </a:r>
            <a:endParaRPr lang="en-US" sz="1500" dirty="0"/>
          </a:p>
        </p:txBody>
      </p:sp>
      <p:sp>
        <p:nvSpPr>
          <p:cNvPr id="14" name="Text 8"/>
          <p:cNvSpPr/>
          <p:nvPr/>
        </p:nvSpPr>
        <p:spPr>
          <a:xfrm>
            <a:off x="4114800" y="3017520"/>
            <a:ext cx="4114800" cy="411480"/>
          </a:xfrm>
          <a:prstGeom prst="rect">
            <a:avLst/>
          </a:prstGeom>
          <a:noFill/>
          <a:ln/>
        </p:spPr>
        <p: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Feature-by-feature comparison</a:t>
            </a:r>
            <a:endParaRPr lang="en-US" sz="1300" dirty="0"/>
          </a:p>
        </p:txBody>
      </p:sp>
      <p:pic>
        <p:nvPicPr>
          <p:cNvPr id="15" name="Image 4" descr="preencoded.png"/>
          <p:cNvPicPr>
            <a:picLocks noChangeAspect="1"/>
          </p:cNvPicPr>
          <p:nvPr/>
        </p:nvPicPr>
        <p:blipFill>
          <a:blip r:embed="rId7"/>
          <a:stretch>
            <a:fillRect/>
          </a:stretch>
        </p:blipFill>
        <p:spPr>
          <a:xfrm>
            <a:off x="822960" y="3657600"/>
            <a:ext cx="320040" cy="320040"/>
          </a:xfrm>
          <a:prstGeom prst="rect">
            <a:avLst/>
          </a:prstGeom>
        </p:spPr>
      </p:pic>
      <p:sp>
        <p:nvSpPr>
          <p:cNvPr id="16" name="Text 9"/>
          <p:cNvSpPr/>
          <p:nvPr/>
        </p:nvSpPr>
        <p:spPr>
          <a:xfrm>
            <a:off x="1371600" y="3611880"/>
            <a:ext cx="274320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Universal Principles</a:t>
            </a:r>
            <a:endParaRPr lang="en-US" sz="1500" dirty="0"/>
          </a:p>
        </p:txBody>
      </p:sp>
      <p:sp>
        <p:nvSpPr>
          <p:cNvPr id="17" name="Text 10"/>
          <p:cNvSpPr/>
          <p:nvPr/>
        </p:nvSpPr>
        <p:spPr>
          <a:xfrm>
            <a:off x="4114800" y="3611880"/>
            <a:ext cx="4114800" cy="411480"/>
          </a:xfrm>
          <a:prstGeom prst="rect">
            <a:avLst/>
          </a:prstGeom>
          <a:noFill/>
          <a:ln/>
        </p:spPr>
        <p: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What works in any AI tool</a:t>
            </a:r>
            <a:endParaRPr lang="en-US" sz="1300" dirty="0"/>
          </a:p>
        </p:txBody>
      </p:sp>
      <p:pic>
        <p:nvPicPr>
          <p:cNvPr id="18" name="Image 5" descr="preencoded.png"/>
          <p:cNvPicPr>
            <a:picLocks noChangeAspect="1"/>
          </p:cNvPicPr>
          <p:nvPr/>
        </p:nvPicPr>
        <p:blipFill>
          <a:blip r:embed="rId8"/>
          <a:stretch>
            <a:fillRect/>
          </a:stretch>
        </p:blipFill>
        <p:spPr>
          <a:xfrm>
            <a:off x="822960" y="4251960"/>
            <a:ext cx="320040" cy="320040"/>
          </a:xfrm>
          <a:prstGeom prst="rect">
            <a:avLst/>
          </a:prstGeom>
        </p:spPr>
      </p:pic>
      <p:sp>
        <p:nvSpPr>
          <p:cNvPr id="19" name="Text 11"/>
          <p:cNvSpPr/>
          <p:nvPr/>
        </p:nvSpPr>
        <p:spPr>
          <a:xfrm>
            <a:off x="1371600" y="4206240"/>
            <a:ext cx="274320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The Buying Decision</a:t>
            </a:r>
            <a:endParaRPr lang="en-US" sz="1500" dirty="0"/>
          </a:p>
        </p:txBody>
      </p:sp>
      <p:sp>
        <p:nvSpPr>
          <p:cNvPr id="20" name="Text 12"/>
          <p:cNvSpPr/>
          <p:nvPr/>
        </p:nvSpPr>
        <p:spPr>
          <a:xfrm>
            <a:off x="4114800" y="4206240"/>
            <a:ext cx="4114800" cy="411480"/>
          </a:xfrm>
          <a:prstGeom prst="rect">
            <a:avLst/>
          </a:prstGeom>
          <a:noFill/>
          <a:ln/>
        </p:spPr>
        <p: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How to choose for your workflow</a:t>
            </a:r>
            <a:endParaRPr lang="en-US" sz="1300" dirty="0"/>
          </a:p>
        </p:txBody>
      </p:sp>
    </p:spTree>
    <p:extLst>
      <p:ext uri="{BB962C8B-B14F-4D97-AF65-F5344CB8AC3E}">
        <p14:creationId xmlns:p14="http://schemas.microsoft.com/office/powerpoint/2010/main" val="30254567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914400" y="1371600"/>
            <a:ext cx="7315200" cy="1371600"/>
          </a:xfrm>
          <a:prstGeom prst="rect">
            <a:avLst/>
          </a:prstGeom>
          <a:noFill/>
          <a:ln/>
        </p:spPr>
        <p:txBody>
          <a:bodyPr wrap="square" rtlCol="0" anchor="ctr"/>
          <a:lstStyle/>
          <a:p>
            <a:pPr marL="0" indent="0" algn="ctr">
              <a:buNone/>
            </a:pPr>
            <a:r>
              <a:rPr lang="en-US" sz="3600" b="1" dirty="0">
                <a:solidFill>
                  <a:srgbClr val="CF3338"/>
                </a:solidFill>
                <a:latin typeface="Arial Black" pitchFamily="34" charset="0"/>
                <a:ea typeface="Arial Black" pitchFamily="34" charset="-122"/>
                <a:cs typeface="Arial Black" pitchFamily="34" charset="-120"/>
              </a:rPr>
              <a:t>Why This Comparison Matters</a:t>
            </a:r>
            <a:endParaRPr lang="en-US" sz="3600" dirty="0"/>
          </a:p>
        </p:txBody>
      </p:sp>
      <p:sp>
        <p:nvSpPr>
          <p:cNvPr id="3" name="Text 1"/>
          <p:cNvSpPr/>
          <p:nvPr/>
        </p:nvSpPr>
        <p:spPr>
          <a:xfrm>
            <a:off x="1371600" y="2926080"/>
            <a:ext cx="6400800" cy="1097280"/>
          </a:xfrm>
          <a:prstGeom prst="rect">
            <a:avLst/>
          </a:prstGeom>
          <a:noFill/>
          <a:ln/>
        </p:spPr>
        <p:txBody>
          <a:bodyPr wrap="square" rtlCol="0" anchor="ctr"/>
          <a:lstStyle/>
          <a:p>
            <a:pPr marL="0" indent="0" algn="ctr">
              <a:lnSpc>
                <a:spcPct val="140000"/>
              </a:lnSpc>
              <a:buNone/>
            </a:pPr>
            <a:r>
              <a:rPr lang="en-US" sz="1600" dirty="0">
                <a:solidFill>
                  <a:srgbClr val="707070"/>
                </a:solidFill>
                <a:latin typeface="Arial" pitchFamily="34" charset="0"/>
                <a:ea typeface="Arial" pitchFamily="34" charset="-122"/>
                <a:cs typeface="Arial" pitchFamily="34" charset="-120"/>
              </a:rPr>
              <a:t>Multiple AI options are now available inside Excel.</a:t>
            </a:r>
            <a:endParaRPr lang="en-US" sz="1600" dirty="0"/>
          </a:p>
          <a:p>
            <a:pPr marL="0" indent="0" algn="ctr">
              <a:lnSpc>
                <a:spcPct val="140000"/>
              </a:lnSpc>
              <a:buNone/>
            </a:pPr>
            <a:r>
              <a:rPr lang="en-US" sz="1600" dirty="0">
                <a:solidFill>
                  <a:srgbClr val="707070"/>
                </a:solidFill>
                <a:latin typeface="Arial" pitchFamily="34" charset="0"/>
                <a:ea typeface="Arial" pitchFamily="34" charset="-122"/>
                <a:cs typeface="Arial" pitchFamily="34" charset="-120"/>
              </a:rPr>
              <a:t>But which one do you need?</a:t>
            </a:r>
            <a:endParaRPr lang="en-US" sz="1600" dirty="0"/>
          </a:p>
        </p:txBody>
      </p:sp>
    </p:spTree>
    <p:extLst>
      <p:ext uri="{BB962C8B-B14F-4D97-AF65-F5344CB8AC3E}">
        <p14:creationId xmlns:p14="http://schemas.microsoft.com/office/powerpoint/2010/main" val="474516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731520"/>
          </a:xfrm>
          <a:prstGeom prst="rect">
            <a:avLst/>
          </a:prstGeom>
          <a:noFill/>
          <a:ln/>
        </p:spPr>
        <p:txBody>
          <a:bodyPr wrap="square" rtlCol="0" anchor="ctr"/>
          <a:lstStyle/>
          <a:p>
            <a:pPr marL="0" indent="0">
              <a:buNone/>
            </a:pPr>
            <a:r>
              <a:rPr lang="en-US" sz="3200" b="1" dirty="0">
                <a:solidFill>
                  <a:srgbClr val="1F2120"/>
                </a:solidFill>
                <a:latin typeface="Arial Black" pitchFamily="34" charset="0"/>
                <a:ea typeface="Arial Black" pitchFamily="34" charset="-122"/>
                <a:cs typeface="Arial Black" pitchFamily="34" charset="-120"/>
              </a:rPr>
              <a:t>The Current Landscape</a:t>
            </a:r>
            <a:endParaRPr lang="en-US" sz="3200" dirty="0"/>
          </a:p>
        </p:txBody>
      </p:sp>
      <p:sp>
        <p:nvSpPr>
          <p:cNvPr id="3" name="Shape 1"/>
          <p:cNvSpPr/>
          <p:nvPr/>
        </p:nvSpPr>
        <p:spPr>
          <a:xfrm>
            <a:off x="457200" y="1280160"/>
            <a:ext cx="2606040" cy="32004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457200" y="1280160"/>
            <a:ext cx="2606040" cy="54864"/>
          </a:xfrm>
          <a:prstGeom prst="rect">
            <a:avLst/>
          </a:prstGeom>
          <a:solidFill>
            <a:srgbClr val="CF3338"/>
          </a:solidFill>
          <a:ln/>
        </p:spPr>
        <p:txBody>
          <a:bodyPr/>
          <a:lstStyle/>
          <a:p>
            <a:endParaRPr lang="en-US"/>
          </a:p>
        </p:txBody>
      </p:sp>
      <p:sp>
        <p:nvSpPr>
          <p:cNvPr id="5" name="Text 3"/>
          <p:cNvSpPr/>
          <p:nvPr/>
        </p:nvSpPr>
        <p:spPr>
          <a:xfrm>
            <a:off x="640080" y="1417320"/>
            <a:ext cx="224028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Microsoft Copilot</a:t>
            </a:r>
            <a:endParaRPr lang="en-US" sz="1500" dirty="0"/>
          </a:p>
        </p:txBody>
      </p:sp>
      <p:sp>
        <p:nvSpPr>
          <p:cNvPr id="6" name="Text 4"/>
          <p:cNvSpPr/>
          <p:nvPr/>
        </p:nvSpPr>
        <p:spPr>
          <a:xfrm>
            <a:off x="640080" y="1783080"/>
            <a:ext cx="2240280" cy="320040"/>
          </a:xfrm>
          <a:prstGeom prst="rect">
            <a:avLst/>
          </a:prstGeom>
          <a:noFill/>
          <a:ln/>
        </p:spPr>
        <p:txBody>
          <a:bodyPr wrap="square" lIns="0" tIns="0" rIns="0" bIns="0" rtlCol="0" anchor="ctr"/>
          <a:lstStyle/>
          <a:p>
            <a:pPr marL="0" indent="0">
              <a:buNone/>
            </a:pPr>
            <a:r>
              <a:rPr lang="en-US" sz="1000" i="1" dirty="0">
                <a:solidFill>
                  <a:srgbClr val="707070"/>
                </a:solidFill>
                <a:latin typeface="Arial" pitchFamily="34" charset="0"/>
                <a:ea typeface="Arial" pitchFamily="34" charset="-122"/>
                <a:cs typeface="Arial" pitchFamily="34" charset="-120"/>
              </a:rPr>
              <a:t>Built into Microsoft 365</a:t>
            </a:r>
            <a:endParaRPr lang="en-US" sz="1000" dirty="0"/>
          </a:p>
        </p:txBody>
      </p:sp>
      <p:sp>
        <p:nvSpPr>
          <p:cNvPr id="7" name="Text 5"/>
          <p:cNvSpPr/>
          <p:nvPr/>
        </p:nvSpPr>
        <p:spPr>
          <a:xfrm>
            <a:off x="640080" y="2194560"/>
            <a:ext cx="2240280" cy="2103120"/>
          </a:xfrm>
          <a:prstGeom prst="rect">
            <a:avLst/>
          </a:prstGeom>
          <a:noFill/>
          <a:ln/>
        </p:spPr>
        <p:txBody>
          <a:bodyPr wrap="square" rtlCol="0" anchor="ctr"/>
          <a:lstStyle/>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Native Excel integration</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Multiple model options</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Paid M365 add-on (~$30/user/mo)</a:t>
            </a:r>
            <a:endParaRPr lang="en-US" sz="1100" dirty="0"/>
          </a:p>
          <a:p>
            <a:pPr marL="342900" indent="-342900">
              <a:spcAft>
                <a:spcPts val="400"/>
              </a:spcAft>
              <a:buSzPct val="100000"/>
              <a:buChar char="•"/>
            </a:pPr>
            <a:r>
              <a:rPr lang="en-US" sz="1100">
                <a:solidFill>
                  <a:srgbClr val="707070"/>
                </a:solidFill>
                <a:latin typeface="Arial" pitchFamily="34" charset="0"/>
                <a:ea typeface="Arial" pitchFamily="34" charset="-122"/>
                <a:cs typeface="Arial" pitchFamily="34" charset="-120"/>
              </a:rPr>
              <a:t>Edit with Copilot </a:t>
            </a:r>
            <a:r>
              <a:rPr lang="en-US" sz="1100" dirty="0">
                <a:solidFill>
                  <a:srgbClr val="707070"/>
                </a:solidFill>
                <a:latin typeface="Arial" pitchFamily="34" charset="0"/>
                <a:ea typeface="Arial" pitchFamily="34" charset="-122"/>
                <a:cs typeface="Arial" pitchFamily="34" charset="-120"/>
              </a:rPr>
              <a:t>in cells</a:t>
            </a:r>
            <a:endParaRPr lang="en-US" sz="1100" dirty="0"/>
          </a:p>
        </p:txBody>
      </p:sp>
      <p:sp>
        <p:nvSpPr>
          <p:cNvPr id="8" name="Shape 6"/>
          <p:cNvSpPr/>
          <p:nvPr/>
        </p:nvSpPr>
        <p:spPr>
          <a:xfrm>
            <a:off x="3246120" y="1280160"/>
            <a:ext cx="2606040" cy="32004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46120" y="1280160"/>
            <a:ext cx="2606040" cy="54864"/>
          </a:xfrm>
          <a:prstGeom prst="rect">
            <a:avLst/>
          </a:prstGeom>
          <a:solidFill>
            <a:srgbClr val="CF3338"/>
          </a:solidFill>
          <a:ln/>
        </p:spPr>
        <p:txBody>
          <a:bodyPr/>
          <a:lstStyle/>
          <a:p>
            <a:endParaRPr lang="en-US"/>
          </a:p>
        </p:txBody>
      </p:sp>
      <p:sp>
        <p:nvSpPr>
          <p:cNvPr id="10" name="Text 8"/>
          <p:cNvSpPr/>
          <p:nvPr/>
        </p:nvSpPr>
        <p:spPr>
          <a:xfrm>
            <a:off x="3429000" y="1417320"/>
            <a:ext cx="224028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Claude Add-in</a:t>
            </a:r>
            <a:endParaRPr lang="en-US" sz="1500" dirty="0"/>
          </a:p>
        </p:txBody>
      </p:sp>
      <p:sp>
        <p:nvSpPr>
          <p:cNvPr id="11" name="Text 9"/>
          <p:cNvSpPr/>
          <p:nvPr/>
        </p:nvSpPr>
        <p:spPr>
          <a:xfrm>
            <a:off x="3429000" y="1783080"/>
            <a:ext cx="2240280" cy="320040"/>
          </a:xfrm>
          <a:prstGeom prst="rect">
            <a:avLst/>
          </a:prstGeom>
          <a:noFill/>
          <a:ln/>
        </p:spPr>
        <p:txBody>
          <a:bodyPr wrap="square" lIns="0" tIns="0" rIns="0" bIns="0" rtlCol="0" anchor="ctr"/>
          <a:lstStyle/>
          <a:p>
            <a:pPr marL="0" indent="0">
              <a:buNone/>
            </a:pPr>
            <a:r>
              <a:rPr lang="en-US" sz="1000" i="1" dirty="0">
                <a:solidFill>
                  <a:srgbClr val="707070"/>
                </a:solidFill>
                <a:latin typeface="Arial" pitchFamily="34" charset="0"/>
                <a:ea typeface="Arial" pitchFamily="34" charset="-122"/>
                <a:cs typeface="Arial" pitchFamily="34" charset="-120"/>
              </a:rPr>
              <a:t>Anthropic's Excel add-in</a:t>
            </a:r>
            <a:endParaRPr lang="en-US" sz="1000" dirty="0"/>
          </a:p>
        </p:txBody>
      </p:sp>
      <p:sp>
        <p:nvSpPr>
          <p:cNvPr id="12" name="Text 10"/>
          <p:cNvSpPr/>
          <p:nvPr/>
        </p:nvSpPr>
        <p:spPr>
          <a:xfrm>
            <a:off x="3429000" y="2194560"/>
            <a:ext cx="2240280" cy="2103120"/>
          </a:xfrm>
          <a:prstGeom prst="rect">
            <a:avLst/>
          </a:prstGeom>
          <a:noFill/>
          <a:ln/>
        </p:spPr>
        <p:txBody>
          <a:bodyPr wrap="square" rtlCol="0" anchor="ctr"/>
          <a:lstStyle/>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Third-party add-in</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Claude models only</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Separate subscription</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Side panel interface</a:t>
            </a:r>
            <a:endParaRPr lang="en-US" sz="1100" dirty="0"/>
          </a:p>
        </p:txBody>
      </p:sp>
      <p:sp>
        <p:nvSpPr>
          <p:cNvPr id="13" name="Shape 11"/>
          <p:cNvSpPr/>
          <p:nvPr/>
        </p:nvSpPr>
        <p:spPr>
          <a:xfrm>
            <a:off x="6035040" y="1280160"/>
            <a:ext cx="2606040" cy="32004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14" name="Shape 12"/>
          <p:cNvSpPr/>
          <p:nvPr/>
        </p:nvSpPr>
        <p:spPr>
          <a:xfrm>
            <a:off x="6035040" y="1280160"/>
            <a:ext cx="2606040" cy="54864"/>
          </a:xfrm>
          <a:prstGeom prst="rect">
            <a:avLst/>
          </a:prstGeom>
          <a:solidFill>
            <a:srgbClr val="CF3338"/>
          </a:solidFill>
          <a:ln/>
        </p:spPr>
        <p:txBody>
          <a:bodyPr/>
          <a:lstStyle/>
          <a:p>
            <a:endParaRPr lang="en-US"/>
          </a:p>
        </p:txBody>
      </p:sp>
      <p:sp>
        <p:nvSpPr>
          <p:cNvPr id="15" name="Text 13"/>
          <p:cNvSpPr/>
          <p:nvPr/>
        </p:nvSpPr>
        <p:spPr>
          <a:xfrm>
            <a:off x="6217920" y="1417320"/>
            <a:ext cx="224028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The Twist</a:t>
            </a:r>
            <a:endParaRPr lang="en-US" sz="1500" dirty="0"/>
          </a:p>
        </p:txBody>
      </p:sp>
      <p:sp>
        <p:nvSpPr>
          <p:cNvPr id="16" name="Text 14"/>
          <p:cNvSpPr/>
          <p:nvPr/>
        </p:nvSpPr>
        <p:spPr>
          <a:xfrm>
            <a:off x="6217920" y="1783080"/>
            <a:ext cx="2240280" cy="320040"/>
          </a:xfrm>
          <a:prstGeom prst="rect">
            <a:avLst/>
          </a:prstGeom>
          <a:noFill/>
          <a:ln/>
        </p:spPr>
        <p:txBody>
          <a:bodyPr wrap="square" lIns="0" tIns="0" rIns="0" bIns="0" rtlCol="0" anchor="ctr"/>
          <a:lstStyle/>
          <a:p>
            <a:pPr marL="0" indent="0">
              <a:buNone/>
            </a:pPr>
            <a:r>
              <a:rPr lang="en-US" sz="1000" i="1" dirty="0">
                <a:solidFill>
                  <a:srgbClr val="707070"/>
                </a:solidFill>
                <a:latin typeface="Arial" pitchFamily="34" charset="0"/>
                <a:ea typeface="Arial" pitchFamily="34" charset="-122"/>
                <a:cs typeface="Arial" pitchFamily="34" charset="-120"/>
              </a:rPr>
              <a:t>Copilot + Claude models</a:t>
            </a:r>
            <a:endParaRPr lang="en-US" sz="1000" dirty="0"/>
          </a:p>
        </p:txBody>
      </p:sp>
      <p:sp>
        <p:nvSpPr>
          <p:cNvPr id="17" name="Text 15"/>
          <p:cNvSpPr/>
          <p:nvPr/>
        </p:nvSpPr>
        <p:spPr>
          <a:xfrm>
            <a:off x="6217920" y="2194560"/>
            <a:ext cx="2240280" cy="2103120"/>
          </a:xfrm>
          <a:prstGeom prst="rect">
            <a:avLst/>
          </a:prstGeom>
          <a:noFill/>
          <a:ln/>
        </p:spPr>
        <p:txBody>
          <a:bodyPr wrap="square" rtlCol="0" anchor="ctr"/>
          <a:lstStyle/>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Premium Copilot can run</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Anthropic models</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Same model, different wrapper</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Different capabilities</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Confusing? Yes.</a:t>
            </a:r>
            <a:endParaRPr lang="en-US" sz="1100" dirty="0"/>
          </a:p>
        </p:txBody>
      </p:sp>
    </p:spTree>
    <p:extLst>
      <p:ext uri="{BB962C8B-B14F-4D97-AF65-F5344CB8AC3E}">
        <p14:creationId xmlns:p14="http://schemas.microsoft.com/office/powerpoint/2010/main" val="35108581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How Each Tool Works Inside Excel</a:t>
            </a:r>
            <a:endParaRPr lang="en-US" sz="2800" dirty="0"/>
          </a:p>
        </p:txBody>
      </p:sp>
      <p:sp>
        <p:nvSpPr>
          <p:cNvPr id="3" name="Shape 1"/>
          <p:cNvSpPr/>
          <p:nvPr/>
        </p:nvSpPr>
        <p:spPr>
          <a:xfrm>
            <a:off x="457200" y="1188720"/>
            <a:ext cx="3931920" cy="329184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457200" y="1188720"/>
            <a:ext cx="73152" cy="3291840"/>
          </a:xfrm>
          <a:prstGeom prst="rect">
            <a:avLst/>
          </a:prstGeom>
          <a:solidFill>
            <a:srgbClr val="CF3338"/>
          </a:solidFill>
          <a:ln/>
        </p:spPr>
        <p:txBody>
          <a:bodyPr/>
          <a:lstStyle/>
          <a:p>
            <a:endParaRPr lang="en-US"/>
          </a:p>
        </p:txBody>
      </p:sp>
      <p:sp>
        <p:nvSpPr>
          <p:cNvPr id="5" name="Text 3"/>
          <p:cNvSpPr/>
          <p:nvPr/>
        </p:nvSpPr>
        <p:spPr>
          <a:xfrm>
            <a:off x="731520" y="1280160"/>
            <a:ext cx="3474720" cy="411480"/>
          </a:xfrm>
          <a:prstGeom prst="rect">
            <a:avLst/>
          </a:prstGeom>
          <a:noFill/>
          <a:ln/>
        </p:spPr>
        <p:txBody>
          <a:bodyPr wrap="square" rtlCol="0" anchor="ctr"/>
          <a:lstStyle/>
          <a:p>
            <a:pPr marL="0" indent="0">
              <a:buNone/>
            </a:pPr>
            <a:r>
              <a:rPr lang="en-US" sz="1800" b="1" dirty="0">
                <a:solidFill>
                  <a:srgbClr val="CF3338"/>
                </a:solidFill>
                <a:latin typeface="Arial Black" pitchFamily="34" charset="0"/>
                <a:ea typeface="Arial Black" pitchFamily="34" charset="-122"/>
                <a:cs typeface="Arial Black" pitchFamily="34" charset="-120"/>
              </a:rPr>
              <a:t>Copilot</a:t>
            </a:r>
            <a:endParaRPr lang="en-US" sz="1800" dirty="0"/>
          </a:p>
        </p:txBody>
      </p:sp>
      <p:sp>
        <p:nvSpPr>
          <p:cNvPr id="6" name="Text 4"/>
          <p:cNvSpPr/>
          <p:nvPr/>
        </p:nvSpPr>
        <p:spPr>
          <a:xfrm>
            <a:off x="731520" y="1737360"/>
            <a:ext cx="3474720" cy="2560320"/>
          </a:xfrm>
          <a:prstGeom prst="rect">
            <a:avLst/>
          </a:prstGeom>
          <a:noFill/>
          <a:ln/>
        </p:spPr>
        <p:txBody>
          <a:bodyPr wrap="square" rtlCol="0" anchor="ctr"/>
          <a:lstStyle/>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Lives in the ribbon and side panel</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"Edit with Copilot" toggle enables direct cell editing</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Model selector under the three-dot menu</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Works with your existing tables natively</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Changes appear inline, no separate approval step</a:t>
            </a:r>
            <a:endParaRPr lang="en-US" sz="1200" dirty="0"/>
          </a:p>
        </p:txBody>
      </p:sp>
      <p:sp>
        <p:nvSpPr>
          <p:cNvPr id="7" name="Shape 5"/>
          <p:cNvSpPr/>
          <p:nvPr/>
        </p:nvSpPr>
        <p:spPr>
          <a:xfrm>
            <a:off x="4754880" y="1188720"/>
            <a:ext cx="3931920" cy="329184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8" name="Shape 6"/>
          <p:cNvSpPr/>
          <p:nvPr/>
        </p:nvSpPr>
        <p:spPr>
          <a:xfrm>
            <a:off x="4754880" y="1188720"/>
            <a:ext cx="73152" cy="3291840"/>
          </a:xfrm>
          <a:prstGeom prst="rect">
            <a:avLst/>
          </a:prstGeom>
          <a:solidFill>
            <a:srgbClr val="CF3338"/>
          </a:solidFill>
          <a:ln/>
        </p:spPr>
        <p:txBody>
          <a:bodyPr/>
          <a:lstStyle/>
          <a:p>
            <a:endParaRPr lang="en-US"/>
          </a:p>
        </p:txBody>
      </p:sp>
      <p:sp>
        <p:nvSpPr>
          <p:cNvPr id="9" name="Text 7"/>
          <p:cNvSpPr/>
          <p:nvPr/>
        </p:nvSpPr>
        <p:spPr>
          <a:xfrm>
            <a:off x="5029200" y="1280160"/>
            <a:ext cx="3474720" cy="411480"/>
          </a:xfrm>
          <a:prstGeom prst="rect">
            <a:avLst/>
          </a:prstGeom>
          <a:noFill/>
          <a:ln/>
        </p:spPr>
        <p:txBody>
          <a:bodyPr wrap="square" rtlCol="0" anchor="ctr"/>
          <a:lstStyle/>
          <a:p>
            <a:pPr marL="0" indent="0">
              <a:buNone/>
            </a:pPr>
            <a:r>
              <a:rPr lang="en-US" sz="1800" b="1" dirty="0">
                <a:solidFill>
                  <a:srgbClr val="CF3338"/>
                </a:solidFill>
                <a:latin typeface="Arial Black" pitchFamily="34" charset="0"/>
                <a:ea typeface="Arial Black" pitchFamily="34" charset="-122"/>
                <a:cs typeface="Arial Black" pitchFamily="34" charset="-120"/>
              </a:rPr>
              <a:t>Claude Add-in</a:t>
            </a:r>
            <a:endParaRPr lang="en-US" sz="1800" dirty="0"/>
          </a:p>
        </p:txBody>
      </p:sp>
      <p:sp>
        <p:nvSpPr>
          <p:cNvPr id="10" name="Text 8"/>
          <p:cNvSpPr/>
          <p:nvPr/>
        </p:nvSpPr>
        <p:spPr>
          <a:xfrm>
            <a:off x="5029200" y="1737360"/>
            <a:ext cx="3474720" cy="2560320"/>
          </a:xfrm>
          <a:prstGeom prst="rect">
            <a:avLst/>
          </a:prstGeom>
          <a:noFill/>
          <a:ln/>
        </p:spPr>
        <p:txBody>
          <a:bodyPr wrap="square" rtlCol="0" anchor="ctr"/>
          <a:lstStyle/>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Installed from the Office add-in store</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Opens in a side panel</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Model selector in the panel header</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Asks permission before modifying your data</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You approve or deny each change</a:t>
            </a:r>
            <a:endParaRPr lang="en-US" sz="1200" dirty="0"/>
          </a:p>
        </p:txBody>
      </p:sp>
    </p:spTree>
    <p:extLst>
      <p:ext uri="{BB962C8B-B14F-4D97-AF65-F5344CB8AC3E}">
        <p14:creationId xmlns:p14="http://schemas.microsoft.com/office/powerpoint/2010/main" val="36484754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My Test Dataset</a:t>
            </a:r>
            <a:endParaRPr lang="en-US" sz="2800" dirty="0"/>
          </a:p>
        </p:txBody>
      </p:sp>
      <p:sp>
        <p:nvSpPr>
          <p:cNvPr id="3" name="Shape 1"/>
          <p:cNvSpPr/>
          <p:nvPr/>
        </p:nvSpPr>
        <p:spPr>
          <a:xfrm>
            <a:off x="731520" y="1188720"/>
            <a:ext cx="7680960" cy="146304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731520" y="1188720"/>
            <a:ext cx="73152" cy="1463040"/>
          </a:xfrm>
          <a:prstGeom prst="rect">
            <a:avLst/>
          </a:prstGeom>
          <a:solidFill>
            <a:srgbClr val="CF3338"/>
          </a:solidFill>
          <a:ln/>
        </p:spPr>
        <p:txBody>
          <a:bodyPr/>
          <a:lstStyle/>
          <a:p>
            <a:endParaRPr lang="en-US"/>
          </a:p>
        </p:txBody>
      </p:sp>
      <p:sp>
        <p:nvSpPr>
          <p:cNvPr id="5" name="Text 3"/>
          <p:cNvSpPr/>
          <p:nvPr/>
        </p:nvSpPr>
        <p:spPr>
          <a:xfrm>
            <a:off x="1005840" y="1280160"/>
            <a:ext cx="7132320" cy="1280160"/>
          </a:xfrm>
          <a:prstGeom prst="rect">
            <a:avLst/>
          </a:prstGeom>
          <a:noFill/>
          <a:ln/>
        </p:spPr>
        <p:txBody>
          <a:bodyPr wrap="square" rtlCol="0" anchor="ctr"/>
          <a:lstStyle/>
          <a:p>
            <a:pPr marL="0" indent="0">
              <a:spcAft>
                <a:spcPts val="400"/>
              </a:spcAft>
              <a:buNone/>
            </a:pPr>
            <a:r>
              <a:rPr lang="en-US" sz="1400" b="1" dirty="0">
                <a:solidFill>
                  <a:srgbClr val="707070"/>
                </a:solidFill>
                <a:latin typeface="Arial" pitchFamily="34" charset="0"/>
                <a:ea typeface="Arial" pitchFamily="34" charset="-122"/>
                <a:cs typeface="Arial" pitchFamily="34" charset="-120"/>
              </a:rPr>
              <a:t>Employee expense report | 29 transactions | 3 departments</a:t>
            </a:r>
            <a:endParaRPr lang="en-US" sz="1300" dirty="0"/>
          </a:p>
          <a:p>
            <a:pPr marL="0" indent="0">
              <a:spcAft>
                <a:spcPts val="400"/>
              </a:spcAft>
              <a:buNone/>
            </a:pPr>
            <a:r>
              <a:rPr lang="en-US" sz="1300" dirty="0">
                <a:solidFill>
                  <a:srgbClr val="707070"/>
                </a:solidFill>
                <a:latin typeface="Arial" pitchFamily="34" charset="0"/>
                <a:ea typeface="Arial" pitchFamily="34" charset="-122"/>
                <a:cs typeface="Arial" pitchFamily="34" charset="-120"/>
              </a:rPr>
              <a:t>Columns: Date, Employee, Dept, Vendor, Description, Amount, Category (blank)</a:t>
            </a:r>
            <a:endParaRPr lang="en-US" sz="1300" dirty="0"/>
          </a:p>
          <a:p>
            <a:pPr marL="0" indent="0">
              <a:spcAft>
                <a:spcPts val="400"/>
              </a:spcAft>
              <a:buNone/>
            </a:pPr>
            <a:r>
              <a:rPr lang="en-US" sz="1300" i="1" dirty="0">
                <a:solidFill>
                  <a:srgbClr val="707070"/>
                </a:solidFill>
                <a:latin typeface="Arial" pitchFamily="34" charset="0"/>
                <a:ea typeface="Arial" pitchFamily="34" charset="-122"/>
                <a:cs typeface="Arial" pitchFamily="34" charset="-120"/>
              </a:rPr>
              <a:t>Category column is intentionally empty. The AI fills it in. Includes a few curveballs: a typo, a refund, and an ambiguous entry.</a:t>
            </a:r>
            <a:endParaRPr lang="en-US" sz="1300" dirty="0"/>
          </a:p>
        </p:txBody>
      </p:sp>
      <p:sp>
        <p:nvSpPr>
          <p:cNvPr id="6" name="Text 4"/>
          <p:cNvSpPr/>
          <p:nvPr/>
        </p:nvSpPr>
        <p:spPr>
          <a:xfrm>
            <a:off x="731520" y="2926080"/>
            <a:ext cx="7315200" cy="365760"/>
          </a:xfrm>
          <a:prstGeom prst="rect">
            <a:avLst/>
          </a:prstGeom>
          <a:noFill/>
          <a:ln/>
        </p:spPr>
        <p:txBody>
          <a:bodyPr wrap="square" rtlCol="0" anchor="ctr"/>
          <a:lstStyle/>
          <a:p>
            <a:pPr marL="0" indent="0">
              <a:buNone/>
            </a:pPr>
            <a:r>
              <a:rPr lang="en-US" sz="1600" b="1" dirty="0">
                <a:solidFill>
                  <a:srgbClr val="1F2120"/>
                </a:solidFill>
                <a:latin typeface="Arial Black" pitchFamily="34" charset="0"/>
                <a:ea typeface="Arial Black" pitchFamily="34" charset="-122"/>
                <a:cs typeface="Arial Black" pitchFamily="34" charset="-120"/>
              </a:rPr>
              <a:t>What I'll ask each tool to do:</a:t>
            </a:r>
            <a:endParaRPr lang="en-US" sz="1600" dirty="0"/>
          </a:p>
        </p:txBody>
      </p:sp>
      <p:sp>
        <p:nvSpPr>
          <p:cNvPr id="7" name="Shape 5"/>
          <p:cNvSpPr/>
          <p:nvPr/>
        </p:nvSpPr>
        <p:spPr>
          <a:xfrm>
            <a:off x="731520" y="3383280"/>
            <a:ext cx="3657600" cy="128016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731520" y="3383280"/>
            <a:ext cx="1097280" cy="1280160"/>
          </a:xfrm>
          <a:prstGeom prst="rect">
            <a:avLst/>
          </a:prstGeom>
          <a:solidFill>
            <a:srgbClr val="CF3338"/>
          </a:solidFill>
          <a:ln/>
        </p:spPr>
        <p:txBody>
          <a:bodyPr wrap="square" rtlCol="0" anchor="ctr"/>
          <a:lstStyle/>
          <a:p>
            <a:pPr marL="0" indent="0" algn="ctr">
              <a:buNone/>
            </a:pPr>
            <a:r>
              <a:rPr lang="en-US" sz="1400" b="1" dirty="0">
                <a:solidFill>
                  <a:srgbClr val="FFFFFF"/>
                </a:solidFill>
                <a:latin typeface="Arial Black" pitchFamily="34" charset="0"/>
                <a:ea typeface="Arial Black" pitchFamily="34" charset="-122"/>
                <a:cs typeface="Arial Black" pitchFamily="34" charset="-120"/>
              </a:rPr>
              <a:t>Task 1</a:t>
            </a:r>
            <a:endParaRPr lang="en-US" sz="1400" dirty="0"/>
          </a:p>
        </p:txBody>
      </p:sp>
      <p:sp>
        <p:nvSpPr>
          <p:cNvPr id="9" name="Text 7"/>
          <p:cNvSpPr/>
          <p:nvPr/>
        </p:nvSpPr>
        <p:spPr>
          <a:xfrm>
            <a:off x="1920240" y="3474720"/>
            <a:ext cx="2286000" cy="1097280"/>
          </a:xfrm>
          <a:prstGeom prst="rect">
            <a:avLst/>
          </a:prstGeom>
          <a:noFill/>
          <a:ln/>
        </p:spPr>
        <p:txBody>
          <a:bodyPr wrap="square" rtlCol="0" anchor="ctr"/>
          <a:lstStyle/>
          <a:p>
            <a:pPr marL="0" indent="0">
              <a:lnSpc>
                <a:spcPct val="130000"/>
              </a:lnSpc>
              <a:buNone/>
            </a:pPr>
            <a:r>
              <a:rPr lang="en-US" sz="1200" dirty="0">
                <a:solidFill>
                  <a:srgbClr val="1F2120"/>
                </a:solidFill>
                <a:latin typeface="Arial" pitchFamily="34" charset="0"/>
                <a:ea typeface="Arial" pitchFamily="34" charset="-122"/>
                <a:cs typeface="Arial" pitchFamily="34" charset="-120"/>
              </a:rPr>
              <a:t>Categorize each expense</a:t>
            </a:r>
            <a:endParaRPr lang="en-US" sz="1200" dirty="0"/>
          </a:p>
          <a:p>
            <a:pPr marL="0" indent="0">
              <a:lnSpc>
                <a:spcPct val="130000"/>
              </a:lnSpc>
              <a:buNone/>
            </a:pPr>
            <a:r>
              <a:rPr lang="en-US" sz="1200" dirty="0">
                <a:solidFill>
                  <a:srgbClr val="1F2120"/>
                </a:solidFill>
                <a:latin typeface="Arial" pitchFamily="34" charset="0"/>
                <a:ea typeface="Arial" pitchFamily="34" charset="-122"/>
                <a:cs typeface="Arial" pitchFamily="34" charset="-120"/>
              </a:rPr>
              <a:t>based on vendor and description</a:t>
            </a:r>
            <a:endParaRPr lang="en-US" sz="1200" dirty="0"/>
          </a:p>
        </p:txBody>
      </p:sp>
      <p:sp>
        <p:nvSpPr>
          <p:cNvPr id="10" name="Shape 8"/>
          <p:cNvSpPr/>
          <p:nvPr/>
        </p:nvSpPr>
        <p:spPr>
          <a:xfrm>
            <a:off x="4754880" y="3383280"/>
            <a:ext cx="3657600" cy="128016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11" name="Text 9"/>
          <p:cNvSpPr/>
          <p:nvPr/>
        </p:nvSpPr>
        <p:spPr>
          <a:xfrm>
            <a:off x="4754880" y="3383280"/>
            <a:ext cx="1097280" cy="1280160"/>
          </a:xfrm>
          <a:prstGeom prst="rect">
            <a:avLst/>
          </a:prstGeom>
          <a:solidFill>
            <a:srgbClr val="CF3338"/>
          </a:solidFill>
          <a:ln/>
        </p:spPr>
        <p:txBody>
          <a:bodyPr wrap="square" rtlCol="0" anchor="ctr"/>
          <a:lstStyle/>
          <a:p>
            <a:pPr marL="0" indent="0" algn="ctr">
              <a:buNone/>
            </a:pPr>
            <a:r>
              <a:rPr lang="en-US" sz="1400" b="1" dirty="0">
                <a:solidFill>
                  <a:srgbClr val="FFFFFF"/>
                </a:solidFill>
                <a:latin typeface="Arial Black" pitchFamily="34" charset="0"/>
                <a:ea typeface="Arial Black" pitchFamily="34" charset="-122"/>
                <a:cs typeface="Arial Black" pitchFamily="34" charset="-120"/>
              </a:rPr>
              <a:t>Task 2</a:t>
            </a:r>
            <a:endParaRPr lang="en-US" sz="1400" dirty="0"/>
          </a:p>
        </p:txBody>
      </p:sp>
      <p:sp>
        <p:nvSpPr>
          <p:cNvPr id="12" name="Text 10"/>
          <p:cNvSpPr/>
          <p:nvPr/>
        </p:nvSpPr>
        <p:spPr>
          <a:xfrm>
            <a:off x="5943600" y="3474720"/>
            <a:ext cx="2286000" cy="1097280"/>
          </a:xfrm>
          <a:prstGeom prst="rect">
            <a:avLst/>
          </a:prstGeom>
          <a:noFill/>
          <a:ln/>
        </p:spPr>
        <p:txBody>
          <a:bodyPr wrap="square" rtlCol="0" anchor="ctr"/>
          <a:lstStyle/>
          <a:p>
            <a:pPr marL="0" indent="0">
              <a:lnSpc>
                <a:spcPct val="130000"/>
              </a:lnSpc>
              <a:buNone/>
            </a:pPr>
            <a:r>
              <a:rPr lang="en-US" sz="1200" dirty="0">
                <a:solidFill>
                  <a:srgbClr val="1F2120"/>
                </a:solidFill>
                <a:latin typeface="Arial" pitchFamily="34" charset="0"/>
                <a:ea typeface="Arial" pitchFamily="34" charset="-122"/>
                <a:cs typeface="Arial" pitchFamily="34" charset="-120"/>
              </a:rPr>
              <a:t>Build a summary report:</a:t>
            </a:r>
            <a:endParaRPr lang="en-US" sz="1200" dirty="0"/>
          </a:p>
          <a:p>
            <a:pPr marL="0" indent="0">
              <a:lnSpc>
                <a:spcPct val="130000"/>
              </a:lnSpc>
              <a:buNone/>
            </a:pPr>
            <a:r>
              <a:rPr lang="en-US" sz="1200" dirty="0">
                <a:solidFill>
                  <a:srgbClr val="1F2120"/>
                </a:solidFill>
                <a:latin typeface="Arial" pitchFamily="34" charset="0"/>
                <a:ea typeface="Arial" pitchFamily="34" charset="-122"/>
                <a:cs typeface="Arial" pitchFamily="34" charset="-120"/>
              </a:rPr>
              <a:t>totals by category and department</a:t>
            </a:r>
            <a:endParaRPr lang="en-US" sz="1200" dirty="0"/>
          </a:p>
        </p:txBody>
      </p:sp>
    </p:spTree>
    <p:extLst>
      <p:ext uri="{BB962C8B-B14F-4D97-AF65-F5344CB8AC3E}">
        <p14:creationId xmlns:p14="http://schemas.microsoft.com/office/powerpoint/2010/main" val="23487166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914400" y="1371600"/>
            <a:ext cx="7315200" cy="1371600"/>
          </a:xfrm>
          <a:prstGeom prst="rect">
            <a:avLst/>
          </a:prstGeom>
          <a:noFill/>
          <a:ln/>
        </p:spPr>
        <p:txBody>
          <a:bodyPr wrap="square" rtlCol="0" anchor="ctr"/>
          <a:lstStyle/>
          <a:p>
            <a:pPr marL="0" indent="0" algn="ctr">
              <a:buNone/>
            </a:pPr>
            <a:r>
              <a:rPr lang="en-US" sz="4000" b="1" dirty="0">
                <a:solidFill>
                  <a:srgbClr val="CF3338"/>
                </a:solidFill>
                <a:latin typeface="Arial Black" pitchFamily="34" charset="0"/>
                <a:ea typeface="Arial Black" pitchFamily="34" charset="-122"/>
                <a:cs typeface="Arial Black" pitchFamily="34" charset="-120"/>
              </a:rPr>
              <a:t>Live Demos</a:t>
            </a:r>
            <a:endParaRPr lang="en-US" sz="4000" dirty="0"/>
          </a:p>
        </p:txBody>
      </p:sp>
      <p:sp>
        <p:nvSpPr>
          <p:cNvPr id="3" name="Text 1"/>
          <p:cNvSpPr/>
          <p:nvPr/>
        </p:nvSpPr>
        <p:spPr>
          <a:xfrm>
            <a:off x="1371600" y="2926080"/>
            <a:ext cx="6400800" cy="731520"/>
          </a:xfrm>
          <a:prstGeom prst="rect">
            <a:avLst/>
          </a:prstGeom>
          <a:noFill/>
          <a:ln/>
        </p:spPr>
        <p:txBody>
          <a:bodyPr wrap="square" rtlCol="0" anchor="ctr"/>
          <a:lstStyle/>
          <a:p>
            <a:pPr marL="0" indent="0" algn="ctr">
              <a:buNone/>
            </a:pPr>
            <a:r>
              <a:rPr lang="en-US" sz="1600" dirty="0">
                <a:solidFill>
                  <a:srgbClr val="707070"/>
                </a:solidFill>
                <a:latin typeface="Arial" pitchFamily="34" charset="0"/>
                <a:ea typeface="Arial" pitchFamily="34" charset="-122"/>
                <a:cs typeface="Arial" pitchFamily="34" charset="-120"/>
              </a:rPr>
              <a:t>Same data. Same prompts. Let's see what happens.</a:t>
            </a:r>
            <a:endParaRPr lang="en-US" sz="1600" dirty="0"/>
          </a:p>
        </p:txBody>
      </p:sp>
    </p:spTree>
    <p:extLst>
      <p:ext uri="{BB962C8B-B14F-4D97-AF65-F5344CB8AC3E}">
        <p14:creationId xmlns:p14="http://schemas.microsoft.com/office/powerpoint/2010/main" val="1264024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6858000" y="0"/>
            <a:ext cx="2286000" cy="5143500"/>
          </a:xfrm>
          <a:prstGeom prst="rect">
            <a:avLst/>
          </a:prstGeom>
          <a:solidFill>
            <a:srgbClr val="CF3338"/>
          </a:solidFill>
          <a:ln/>
        </p:spPr>
        <p:txBody>
          <a:bodyPr/>
          <a:lstStyle/>
          <a:p>
            <a:endParaRPr lang="en-US"/>
          </a:p>
        </p:txBody>
      </p:sp>
      <p:sp>
        <p:nvSpPr>
          <p:cNvPr id="3" name="Text 1"/>
          <p:cNvSpPr/>
          <p:nvPr/>
        </p:nvSpPr>
        <p:spPr>
          <a:xfrm>
            <a:off x="6949440" y="1371600"/>
            <a:ext cx="2103120" cy="1828800"/>
          </a:xfrm>
          <a:prstGeom prst="rect">
            <a:avLst/>
          </a:prstGeom>
          <a:noFill/>
          <a:ln/>
        </p:spPr>
        <p:txBody>
          <a:bodyPr wrap="square" rtlCol="0" anchor="ctr"/>
          <a:lstStyle/>
          <a:p>
            <a:pPr marL="0" indent="0" algn="ctr">
              <a:buNone/>
            </a:pPr>
            <a:r>
              <a:rPr lang="en-US" sz="2800" b="1" dirty="0">
                <a:solidFill>
                  <a:srgbClr val="FFFFFF"/>
                </a:solidFill>
                <a:latin typeface="Arial Black" pitchFamily="34" charset="0"/>
                <a:ea typeface="Arial Black" pitchFamily="34" charset="-122"/>
                <a:cs typeface="Arial Black" pitchFamily="34" charset="-120"/>
              </a:rPr>
              <a:t>LIVE</a:t>
            </a:r>
            <a:endParaRPr lang="en-US" sz="2800" dirty="0"/>
          </a:p>
          <a:p>
            <a:pPr marL="0" indent="0" algn="ctr">
              <a:buNone/>
            </a:pPr>
            <a:r>
              <a:rPr lang="en-US" sz="2800" b="1" dirty="0">
                <a:solidFill>
                  <a:srgbClr val="FFFFFF"/>
                </a:solidFill>
                <a:latin typeface="Arial Black" pitchFamily="34" charset="0"/>
                <a:ea typeface="Arial Black" pitchFamily="34" charset="-122"/>
                <a:cs typeface="Arial Black" pitchFamily="34" charset="-120"/>
              </a:rPr>
              <a:t>DEMO</a:t>
            </a:r>
            <a:endParaRPr lang="en-US" sz="2800" dirty="0"/>
          </a:p>
        </p:txBody>
      </p:sp>
      <p:sp>
        <p:nvSpPr>
          <p:cNvPr id="7" name="Text 5"/>
          <p:cNvSpPr/>
          <p:nvPr/>
        </p:nvSpPr>
        <p:spPr>
          <a:xfrm>
            <a:off x="731520" y="365760"/>
            <a:ext cx="5943600" cy="640080"/>
          </a:xfrm>
          <a:prstGeom prst="rect">
            <a:avLst/>
          </a:prstGeom>
          <a:noFill/>
          <a:ln/>
        </p:spPr>
        <p:txBody>
          <a:bodyPr wrap="square"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Task 1: Categorize Expenses</a:t>
            </a:r>
            <a:endParaRPr lang="en-US" sz="2600" dirty="0"/>
          </a:p>
        </p:txBody>
      </p:sp>
      <p:sp>
        <p:nvSpPr>
          <p:cNvPr id="8" name="Text 6"/>
          <p:cNvSpPr/>
          <p:nvPr/>
        </p:nvSpPr>
        <p:spPr>
          <a:xfrm>
            <a:off x="731520" y="1097280"/>
            <a:ext cx="5486400" cy="365760"/>
          </a:xfrm>
          <a:prstGeom prst="rect">
            <a:avLst/>
          </a:prstGeom>
          <a:noFill/>
          <a:ln/>
        </p:spPr>
        <p:txBody>
          <a:bodyPr wrap="square" rtlCol="0" anchor="ctr"/>
          <a:lstStyle/>
          <a:p>
            <a:pPr marL="0" indent="0">
              <a:buNone/>
            </a:pPr>
            <a:r>
              <a:rPr lang="en-US" sz="1600" b="1" dirty="0">
                <a:solidFill>
                  <a:srgbClr val="CF3338"/>
                </a:solidFill>
                <a:latin typeface="Arial Black" pitchFamily="34" charset="0"/>
                <a:ea typeface="Arial Black" pitchFamily="34" charset="-122"/>
                <a:cs typeface="Arial Black" pitchFamily="34" charset="-120"/>
              </a:rPr>
              <a:t>What to watch for:</a:t>
            </a:r>
            <a:endParaRPr lang="en-US" sz="1600" dirty="0"/>
          </a:p>
        </p:txBody>
      </p:sp>
      <p:sp>
        <p:nvSpPr>
          <p:cNvPr id="9" name="Text 7"/>
          <p:cNvSpPr/>
          <p:nvPr/>
        </p:nvSpPr>
        <p:spPr>
          <a:xfrm>
            <a:off x="731520" y="1554480"/>
            <a:ext cx="5669280" cy="2743200"/>
          </a:xfrm>
          <a:prstGeom prst="rect">
            <a:avLst/>
          </a:prstGeom>
          <a:noFill/>
          <a:ln/>
        </p:spPr>
        <p:txBody>
          <a:bodyPr wrap="square" rtlCol="0" anchor="ctr"/>
          <a:lstStyle/>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How does each tool interact with the table?</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Does it ask for permission or just act?</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How does it handle ambiguous items?</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Does it explain its reasoning?</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 both tools agree on the categories?</a:t>
            </a:r>
            <a:endParaRPr lang="en-US" sz="1400" dirty="0"/>
          </a:p>
        </p:txBody>
      </p:sp>
    </p:spTree>
    <p:extLst>
      <p:ext uri="{BB962C8B-B14F-4D97-AF65-F5344CB8AC3E}">
        <p14:creationId xmlns:p14="http://schemas.microsoft.com/office/powerpoint/2010/main" val="14750023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6858000" y="0"/>
            <a:ext cx="2286000" cy="5143500"/>
          </a:xfrm>
          <a:prstGeom prst="rect">
            <a:avLst/>
          </a:prstGeom>
          <a:solidFill>
            <a:srgbClr val="CF3338"/>
          </a:solidFill>
          <a:ln/>
        </p:spPr>
        <p:txBody>
          <a:bodyPr/>
          <a:lstStyle/>
          <a:p>
            <a:endParaRPr lang="en-US"/>
          </a:p>
        </p:txBody>
      </p:sp>
      <p:sp>
        <p:nvSpPr>
          <p:cNvPr id="3" name="Text 1"/>
          <p:cNvSpPr/>
          <p:nvPr/>
        </p:nvSpPr>
        <p:spPr>
          <a:xfrm>
            <a:off x="6949440" y="1371600"/>
            <a:ext cx="2103120" cy="1828800"/>
          </a:xfrm>
          <a:prstGeom prst="rect">
            <a:avLst/>
          </a:prstGeom>
          <a:noFill/>
          <a:ln/>
        </p:spPr>
        <p:txBody>
          <a:bodyPr wrap="square" rtlCol="0" anchor="ctr"/>
          <a:lstStyle/>
          <a:p>
            <a:pPr marL="0" indent="0" algn="ctr">
              <a:buNone/>
            </a:pPr>
            <a:r>
              <a:rPr lang="en-US" sz="2800" b="1" dirty="0">
                <a:solidFill>
                  <a:srgbClr val="FFFFFF"/>
                </a:solidFill>
                <a:latin typeface="Arial Black" pitchFamily="34" charset="0"/>
                <a:ea typeface="Arial Black" pitchFamily="34" charset="-122"/>
                <a:cs typeface="Arial Black" pitchFamily="34" charset="-120"/>
              </a:rPr>
              <a:t>LIVE</a:t>
            </a:r>
            <a:endParaRPr lang="en-US" sz="2800" dirty="0"/>
          </a:p>
          <a:p>
            <a:pPr marL="0" indent="0" algn="ctr">
              <a:buNone/>
            </a:pPr>
            <a:r>
              <a:rPr lang="en-US" sz="2800" b="1" dirty="0">
                <a:solidFill>
                  <a:srgbClr val="FFFFFF"/>
                </a:solidFill>
                <a:latin typeface="Arial Black" pitchFamily="34" charset="0"/>
                <a:ea typeface="Arial Black" pitchFamily="34" charset="-122"/>
                <a:cs typeface="Arial Black" pitchFamily="34" charset="-120"/>
              </a:rPr>
              <a:t>DEMO</a:t>
            </a:r>
            <a:endParaRPr lang="en-US" sz="2800" dirty="0"/>
          </a:p>
        </p:txBody>
      </p:sp>
      <p:sp>
        <p:nvSpPr>
          <p:cNvPr id="7" name="Text 5"/>
          <p:cNvSpPr/>
          <p:nvPr/>
        </p:nvSpPr>
        <p:spPr>
          <a:xfrm>
            <a:off x="731520" y="365760"/>
            <a:ext cx="5943600" cy="640080"/>
          </a:xfrm>
          <a:prstGeom prst="rect">
            <a:avLst/>
          </a:prstGeom>
          <a:noFill/>
          <a:ln/>
        </p:spPr>
        <p:txBody>
          <a:bodyPr wrap="square"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Task 2: Build a Summary</a:t>
            </a:r>
            <a:endParaRPr lang="en-US" sz="2600" dirty="0"/>
          </a:p>
        </p:txBody>
      </p:sp>
      <p:sp>
        <p:nvSpPr>
          <p:cNvPr id="8" name="Text 6"/>
          <p:cNvSpPr/>
          <p:nvPr/>
        </p:nvSpPr>
        <p:spPr>
          <a:xfrm>
            <a:off x="731520" y="1097280"/>
            <a:ext cx="5486400" cy="365760"/>
          </a:xfrm>
          <a:prstGeom prst="rect">
            <a:avLst/>
          </a:prstGeom>
          <a:noFill/>
          <a:ln/>
        </p:spPr>
        <p:txBody>
          <a:bodyPr wrap="square" rtlCol="0" anchor="ctr"/>
          <a:lstStyle/>
          <a:p>
            <a:pPr marL="0" indent="0">
              <a:buNone/>
            </a:pPr>
            <a:r>
              <a:rPr lang="en-US" sz="1600" b="1" dirty="0">
                <a:solidFill>
                  <a:srgbClr val="CF3338"/>
                </a:solidFill>
                <a:latin typeface="Arial Black" pitchFamily="34" charset="0"/>
                <a:ea typeface="Arial Black" pitchFamily="34" charset="-122"/>
                <a:cs typeface="Arial Black" pitchFamily="34" charset="-120"/>
              </a:rPr>
              <a:t>What to watch for:</a:t>
            </a:r>
            <a:endParaRPr lang="en-US" sz="1600" dirty="0"/>
          </a:p>
        </p:txBody>
      </p:sp>
      <p:sp>
        <p:nvSpPr>
          <p:cNvPr id="9" name="Text 7"/>
          <p:cNvSpPr/>
          <p:nvPr/>
        </p:nvSpPr>
        <p:spPr>
          <a:xfrm>
            <a:off x="731520" y="1554480"/>
            <a:ext cx="5669280" cy="2743200"/>
          </a:xfrm>
          <a:prstGeom prst="rect">
            <a:avLst/>
          </a:prstGeom>
          <a:noFill/>
          <a:ln/>
        </p:spPr>
        <p:txBody>
          <a:bodyPr wrap="square" rtlCol="0" anchor="ctr"/>
          <a:lstStyle/>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Formulas or PivotTables? (You didn't specify!)</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Does it create a new worksheet as asked?</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Does it overwrite anything it shouldn't?</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How well does it follow your exact instructions?</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What does the written explanation look like?</a:t>
            </a:r>
            <a:endParaRPr lang="en-US" sz="1400" dirty="0"/>
          </a:p>
        </p:txBody>
      </p:sp>
    </p:spTree>
    <p:extLst>
      <p:ext uri="{BB962C8B-B14F-4D97-AF65-F5344CB8AC3E}">
        <p14:creationId xmlns:p14="http://schemas.microsoft.com/office/powerpoint/2010/main" val="3109949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Patterns I Typically See</a:t>
            </a:r>
            <a:endParaRPr lang="en-US" sz="2800" dirty="0"/>
          </a:p>
        </p:txBody>
      </p:sp>
      <p:sp>
        <p:nvSpPr>
          <p:cNvPr id="3" name="Text 1"/>
          <p:cNvSpPr/>
          <p:nvPr/>
        </p:nvSpPr>
        <p:spPr>
          <a:xfrm>
            <a:off x="731520" y="914400"/>
            <a:ext cx="7315200" cy="365760"/>
          </a:xfrm>
          <a:prstGeom prst="rect">
            <a:avLst/>
          </a:prstGeom>
          <a:noFill/>
          <a:ln/>
        </p:spPr>
        <p:txBody>
          <a:bodyPr wrap="square" rtlCol="0" anchor="ctr"/>
          <a:lstStyle/>
          <a:p>
            <a:pPr marL="0" indent="0">
              <a:buNone/>
            </a:pPr>
            <a:r>
              <a:rPr lang="en-US" sz="1300" i="1" dirty="0">
                <a:solidFill>
                  <a:srgbClr val="707070"/>
                </a:solidFill>
                <a:latin typeface="Arial" pitchFamily="34" charset="0"/>
                <a:ea typeface="Arial" pitchFamily="34" charset="-122"/>
                <a:cs typeface="Arial" pitchFamily="34" charset="-120"/>
              </a:rPr>
              <a:t>These patterns hold across many runs, even as specific results vary:</a:t>
            </a:r>
            <a:endParaRPr lang="en-US" sz="1300" dirty="0"/>
          </a:p>
        </p:txBody>
      </p:sp>
      <p:graphicFrame>
        <p:nvGraphicFramePr>
          <p:cNvPr id="12" name="Table 0"/>
          <p:cNvGraphicFramePr>
            <a:graphicFrameLocks noGrp="1"/>
          </p:cNvGraphicFramePr>
          <p:nvPr/>
        </p:nvGraphicFramePr>
        <p:xfrm>
          <a:off x="274320" y="1371600"/>
          <a:ext cx="8595360" cy="3017520"/>
        </p:xfrm>
        <a:graphic>
          <a:graphicData uri="http://schemas.openxmlformats.org/drawingml/2006/table">
            <a:tbl>
              <a:tblPr/>
              <a:tblGrid>
                <a:gridCol w="182880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Arial" pitchFamily="34" charset="0"/>
                          <a:ea typeface="Arial" pitchFamily="34" charset="-122"/>
                          <a:cs typeface="Arial" pitchFamily="34" charset="-120"/>
                        </a:rPr>
                        <a:t>Dimension</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Copilot</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Claude Add-in</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extLst>
                  <a:ext uri="{0D108BD9-81ED-4DB2-BD59-A6C34878D82A}">
                    <a16:rowId xmlns:a16="http://schemas.microsoft.com/office/drawing/2014/main" val="10000"/>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Output approach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Tends toward formulas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(SUMIFS, structured refs)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Often reaches for PivotTables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or helper sheets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Instruction following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Tighter: stays closer to</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what you asked for</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More interpretive: may</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choose its own approach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a16:rowId xmlns:a16="http://schemas.microsoft.com/office/drawing/2014/main" val="10002"/>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Permission model</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Inline editing: changes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appear in cells directly</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Approval-based: asks before</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each modification</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F2120"/>
                          </a:solidFill>
                          <a:latin typeface="Arial" pitchFamily="34" charset="0"/>
                          <a:ea typeface="Arial" pitchFamily="34" charset="-122"/>
                          <a:cs typeface="Arial" pitchFamily="34" charset="-120"/>
                        </a:rPr>
                        <a:t>Explanations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Concise summaries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More detailed reasoning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a16:rowId xmlns:a16="http://schemas.microsoft.com/office/drawing/2014/main" val="10004"/>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Ambiguous data</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More conservative: may</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label as "Other"</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More aggressive: attempts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a classification</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Workbook handling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Generally respects worksheet</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boundaries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May overwrite existing sheets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or create unexpected ones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1437037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914400" y="1371600"/>
            <a:ext cx="7315200" cy="1371600"/>
          </a:xfrm>
          <a:prstGeom prst="rect">
            <a:avLst/>
          </a:prstGeom>
          <a:noFill/>
          <a:ln/>
        </p:spPr>
        <p:txBody>
          <a:bodyPr wrap="square" rtlCol="0" anchor="ctr"/>
          <a:lstStyle/>
          <a:p>
            <a:pPr marL="0" indent="0" algn="ctr">
              <a:buNone/>
            </a:pPr>
            <a:r>
              <a:rPr lang="en-US" sz="4000" b="1" dirty="0">
                <a:solidFill>
                  <a:srgbClr val="CF3338"/>
                </a:solidFill>
                <a:latin typeface="Arial Black" pitchFamily="34" charset="0"/>
                <a:ea typeface="Arial Black" pitchFamily="34" charset="-122"/>
                <a:cs typeface="Arial Black" pitchFamily="34" charset="-120"/>
              </a:rPr>
              <a:t>The Spec Sheet</a:t>
            </a:r>
            <a:endParaRPr lang="en-US" sz="4000" dirty="0"/>
          </a:p>
        </p:txBody>
      </p:sp>
      <p:sp>
        <p:nvSpPr>
          <p:cNvPr id="3" name="Text 1"/>
          <p:cNvSpPr/>
          <p:nvPr/>
        </p:nvSpPr>
        <p:spPr>
          <a:xfrm>
            <a:off x="1371600" y="2926080"/>
            <a:ext cx="6400800" cy="731520"/>
          </a:xfrm>
          <a:prstGeom prst="rect">
            <a:avLst/>
          </a:prstGeom>
          <a:noFill/>
          <a:ln/>
        </p:spPr>
        <p:txBody>
          <a:bodyPr wrap="square" rtlCol="0" anchor="ctr"/>
          <a:lstStyle/>
          <a:p>
            <a:pPr marL="0" indent="0" algn="ctr">
              <a:buNone/>
            </a:pPr>
            <a:r>
              <a:rPr lang="en-US" sz="1600" dirty="0">
                <a:solidFill>
                  <a:srgbClr val="707070"/>
                </a:solidFill>
                <a:latin typeface="Arial" pitchFamily="34" charset="0"/>
                <a:ea typeface="Arial" pitchFamily="34" charset="-122"/>
                <a:cs typeface="Arial" pitchFamily="34" charset="-120"/>
              </a:rPr>
              <a:t>Beyond the demos: what you need to know to compare</a:t>
            </a:r>
            <a:endParaRPr lang="en-US" sz="1600" dirty="0"/>
          </a:p>
        </p:txBody>
      </p:sp>
    </p:spTree>
    <p:extLst>
      <p:ext uri="{BB962C8B-B14F-4D97-AF65-F5344CB8AC3E}">
        <p14:creationId xmlns:p14="http://schemas.microsoft.com/office/powerpoint/2010/main" val="7511797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Feature-by-Feature Comparison</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2116936516"/>
              </p:ext>
            </p:extLst>
          </p:nvPr>
        </p:nvGraphicFramePr>
        <p:xfrm>
          <a:off x="274320" y="1005840"/>
          <a:ext cx="8595360" cy="2944368"/>
        </p:xfrm>
        <a:graphic>
          <a:graphicData uri="http://schemas.openxmlformats.org/drawingml/2006/table">
            <a:tbl>
              <a:tblPr/>
              <a:tblGrid>
                <a:gridCol w="182880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Arial" pitchFamily="34" charset="0"/>
                          <a:ea typeface="Arial" pitchFamily="34" charset="-122"/>
                          <a:cs typeface="Arial" pitchFamily="34" charset="-120"/>
                        </a:rPr>
                        <a:t>Feature</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Copilot for Microsoft 365</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Claude Add-in for Excel</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extLst>
                  <a:ext uri="{0D108BD9-81ED-4DB2-BD59-A6C34878D82A}">
                    <a16:rowId xmlns:a16="http://schemas.microsoft.com/office/drawing/2014/main" val="10000"/>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Pricing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Microsoft 365 Copilot (paid add-on)</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(~$30/user/month)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Separate Claude subscription</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(Pro ~$20/month)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Model options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GPT-</a:t>
                      </a:r>
                      <a:r>
                        <a:rPr lang="en-US" sz="1100">
                          <a:solidFill>
                            <a:srgbClr val="1F2120"/>
                          </a:solidFill>
                          <a:latin typeface="Arial" pitchFamily="34" charset="0"/>
                          <a:ea typeface="Arial" pitchFamily="34" charset="-122"/>
                          <a:cs typeface="Arial" pitchFamily="34" charset="-120"/>
                        </a:rPr>
                        <a:t>, Anthropic</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(premium toggle)</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Claude models only</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(Sonnet, Opus)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a16:rowId xmlns:a16="http://schemas.microsoft.com/office/drawing/2014/main" val="10002"/>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Integration depth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Native: formula bar, ribbon,</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cell editing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Add-in panel: approval-based</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modifications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F2120"/>
                          </a:solidFill>
                          <a:latin typeface="Arial" pitchFamily="34" charset="0"/>
                          <a:ea typeface="Arial" pitchFamily="34" charset="-122"/>
                          <a:cs typeface="Arial" pitchFamily="34" charset="-120"/>
                        </a:rPr>
                        <a:t>Data handling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Stays in Microsoft ecosystem</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Sent to Anthropic servers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F2120"/>
                          </a:solidFill>
                          <a:latin typeface="Arial" pitchFamily="34" charset="0"/>
                          <a:ea typeface="Arial" pitchFamily="34" charset="-122"/>
                          <a:cs typeface="Arial" pitchFamily="34" charset="-120"/>
                        </a:rPr>
                        <a:t>IT / Admin controls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Full enterprise admin center</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Limited: add-in level</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Broader ecosystem</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Word, PowerPoint, Outlook,</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Teams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Cowork, Claude Code</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4870712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It's Not Just an Excel Add-in</a:t>
            </a:r>
            <a:endParaRPr lang="en-US" sz="2800" dirty="0"/>
          </a:p>
        </p:txBody>
      </p:sp>
      <p:sp>
        <p:nvSpPr>
          <p:cNvPr id="3" name="Text 1"/>
          <p:cNvSpPr/>
          <p:nvPr/>
        </p:nvSpPr>
        <p:spPr>
          <a:xfrm>
            <a:off x="731520" y="914400"/>
            <a:ext cx="7315200" cy="365760"/>
          </a:xfrm>
          <a:prstGeom prst="rect">
            <a:avLst/>
          </a:prstGeom>
          <a:noFill/>
          <a:ln/>
        </p:spPr>
        <p:txBody>
          <a:bodyPr wrap="square" rtlCol="0" anchor="ctr"/>
          <a:lstStyle/>
          <a:p>
            <a:pPr marL="0" indent="0">
              <a:buNone/>
            </a:pPr>
            <a:r>
              <a:rPr lang="en-US" sz="1400" i="1" dirty="0">
                <a:solidFill>
                  <a:srgbClr val="707070"/>
                </a:solidFill>
                <a:latin typeface="Arial" pitchFamily="34" charset="0"/>
                <a:ea typeface="Arial" pitchFamily="34" charset="-122"/>
                <a:cs typeface="Arial" pitchFamily="34" charset="-120"/>
              </a:rPr>
              <a:t>Your investment is in the ecosystem, not just the Excel feature.</a:t>
            </a:r>
            <a:endParaRPr lang="en-US" sz="1400" dirty="0"/>
          </a:p>
        </p:txBody>
      </p:sp>
      <p:sp>
        <p:nvSpPr>
          <p:cNvPr id="4" name="Shape 2"/>
          <p:cNvSpPr/>
          <p:nvPr/>
        </p:nvSpPr>
        <p:spPr>
          <a:xfrm>
            <a:off x="457200" y="1463040"/>
            <a:ext cx="3931920" cy="301752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457200" y="1463040"/>
            <a:ext cx="3931920" cy="54864"/>
          </a:xfrm>
          <a:prstGeom prst="rect">
            <a:avLst/>
          </a:prstGeom>
          <a:solidFill>
            <a:srgbClr val="CF3338"/>
          </a:solidFill>
          <a:ln/>
        </p:spPr>
        <p:txBody>
          <a:bodyPr/>
          <a:lstStyle/>
          <a:p>
            <a:endParaRPr lang="en-US"/>
          </a:p>
        </p:txBody>
      </p:sp>
      <p:sp>
        <p:nvSpPr>
          <p:cNvPr id="6" name="Text 4"/>
          <p:cNvSpPr/>
          <p:nvPr/>
        </p:nvSpPr>
        <p:spPr>
          <a:xfrm>
            <a:off x="640080" y="1600200"/>
            <a:ext cx="3566160" cy="365760"/>
          </a:xfrm>
          <a:prstGeom prst="rect">
            <a:avLst/>
          </a:prstGeom>
          <a:noFill/>
          <a:ln/>
        </p:spPr>
        <p:txBody>
          <a:bodyPr wrap="square" rtlCol="0" anchor="ctr"/>
          <a:lstStyle/>
          <a:p>
            <a:pPr marL="0" indent="0">
              <a:buNone/>
            </a:pPr>
            <a:r>
              <a:rPr lang="en-US" sz="1500" b="1" dirty="0">
                <a:solidFill>
                  <a:srgbClr val="CF3338"/>
                </a:solidFill>
                <a:latin typeface="Arial Black" pitchFamily="34" charset="0"/>
                <a:ea typeface="Arial Black" pitchFamily="34" charset="-122"/>
                <a:cs typeface="Arial Black" pitchFamily="34" charset="-120"/>
              </a:rPr>
              <a:t>Microsoft Copilot Ecosystem</a:t>
            </a:r>
            <a:endParaRPr lang="en-US" sz="1500" dirty="0"/>
          </a:p>
        </p:txBody>
      </p:sp>
      <p:sp>
        <p:nvSpPr>
          <p:cNvPr id="7" name="Text 5"/>
          <p:cNvSpPr/>
          <p:nvPr/>
        </p:nvSpPr>
        <p:spPr>
          <a:xfrm>
            <a:off x="640080" y="2057400"/>
            <a:ext cx="3566160" cy="2194560"/>
          </a:xfrm>
          <a:prstGeom prst="rect">
            <a:avLst/>
          </a:prstGeom>
          <a:noFill/>
          <a:ln/>
        </p:spPr>
        <p:txBody>
          <a:bodyPr wrap="square" rtlCol="0" anchor="ctr"/>
          <a:lstStyle/>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Excel: formulas, summaries, analysis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Word: drafting, editing, summarizing</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PowerPoint: slide generation</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Outlook: email triage, drafting</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Teams: meeting summaries</a:t>
            </a:r>
            <a:endParaRPr lang="en-US" sz="1200" dirty="0"/>
          </a:p>
          <a:p>
            <a:pPr marL="342900" indent="-342900">
              <a:spcAft>
                <a:spcPts val="400"/>
              </a:spcAft>
              <a:buSzPct val="100000"/>
              <a:buChar char="•"/>
            </a:pPr>
            <a:r>
              <a:rPr lang="en-US" sz="1200" b="1" dirty="0">
                <a:solidFill>
                  <a:srgbClr val="707070"/>
                </a:solidFill>
                <a:latin typeface="Arial" pitchFamily="34" charset="0"/>
                <a:ea typeface="Arial" pitchFamily="34" charset="-122"/>
                <a:cs typeface="Arial" pitchFamily="34" charset="-120"/>
              </a:rPr>
              <a:t>One subscription covers all</a:t>
            </a:r>
            <a:endParaRPr lang="en-US" sz="1200" dirty="0"/>
          </a:p>
        </p:txBody>
      </p:sp>
      <p:sp>
        <p:nvSpPr>
          <p:cNvPr id="8" name="Shape 6"/>
          <p:cNvSpPr/>
          <p:nvPr/>
        </p:nvSpPr>
        <p:spPr>
          <a:xfrm>
            <a:off x="4754880" y="1463040"/>
            <a:ext cx="3931920" cy="301752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754880" y="1463040"/>
            <a:ext cx="3931920" cy="54864"/>
          </a:xfrm>
          <a:prstGeom prst="rect">
            <a:avLst/>
          </a:prstGeom>
          <a:solidFill>
            <a:srgbClr val="CF3338"/>
          </a:solidFill>
          <a:ln/>
        </p:spPr>
        <p:txBody>
          <a:bodyPr/>
          <a:lstStyle/>
          <a:p>
            <a:endParaRPr lang="en-US"/>
          </a:p>
        </p:txBody>
      </p:sp>
      <p:sp>
        <p:nvSpPr>
          <p:cNvPr id="10" name="Text 8"/>
          <p:cNvSpPr/>
          <p:nvPr/>
        </p:nvSpPr>
        <p:spPr>
          <a:xfrm>
            <a:off x="4937760" y="1600200"/>
            <a:ext cx="3566160" cy="365760"/>
          </a:xfrm>
          <a:prstGeom prst="rect">
            <a:avLst/>
          </a:prstGeom>
          <a:noFill/>
          <a:ln/>
        </p:spPr>
        <p:txBody>
          <a:bodyPr wrap="square" rtlCol="0" anchor="ctr"/>
          <a:lstStyle/>
          <a:p>
            <a:pPr marL="0" indent="0">
              <a:buNone/>
            </a:pPr>
            <a:r>
              <a:rPr lang="en-US" sz="1500" b="1" dirty="0">
                <a:solidFill>
                  <a:srgbClr val="CF3338"/>
                </a:solidFill>
                <a:latin typeface="Arial Black" pitchFamily="34" charset="0"/>
                <a:ea typeface="Arial Black" pitchFamily="34" charset="-122"/>
                <a:cs typeface="Arial Black" pitchFamily="34" charset="-120"/>
              </a:rPr>
              <a:t>Claude Ecosystem</a:t>
            </a:r>
            <a:endParaRPr lang="en-US" sz="1500" dirty="0"/>
          </a:p>
        </p:txBody>
      </p:sp>
      <p:sp>
        <p:nvSpPr>
          <p:cNvPr id="11" name="Text 9"/>
          <p:cNvSpPr/>
          <p:nvPr/>
        </p:nvSpPr>
        <p:spPr>
          <a:xfrm>
            <a:off x="4937760" y="2057400"/>
            <a:ext cx="3566160" cy="2194560"/>
          </a:xfrm>
          <a:prstGeom prst="rect">
            <a:avLst/>
          </a:prstGeom>
          <a:noFill/>
          <a:ln/>
        </p:spPr>
        <p:txBody>
          <a:bodyPr wrap="square" rtlCol="0" anchor="ctr"/>
          <a:lstStyle/>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Excel add-in: analysis, categorization</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Cowork: full deliverable generation</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Claude Code: developer workflows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Web / mobile interface</a:t>
            </a:r>
            <a:endParaRPr lang="en-US" sz="1200" dirty="0"/>
          </a:p>
          <a:p>
            <a:pPr marL="342900" indent="-342900">
              <a:spcAft>
                <a:spcPts val="400"/>
              </a:spcAft>
              <a:buSzPct val="100000"/>
              <a:buChar char="•"/>
            </a:pPr>
            <a:r>
              <a:rPr lang="en-US" sz="1200" b="1" dirty="0">
                <a:solidFill>
                  <a:srgbClr val="707070"/>
                </a:solidFill>
                <a:latin typeface="Arial" pitchFamily="34" charset="0"/>
                <a:ea typeface="Arial" pitchFamily="34" charset="-122"/>
                <a:cs typeface="Arial" pitchFamily="34" charset="-120"/>
              </a:rPr>
              <a:t>Power-user oriented</a:t>
            </a:r>
            <a:endParaRPr lang="en-US" sz="1200" dirty="0"/>
          </a:p>
        </p:txBody>
      </p:sp>
    </p:spTree>
    <p:extLst>
      <p:ext uri="{BB962C8B-B14F-4D97-AF65-F5344CB8AC3E}">
        <p14:creationId xmlns:p14="http://schemas.microsoft.com/office/powerpoint/2010/main" val="13477820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914400" y="1371600"/>
            <a:ext cx="7315200" cy="1371600"/>
          </a:xfrm>
          <a:prstGeom prst="rect">
            <a:avLst/>
          </a:prstGeom>
          <a:noFill/>
          <a:ln/>
        </p:spPr>
        <p:txBody>
          <a:bodyPr wrap="square" rtlCol="0" anchor="ctr"/>
          <a:lstStyle/>
          <a:p>
            <a:pPr marL="0" indent="0" algn="ctr">
              <a:buNone/>
            </a:pPr>
            <a:r>
              <a:rPr lang="en-US" sz="4000" b="1" dirty="0">
                <a:solidFill>
                  <a:srgbClr val="CF3338"/>
                </a:solidFill>
                <a:latin typeface="Arial Black" pitchFamily="34" charset="0"/>
                <a:ea typeface="Arial Black" pitchFamily="34" charset="-122"/>
                <a:cs typeface="Arial Black" pitchFamily="34" charset="-120"/>
              </a:rPr>
              <a:t>Universal Principles</a:t>
            </a:r>
            <a:endParaRPr lang="en-US" sz="4000" dirty="0"/>
          </a:p>
        </p:txBody>
      </p:sp>
      <p:sp>
        <p:nvSpPr>
          <p:cNvPr id="3" name="Text 1"/>
          <p:cNvSpPr/>
          <p:nvPr/>
        </p:nvSpPr>
        <p:spPr>
          <a:xfrm>
            <a:off x="1371600" y="2926080"/>
            <a:ext cx="6400800" cy="731520"/>
          </a:xfrm>
          <a:prstGeom prst="rect">
            <a:avLst/>
          </a:prstGeom>
          <a:noFill/>
          <a:ln/>
        </p:spPr>
        <p:txBody>
          <a:bodyPr wrap="square" rtlCol="0" anchor="ctr"/>
          <a:lstStyle/>
          <a:p>
            <a:pPr marL="0" indent="0" algn="ctr">
              <a:buNone/>
            </a:pPr>
            <a:r>
              <a:rPr lang="en-US" sz="1600" dirty="0">
                <a:solidFill>
                  <a:srgbClr val="707070"/>
                </a:solidFill>
                <a:latin typeface="Arial" pitchFamily="34" charset="0"/>
                <a:ea typeface="Arial" pitchFamily="34" charset="-122"/>
                <a:cs typeface="Arial" pitchFamily="34" charset="-120"/>
              </a:rPr>
              <a:t>What works regardless of the tool</a:t>
            </a:r>
            <a:endParaRPr lang="en-US" sz="1600" dirty="0"/>
          </a:p>
        </p:txBody>
      </p:sp>
    </p:spTree>
    <p:extLst>
      <p:ext uri="{BB962C8B-B14F-4D97-AF65-F5344CB8AC3E}">
        <p14:creationId xmlns:p14="http://schemas.microsoft.com/office/powerpoint/2010/main" val="7584980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F3338"/>
          </a:solidFill>
          <a:ln/>
        </p:spPr>
        <p:txBody>
          <a:bodyPr/>
          <a:lstStyle/>
          <a:p>
            <a:endParaRPr lang="en-US"/>
          </a:p>
        </p:txBody>
      </p:sp>
      <p:sp>
        <p:nvSpPr>
          <p:cNvPr id="3" name="Text 1"/>
          <p:cNvSpPr/>
          <p:nvPr/>
        </p:nvSpPr>
        <p:spPr>
          <a:xfrm>
            <a:off x="365760" y="274320"/>
            <a:ext cx="731520" cy="822960"/>
          </a:xfrm>
          <a:prstGeom prst="rect">
            <a:avLst/>
          </a:prstGeom>
          <a:noFill/>
          <a:ln/>
        </p:spPr>
        <p: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1</a:t>
            </a:r>
            <a:endParaRPr lang="en-US" sz="4800" dirty="0"/>
          </a:p>
        </p:txBody>
      </p:sp>
      <p:pic>
        <p:nvPicPr>
          <p:cNvPr id="4" name="Image 0" descr="preencoded.png"/>
          <p:cNvPicPr>
            <a:picLocks noChangeAspect="1"/>
          </p:cNvPicPr>
          <p:nvPr/>
        </p:nvPicPr>
        <p:blipFill>
          <a:blip r:embed="rId3"/>
          <a:stretch>
            <a:fillRect/>
          </a:stretch>
        </p:blipFill>
        <p:spPr>
          <a:xfrm>
            <a:off x="1188720" y="411480"/>
            <a:ext cx="365760" cy="365760"/>
          </a:xfrm>
          <a:prstGeom prst="rect">
            <a:avLst/>
          </a:prstGeom>
        </p:spPr>
      </p:pic>
      <p:sp>
        <p:nvSpPr>
          <p:cNvPr id="5" name="Text 2"/>
          <p:cNvSpPr/>
          <p:nvPr/>
        </p:nvSpPr>
        <p:spPr>
          <a:xfrm>
            <a:off x="1691640" y="365760"/>
            <a:ext cx="5943600" cy="640080"/>
          </a:xfrm>
          <a:prstGeom prst="rect">
            <a:avLst/>
          </a:prstGeom>
          <a:noFill/>
          <a:ln/>
        </p:spPr>
        <p: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Always Review AI Output</a:t>
            </a:r>
            <a:endParaRPr lang="en-US" sz="2600" dirty="0"/>
          </a:p>
        </p:txBody>
      </p:sp>
      <p:sp>
        <p:nvSpPr>
          <p:cNvPr id="6" name="Text 3"/>
          <p:cNvSpPr/>
          <p:nvPr/>
        </p:nvSpPr>
        <p:spPr>
          <a:xfrm>
            <a:off x="1188720" y="1188720"/>
            <a:ext cx="6858000" cy="3291840"/>
          </a:xfrm>
          <a:prstGeom prst="rect">
            <a:avLst/>
          </a:prstGeom>
          <a:noFill/>
          <a:ln/>
        </p:spPr>
        <p:txBody>
          <a:bodyPr wrap="square" rtlCol="0" anchor="ctr"/>
          <a:lstStyle/>
          <a:p>
            <a:pPr marL="0" indent="0">
              <a:spcAft>
                <a:spcPts val="600"/>
              </a:spcAft>
              <a:buNone/>
            </a:pPr>
            <a:r>
              <a:rPr lang="en-US" sz="1600" b="1" dirty="0">
                <a:solidFill>
                  <a:srgbClr val="707070"/>
                </a:solidFill>
                <a:latin typeface="Arial" pitchFamily="34" charset="0"/>
                <a:ea typeface="Arial" pitchFamily="34" charset="-122"/>
                <a:cs typeface="Arial" pitchFamily="34" charset="-120"/>
              </a:rPr>
              <a:t>AI gives you a strong first draft, not a final answer.</a:t>
            </a:r>
            <a:endParaRPr lang="en-US" sz="1400" dirty="0"/>
          </a:p>
          <a:p>
            <a:pPr marL="0" indent="0">
              <a:spcAft>
                <a:spcPts val="600"/>
              </a:spcAft>
              <a:buNone/>
            </a:pP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Check edge cases and ambiguous classifications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Verify formula logic references the right cells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Sanity-check totals against known values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Look for structural changes you didn't ask for</a:t>
            </a:r>
            <a:endParaRPr lang="en-US" sz="1400" dirty="0"/>
          </a:p>
        </p:txBody>
      </p:sp>
    </p:spTree>
    <p:extLst>
      <p:ext uri="{BB962C8B-B14F-4D97-AF65-F5344CB8AC3E}">
        <p14:creationId xmlns:p14="http://schemas.microsoft.com/office/powerpoint/2010/main" val="33668823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F3338"/>
          </a:solidFill>
          <a:ln/>
        </p:spPr>
        <p:txBody>
          <a:bodyPr/>
          <a:lstStyle/>
          <a:p>
            <a:endParaRPr lang="en-US"/>
          </a:p>
        </p:txBody>
      </p:sp>
      <p:sp>
        <p:nvSpPr>
          <p:cNvPr id="3" name="Text 1"/>
          <p:cNvSpPr/>
          <p:nvPr/>
        </p:nvSpPr>
        <p:spPr>
          <a:xfrm>
            <a:off x="365760" y="274320"/>
            <a:ext cx="731520" cy="822960"/>
          </a:xfrm>
          <a:prstGeom prst="rect">
            <a:avLst/>
          </a:prstGeom>
          <a:noFill/>
          <a:ln/>
        </p:spPr>
        <p: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2</a:t>
            </a:r>
            <a:endParaRPr lang="en-US" sz="4800" dirty="0"/>
          </a:p>
        </p:txBody>
      </p:sp>
      <p:pic>
        <p:nvPicPr>
          <p:cNvPr id="4" name="Image 0" descr="preencoded.png"/>
          <p:cNvPicPr>
            <a:picLocks noChangeAspect="1"/>
          </p:cNvPicPr>
          <p:nvPr/>
        </p:nvPicPr>
        <p:blipFill>
          <a:blip r:embed="rId3"/>
          <a:stretch>
            <a:fillRect/>
          </a:stretch>
        </p:blipFill>
        <p:spPr>
          <a:xfrm>
            <a:off x="1188720" y="411480"/>
            <a:ext cx="365760" cy="365760"/>
          </a:xfrm>
          <a:prstGeom prst="rect">
            <a:avLst/>
          </a:prstGeom>
        </p:spPr>
      </p:pic>
      <p:sp>
        <p:nvSpPr>
          <p:cNvPr id="5" name="Text 2"/>
          <p:cNvSpPr/>
          <p:nvPr/>
        </p:nvSpPr>
        <p:spPr>
          <a:xfrm>
            <a:off x="1691640" y="365760"/>
            <a:ext cx="5943600" cy="640080"/>
          </a:xfrm>
          <a:prstGeom prst="rect">
            <a:avLst/>
          </a:prstGeom>
          <a:noFill/>
          <a:ln/>
        </p:spPr>
        <p: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Be Specific in Your Prompts</a:t>
            </a:r>
            <a:endParaRPr lang="en-US" sz="2600" dirty="0"/>
          </a:p>
        </p:txBody>
      </p:sp>
      <p:sp>
        <p:nvSpPr>
          <p:cNvPr id="6" name="Shape 3"/>
          <p:cNvSpPr/>
          <p:nvPr/>
        </p:nvSpPr>
        <p:spPr>
          <a:xfrm>
            <a:off x="731520" y="1280160"/>
            <a:ext cx="3657600" cy="27432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7" name="Text 4"/>
          <p:cNvSpPr/>
          <p:nvPr/>
        </p:nvSpPr>
        <p:spPr>
          <a:xfrm>
            <a:off x="731520" y="1280160"/>
            <a:ext cx="3657600" cy="365760"/>
          </a:xfrm>
          <a:prstGeom prst="rect">
            <a:avLst/>
          </a:prstGeom>
          <a:solidFill>
            <a:srgbClr val="707070"/>
          </a:solid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Vague Prompt</a:t>
            </a:r>
            <a:endParaRPr lang="en-US" sz="1200" dirty="0"/>
          </a:p>
        </p:txBody>
      </p:sp>
      <p:sp>
        <p:nvSpPr>
          <p:cNvPr id="8" name="Text 5"/>
          <p:cNvSpPr/>
          <p:nvPr/>
        </p:nvSpPr>
        <p:spPr>
          <a:xfrm>
            <a:off x="914400" y="1828800"/>
            <a:ext cx="3291840" cy="914400"/>
          </a:xfrm>
          <a:prstGeom prst="rect">
            <a:avLst/>
          </a:prstGeom>
          <a:noFill/>
          <a:ln/>
        </p:spPr>
        <p:txBody>
          <a:bodyPr wrap="square" rtlCol="0" anchor="t"/>
          <a:lstStyle/>
          <a:p>
            <a:pPr marL="0" indent="0">
              <a:buNone/>
            </a:pPr>
            <a:r>
              <a:rPr lang="en-US" sz="1600" i="1" dirty="0">
                <a:solidFill>
                  <a:srgbClr val="707070"/>
                </a:solidFill>
                <a:latin typeface="Arial" pitchFamily="34" charset="0"/>
                <a:ea typeface="Arial" pitchFamily="34" charset="-122"/>
                <a:cs typeface="Arial" pitchFamily="34" charset="-120"/>
              </a:rPr>
              <a:t>"Summarize this data"</a:t>
            </a:r>
            <a:endParaRPr lang="en-US" sz="1600" dirty="0"/>
          </a:p>
        </p:txBody>
      </p:sp>
      <p:sp>
        <p:nvSpPr>
          <p:cNvPr id="9" name="Text 6"/>
          <p:cNvSpPr/>
          <p:nvPr/>
        </p:nvSpPr>
        <p:spPr>
          <a:xfrm>
            <a:off x="914400" y="2743200"/>
            <a:ext cx="3291840" cy="1097280"/>
          </a:xfrm>
          <a:prstGeom prst="rect">
            <a:avLst/>
          </a:prstGeom>
          <a:noFill/>
          <a:ln/>
        </p:spPr>
        <p:txBody>
          <a:bodyPr wrap="square" rtlCol="0" anchor="ctr"/>
          <a:lstStyle/>
          <a:p>
            <a:pPr marL="0" indent="0">
              <a:lnSpc>
                <a:spcPct val="130000"/>
              </a:lnSpc>
              <a:buNone/>
            </a:pPr>
            <a:r>
              <a:rPr lang="en-US" sz="1200" dirty="0">
                <a:solidFill>
                  <a:srgbClr val="707070"/>
                </a:solidFill>
                <a:latin typeface="Arial" pitchFamily="34" charset="0"/>
                <a:ea typeface="Arial" pitchFamily="34" charset="-122"/>
                <a:cs typeface="Arial" pitchFamily="34" charset="-120"/>
              </a:rPr>
              <a:t>Result: unpredictable.</a:t>
            </a:r>
            <a:endParaRPr lang="en-US" sz="1200" dirty="0"/>
          </a:p>
          <a:p>
            <a:pPr marL="0" indent="0">
              <a:lnSpc>
                <a:spcPct val="130000"/>
              </a:lnSpc>
              <a:buNone/>
            </a:pPr>
            <a:r>
              <a:rPr lang="en-US" sz="1200" dirty="0">
                <a:solidFill>
                  <a:srgbClr val="707070"/>
                </a:solidFill>
                <a:latin typeface="Arial" pitchFamily="34" charset="0"/>
                <a:ea typeface="Arial" pitchFamily="34" charset="-122"/>
                <a:cs typeface="Arial" pitchFamily="34" charset="-120"/>
              </a:rPr>
              <a:t>Formulas? PivotTables?</a:t>
            </a:r>
            <a:endParaRPr lang="en-US" sz="1200" dirty="0"/>
          </a:p>
          <a:p>
            <a:pPr marL="0" indent="0">
              <a:lnSpc>
                <a:spcPct val="130000"/>
              </a:lnSpc>
              <a:buNone/>
            </a:pPr>
            <a:r>
              <a:rPr lang="en-US" sz="1200" dirty="0">
                <a:solidFill>
                  <a:srgbClr val="707070"/>
                </a:solidFill>
                <a:latin typeface="Arial" pitchFamily="34" charset="0"/>
                <a:ea typeface="Arial" pitchFamily="34" charset="-122"/>
                <a:cs typeface="Arial" pitchFamily="34" charset="-120"/>
              </a:rPr>
              <a:t>New sheet? Same sheet?</a:t>
            </a:r>
            <a:endParaRPr lang="en-US" sz="1200" dirty="0"/>
          </a:p>
          <a:p>
            <a:pPr marL="0" indent="0">
              <a:lnSpc>
                <a:spcPct val="130000"/>
              </a:lnSpc>
              <a:buNone/>
            </a:pPr>
            <a:r>
              <a:rPr lang="en-US" sz="1200" dirty="0">
                <a:solidFill>
                  <a:srgbClr val="707070"/>
                </a:solidFill>
                <a:latin typeface="Arial" pitchFamily="34" charset="0"/>
                <a:ea typeface="Arial" pitchFamily="34" charset="-122"/>
                <a:cs typeface="Arial" pitchFamily="34" charset="-120"/>
              </a:rPr>
              <a:t>Who knows.</a:t>
            </a:r>
            <a:endParaRPr lang="en-US" sz="1200" dirty="0"/>
          </a:p>
        </p:txBody>
      </p:sp>
      <p:sp>
        <p:nvSpPr>
          <p:cNvPr id="10" name="Shape 7"/>
          <p:cNvSpPr/>
          <p:nvPr/>
        </p:nvSpPr>
        <p:spPr>
          <a:xfrm>
            <a:off x="4754880" y="1280160"/>
            <a:ext cx="3657600" cy="27432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11" name="Text 8"/>
          <p:cNvSpPr/>
          <p:nvPr/>
        </p:nvSpPr>
        <p:spPr>
          <a:xfrm>
            <a:off x="4754880" y="1280160"/>
            <a:ext cx="3657600" cy="365760"/>
          </a:xfrm>
          <a:prstGeom prst="rect">
            <a:avLst/>
          </a:prstGeom>
          <a:solidFill>
            <a:srgbClr val="CF3338"/>
          </a:solid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Specific Prompt</a:t>
            </a:r>
            <a:endParaRPr lang="en-US" sz="1200" dirty="0"/>
          </a:p>
        </p:txBody>
      </p:sp>
      <p:sp>
        <p:nvSpPr>
          <p:cNvPr id="12" name="Text 9"/>
          <p:cNvSpPr/>
          <p:nvPr/>
        </p:nvSpPr>
        <p:spPr>
          <a:xfrm>
            <a:off x="4937760" y="1828800"/>
            <a:ext cx="3291840" cy="1463040"/>
          </a:xfrm>
          <a:prstGeom prst="rect">
            <a:avLst/>
          </a:prstGeom>
          <a:noFill/>
          <a:ln/>
        </p:spPr>
        <p:txBody>
          <a:bodyPr wrap="square" rtlCol="0" anchor="t"/>
          <a:lstStyle/>
          <a:p>
            <a:pPr marL="0" indent="0">
              <a:lnSpc>
                <a:spcPct val="130000"/>
              </a:lnSpc>
              <a:buNone/>
            </a:pPr>
            <a:r>
              <a:rPr lang="en-US" sz="1300" dirty="0">
                <a:solidFill>
                  <a:srgbClr val="1F2120"/>
                </a:solidFill>
                <a:latin typeface="Arial" pitchFamily="34" charset="0"/>
                <a:ea typeface="Arial" pitchFamily="34" charset="-122"/>
                <a:cs typeface="Arial" pitchFamily="34" charset="-120"/>
              </a:rPr>
              <a:t>"Using SUMIFS formulas in a</a:t>
            </a:r>
            <a:endParaRPr lang="en-US" sz="1300" dirty="0"/>
          </a:p>
          <a:p>
            <a:pPr marL="0" indent="0">
              <a:lnSpc>
                <a:spcPct val="130000"/>
              </a:lnSpc>
              <a:buNone/>
            </a:pPr>
            <a:r>
              <a:rPr lang="en-US" sz="1300" dirty="0">
                <a:solidFill>
                  <a:srgbClr val="1F2120"/>
                </a:solidFill>
                <a:latin typeface="Arial" pitchFamily="34" charset="0"/>
                <a:ea typeface="Arial" pitchFamily="34" charset="-122"/>
                <a:cs typeface="Arial" pitchFamily="34" charset="-120"/>
              </a:rPr>
              <a:t>new worksheet called 'Summary',</a:t>
            </a:r>
            <a:endParaRPr lang="en-US" sz="1300" dirty="0"/>
          </a:p>
          <a:p>
            <a:pPr marL="0" indent="0">
              <a:lnSpc>
                <a:spcPct val="130000"/>
              </a:lnSpc>
              <a:buNone/>
            </a:pPr>
            <a:r>
              <a:rPr lang="en-US" sz="1300" dirty="0">
                <a:solidFill>
                  <a:srgbClr val="1F2120"/>
                </a:solidFill>
                <a:latin typeface="Arial" pitchFamily="34" charset="0"/>
                <a:ea typeface="Arial" pitchFamily="34" charset="-122"/>
                <a:cs typeface="Arial" pitchFamily="34" charset="-120"/>
              </a:rPr>
              <a:t>calculate total spend by category</a:t>
            </a:r>
            <a:endParaRPr lang="en-US" sz="1300" dirty="0"/>
          </a:p>
          <a:p>
            <a:pPr marL="0" indent="0">
              <a:lnSpc>
                <a:spcPct val="130000"/>
              </a:lnSpc>
              <a:buNone/>
            </a:pPr>
            <a:r>
              <a:rPr lang="en-US" sz="1300" dirty="0">
                <a:solidFill>
                  <a:srgbClr val="1F2120"/>
                </a:solidFill>
                <a:latin typeface="Arial" pitchFamily="34" charset="0"/>
                <a:ea typeface="Arial" pitchFamily="34" charset="-122"/>
                <a:cs typeface="Arial" pitchFamily="34" charset="-120"/>
              </a:rPr>
              <a:t>and by department. Highlight the</a:t>
            </a:r>
            <a:endParaRPr lang="en-US" sz="1300" dirty="0"/>
          </a:p>
          <a:p>
            <a:pPr marL="0" indent="0">
              <a:lnSpc>
                <a:spcPct val="130000"/>
              </a:lnSpc>
              <a:buNone/>
            </a:pPr>
            <a:r>
              <a:rPr lang="en-US" sz="1300" dirty="0">
                <a:solidFill>
                  <a:srgbClr val="1F2120"/>
                </a:solidFill>
                <a:latin typeface="Arial" pitchFamily="34" charset="0"/>
                <a:ea typeface="Arial" pitchFamily="34" charset="-122"/>
                <a:cs typeface="Arial" pitchFamily="34" charset="-120"/>
              </a:rPr>
              <a:t>largest single expense."</a:t>
            </a:r>
            <a:endParaRPr lang="en-US" sz="1300" dirty="0"/>
          </a:p>
        </p:txBody>
      </p:sp>
      <p:sp>
        <p:nvSpPr>
          <p:cNvPr id="13" name="Text 10"/>
          <p:cNvSpPr/>
          <p:nvPr/>
        </p:nvSpPr>
        <p:spPr>
          <a:xfrm>
            <a:off x="4937760" y="3383280"/>
            <a:ext cx="3291840" cy="548640"/>
          </a:xfrm>
          <a:prstGeom prst="rect">
            <a:avLst/>
          </a:prstGeom>
          <a:noFill/>
          <a:ln/>
        </p:spPr>
        <p:txBody>
          <a:bodyPr wrap="square" rtlCol="0" anchor="ctr"/>
          <a:lstStyle/>
          <a:p>
            <a:pPr marL="0" indent="0">
              <a:lnSpc>
                <a:spcPct val="130000"/>
              </a:lnSpc>
              <a:buNone/>
            </a:pPr>
            <a:r>
              <a:rPr lang="en-US" sz="1200" b="1" dirty="0">
                <a:solidFill>
                  <a:srgbClr val="1F2120"/>
                </a:solidFill>
                <a:latin typeface="Arial" pitchFamily="34" charset="0"/>
                <a:ea typeface="Arial" pitchFamily="34" charset="-122"/>
                <a:cs typeface="Arial" pitchFamily="34" charset="-120"/>
              </a:rPr>
              <a:t>Result: consistent and</a:t>
            </a:r>
            <a:endParaRPr lang="en-US" sz="1200" dirty="0"/>
          </a:p>
          <a:p>
            <a:pPr marL="0" indent="0">
              <a:lnSpc>
                <a:spcPct val="130000"/>
              </a:lnSpc>
              <a:buNone/>
            </a:pPr>
            <a:r>
              <a:rPr lang="en-US" sz="1200" b="1" dirty="0">
                <a:solidFill>
                  <a:srgbClr val="1F2120"/>
                </a:solidFill>
                <a:latin typeface="Arial" pitchFamily="34" charset="0"/>
                <a:ea typeface="Arial" pitchFamily="34" charset="-122"/>
                <a:cs typeface="Arial" pitchFamily="34" charset="-120"/>
              </a:rPr>
              <a:t>auditable, in any tool.</a:t>
            </a:r>
            <a:endParaRPr lang="en-US" sz="1200" dirty="0"/>
          </a:p>
        </p:txBody>
      </p:sp>
      <p:sp>
        <p:nvSpPr>
          <p:cNvPr id="14" name="Text 11"/>
          <p:cNvSpPr/>
          <p:nvPr/>
        </p:nvSpPr>
        <p:spPr>
          <a:xfrm>
            <a:off x="731520" y="4297680"/>
            <a:ext cx="7315200" cy="365760"/>
          </a:xfrm>
          <a:prstGeom prst="rect">
            <a:avLst/>
          </a:prstGeom>
          <a:noFill/>
          <a:ln/>
        </p:spPr>
        <p:txBody>
          <a:bodyPr wrap="square" rtlCol="0" anchor="ctr"/>
          <a:lstStyle/>
          <a:p>
            <a:pPr marL="0" indent="0">
              <a:buNone/>
            </a:pPr>
            <a:r>
              <a:rPr lang="en-US" sz="1300" i="1" dirty="0">
                <a:solidFill>
                  <a:srgbClr val="707070"/>
                </a:solidFill>
                <a:latin typeface="Arial" pitchFamily="34" charset="0"/>
                <a:ea typeface="Arial" pitchFamily="34" charset="-122"/>
                <a:cs typeface="Arial" pitchFamily="34" charset="-120"/>
              </a:rPr>
              <a:t>The more explicit your instructions, the more consistent your results, in any tool.</a:t>
            </a:r>
            <a:endParaRPr lang="en-US" sz="1300" dirty="0"/>
          </a:p>
        </p:txBody>
      </p:sp>
    </p:spTree>
    <p:extLst>
      <p:ext uri="{BB962C8B-B14F-4D97-AF65-F5344CB8AC3E}">
        <p14:creationId xmlns:p14="http://schemas.microsoft.com/office/powerpoint/2010/main" val="20196082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F3338"/>
          </a:solidFill>
          <a:ln/>
        </p:spPr>
        <p:txBody>
          <a:bodyPr/>
          <a:lstStyle/>
          <a:p>
            <a:endParaRPr lang="en-US"/>
          </a:p>
        </p:txBody>
      </p:sp>
      <p:sp>
        <p:nvSpPr>
          <p:cNvPr id="3" name="Text 1"/>
          <p:cNvSpPr/>
          <p:nvPr/>
        </p:nvSpPr>
        <p:spPr>
          <a:xfrm>
            <a:off x="365760" y="274320"/>
            <a:ext cx="731520" cy="822960"/>
          </a:xfrm>
          <a:prstGeom prst="rect">
            <a:avLst/>
          </a:prstGeom>
          <a:noFill/>
          <a:ln/>
        </p:spPr>
        <p: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3</a:t>
            </a:r>
            <a:endParaRPr lang="en-US" sz="4800" dirty="0"/>
          </a:p>
        </p:txBody>
      </p:sp>
      <p:pic>
        <p:nvPicPr>
          <p:cNvPr id="4" name="Image 0" descr="preencoded.png"/>
          <p:cNvPicPr>
            <a:picLocks noChangeAspect="1"/>
          </p:cNvPicPr>
          <p:nvPr/>
        </p:nvPicPr>
        <p:blipFill>
          <a:blip r:embed="rId3"/>
          <a:stretch>
            <a:fillRect/>
          </a:stretch>
        </p:blipFill>
        <p:spPr>
          <a:xfrm>
            <a:off x="1188720" y="411480"/>
            <a:ext cx="365760" cy="365760"/>
          </a:xfrm>
          <a:prstGeom prst="rect">
            <a:avLst/>
          </a:prstGeom>
        </p:spPr>
      </p:pic>
      <p:sp>
        <p:nvSpPr>
          <p:cNvPr id="5" name="Text 2"/>
          <p:cNvSpPr/>
          <p:nvPr/>
        </p:nvSpPr>
        <p:spPr>
          <a:xfrm>
            <a:off x="1691640" y="365760"/>
            <a:ext cx="5943600" cy="640080"/>
          </a:xfrm>
          <a:prstGeom prst="rect">
            <a:avLst/>
          </a:prstGeom>
          <a:noFill/>
          <a:ln/>
        </p:spPr>
        <p: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Use a Style Guide</a:t>
            </a:r>
            <a:endParaRPr lang="en-US" sz="2600" dirty="0"/>
          </a:p>
        </p:txBody>
      </p:sp>
      <p:sp>
        <p:nvSpPr>
          <p:cNvPr id="6" name="Text 3"/>
          <p:cNvSpPr/>
          <p:nvPr/>
        </p:nvSpPr>
        <p:spPr>
          <a:xfrm>
            <a:off x="1188720" y="1188720"/>
            <a:ext cx="6858000" cy="3291840"/>
          </a:xfrm>
          <a:prstGeom prst="rect">
            <a:avLst/>
          </a:prstGeom>
          <a:noFill/>
          <a:ln/>
        </p:spPr>
        <p:txBody>
          <a:bodyPr wrap="square" rtlCol="0" anchor="ctr"/>
          <a:lstStyle/>
          <a:p>
            <a:pPr marL="0" indent="0">
              <a:spcAft>
                <a:spcPts val="600"/>
              </a:spcAft>
              <a:buNone/>
            </a:pPr>
            <a:r>
              <a:rPr lang="en-US" sz="1600" b="1" dirty="0">
                <a:solidFill>
                  <a:srgbClr val="707070"/>
                </a:solidFill>
                <a:latin typeface="Arial" pitchFamily="34" charset="0"/>
                <a:ea typeface="Arial" pitchFamily="34" charset="-122"/>
                <a:cs typeface="Arial" pitchFamily="34" charset="-120"/>
              </a:rPr>
              <a:t>Create a document that tells the AI how you want Excel work done.</a:t>
            </a:r>
            <a:endParaRPr lang="en-US" sz="1400" dirty="0"/>
          </a:p>
          <a:p>
            <a:pPr marL="0" indent="0">
              <a:spcAft>
                <a:spcPts val="600"/>
              </a:spcAft>
              <a:buNone/>
            </a:pP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Use Excel Tables, not loose ranges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Naming conventions: tbl_, p_, m_</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Preferred functions: XLOOKUP over VLOOKUP</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Formatting standards and documentation expectations</a:t>
            </a:r>
            <a:endParaRPr lang="en-US" sz="1400" dirty="0"/>
          </a:p>
          <a:p>
            <a:pPr marL="0" indent="0">
              <a:spcAft>
                <a:spcPts val="600"/>
              </a:spcAft>
              <a:buNone/>
            </a:pPr>
            <a:endParaRPr lang="en-US" sz="1400" dirty="0"/>
          </a:p>
          <a:p>
            <a:pPr marL="0" indent="0">
              <a:spcAft>
                <a:spcPts val="600"/>
              </a:spcAft>
              <a:buNone/>
            </a:pPr>
            <a:r>
              <a:rPr lang="en-US" sz="1400" i="1" dirty="0">
                <a:solidFill>
                  <a:srgbClr val="707070"/>
                </a:solidFill>
                <a:latin typeface="Arial" pitchFamily="34" charset="0"/>
                <a:ea typeface="Arial" pitchFamily="34" charset="-122"/>
                <a:cs typeface="Arial" pitchFamily="34" charset="-120"/>
              </a:rPr>
              <a:t>Paste/upload it at the start of any AI session. This is included in your materials.</a:t>
            </a:r>
            <a:endParaRPr lang="en-US" sz="1400" dirty="0"/>
          </a:p>
        </p:txBody>
      </p:sp>
    </p:spTree>
    <p:extLst>
      <p:ext uri="{BB962C8B-B14F-4D97-AF65-F5344CB8AC3E}">
        <p14:creationId xmlns:p14="http://schemas.microsoft.com/office/powerpoint/2010/main" val="750702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F3338"/>
          </a:solidFill>
          <a:ln/>
        </p:spPr>
        <p:txBody>
          <a:bodyPr/>
          <a:lstStyle/>
          <a:p>
            <a:endParaRPr lang="en-US"/>
          </a:p>
        </p:txBody>
      </p:sp>
      <p:sp>
        <p:nvSpPr>
          <p:cNvPr id="3" name="Text 1"/>
          <p:cNvSpPr/>
          <p:nvPr/>
        </p:nvSpPr>
        <p:spPr>
          <a:xfrm>
            <a:off x="365760" y="274320"/>
            <a:ext cx="731520" cy="822960"/>
          </a:xfrm>
          <a:prstGeom prst="rect">
            <a:avLst/>
          </a:prstGeom>
          <a:noFill/>
          <a:ln/>
        </p:spPr>
        <p: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4</a:t>
            </a:r>
            <a:endParaRPr lang="en-US" sz="4800" dirty="0"/>
          </a:p>
        </p:txBody>
      </p:sp>
      <p:pic>
        <p:nvPicPr>
          <p:cNvPr id="4" name="Image 0" descr="preencoded.png"/>
          <p:cNvPicPr>
            <a:picLocks noChangeAspect="1"/>
          </p:cNvPicPr>
          <p:nvPr/>
        </p:nvPicPr>
        <p:blipFill>
          <a:blip r:embed="rId3"/>
          <a:stretch>
            <a:fillRect/>
          </a:stretch>
        </p:blipFill>
        <p:spPr>
          <a:xfrm>
            <a:off x="1188720" y="411480"/>
            <a:ext cx="365760" cy="365760"/>
          </a:xfrm>
          <a:prstGeom prst="rect">
            <a:avLst/>
          </a:prstGeom>
        </p:spPr>
      </p:pic>
      <p:sp>
        <p:nvSpPr>
          <p:cNvPr id="5" name="Text 2"/>
          <p:cNvSpPr/>
          <p:nvPr/>
        </p:nvSpPr>
        <p:spPr>
          <a:xfrm>
            <a:off x="1691640" y="365760"/>
            <a:ext cx="5943600" cy="640080"/>
          </a:xfrm>
          <a:prstGeom prst="rect">
            <a:avLst/>
          </a:prstGeom>
          <a:noFill/>
          <a:ln/>
        </p:spPr>
        <p: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Expect Variability</a:t>
            </a:r>
            <a:endParaRPr lang="en-US" sz="2600" dirty="0"/>
          </a:p>
        </p:txBody>
      </p:sp>
      <p:sp>
        <p:nvSpPr>
          <p:cNvPr id="6" name="Text 3"/>
          <p:cNvSpPr/>
          <p:nvPr/>
        </p:nvSpPr>
        <p:spPr>
          <a:xfrm>
            <a:off x="1188720" y="1188720"/>
            <a:ext cx="6858000" cy="3291840"/>
          </a:xfrm>
          <a:prstGeom prst="rect">
            <a:avLst/>
          </a:prstGeom>
          <a:noFill/>
          <a:ln/>
        </p:spPr>
        <p:txBody>
          <a:bodyPr wrap="square" rtlCol="0" anchor="ctr"/>
          <a:lstStyle/>
          <a:p>
            <a:pPr marL="0" indent="0">
              <a:spcAft>
                <a:spcPts val="600"/>
              </a:spcAft>
              <a:buNone/>
            </a:pPr>
            <a:r>
              <a:rPr lang="en-US" sz="1600" b="1" dirty="0">
                <a:solidFill>
                  <a:srgbClr val="707070"/>
                </a:solidFill>
                <a:latin typeface="Arial" pitchFamily="34" charset="0"/>
                <a:ea typeface="Arial" pitchFamily="34" charset="-122"/>
                <a:cs typeface="Arial" pitchFamily="34" charset="-120"/>
              </a:rPr>
              <a:t>These are generative models, not deterministic calculators.</a:t>
            </a:r>
            <a:endParaRPr lang="en-US" sz="1400" dirty="0"/>
          </a:p>
          <a:p>
            <a:pPr marL="0" indent="0">
              <a:spcAft>
                <a:spcPts val="600"/>
              </a:spcAft>
              <a:buNone/>
            </a:pP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Run the same prompt twice and you may get different results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Same model in different tools can behave differently</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Results will change as models are updated</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Your job: understand the output, not just trust it</a:t>
            </a:r>
            <a:endParaRPr lang="en-US" sz="1400" dirty="0"/>
          </a:p>
        </p:txBody>
      </p:sp>
    </p:spTree>
    <p:extLst>
      <p:ext uri="{BB962C8B-B14F-4D97-AF65-F5344CB8AC3E}">
        <p14:creationId xmlns:p14="http://schemas.microsoft.com/office/powerpoint/2010/main" val="15467355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F3338"/>
          </a:solidFill>
          <a:ln/>
        </p:spPr>
        <p:txBody>
          <a:bodyPr/>
          <a:lstStyle/>
          <a:p>
            <a:endParaRPr lang="en-US"/>
          </a:p>
        </p:txBody>
      </p:sp>
      <p:sp>
        <p:nvSpPr>
          <p:cNvPr id="3" name="Text 1"/>
          <p:cNvSpPr/>
          <p:nvPr/>
        </p:nvSpPr>
        <p:spPr>
          <a:xfrm>
            <a:off x="365760" y="274320"/>
            <a:ext cx="731520" cy="822960"/>
          </a:xfrm>
          <a:prstGeom prst="rect">
            <a:avLst/>
          </a:prstGeom>
          <a:noFill/>
          <a:ln/>
        </p:spPr>
        <p: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5</a:t>
            </a:r>
            <a:endParaRPr lang="en-US" sz="4800" dirty="0"/>
          </a:p>
        </p:txBody>
      </p:sp>
      <p:pic>
        <p:nvPicPr>
          <p:cNvPr id="4" name="Image 0" descr="preencoded.png"/>
          <p:cNvPicPr>
            <a:picLocks noChangeAspect="1"/>
          </p:cNvPicPr>
          <p:nvPr/>
        </p:nvPicPr>
        <p:blipFill>
          <a:blip r:embed="rId3"/>
          <a:stretch>
            <a:fillRect/>
          </a:stretch>
        </p:blipFill>
        <p:spPr>
          <a:xfrm>
            <a:off x="1188720" y="411480"/>
            <a:ext cx="365760" cy="365760"/>
          </a:xfrm>
          <a:prstGeom prst="rect">
            <a:avLst/>
          </a:prstGeom>
        </p:spPr>
      </p:pic>
      <p:sp>
        <p:nvSpPr>
          <p:cNvPr id="5" name="Text 2"/>
          <p:cNvSpPr/>
          <p:nvPr/>
        </p:nvSpPr>
        <p:spPr>
          <a:xfrm>
            <a:off x="1691640" y="365760"/>
            <a:ext cx="5943600" cy="640080"/>
          </a:xfrm>
          <a:prstGeom prst="rect">
            <a:avLst/>
          </a:prstGeom>
          <a:noFill/>
          <a:ln/>
        </p:spPr>
        <p: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Know Where Your Data Goes</a:t>
            </a:r>
            <a:endParaRPr lang="en-US" sz="2600" dirty="0"/>
          </a:p>
        </p:txBody>
      </p:sp>
      <p:sp>
        <p:nvSpPr>
          <p:cNvPr id="6" name="Shape 3"/>
          <p:cNvSpPr/>
          <p:nvPr/>
        </p:nvSpPr>
        <p:spPr>
          <a:xfrm>
            <a:off x="731520" y="1280160"/>
            <a:ext cx="3657600" cy="22860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7" name="Shape 4"/>
          <p:cNvSpPr/>
          <p:nvPr/>
        </p:nvSpPr>
        <p:spPr>
          <a:xfrm>
            <a:off x="731520" y="1280160"/>
            <a:ext cx="73152" cy="2286000"/>
          </a:xfrm>
          <a:prstGeom prst="rect">
            <a:avLst/>
          </a:prstGeom>
          <a:solidFill>
            <a:srgbClr val="CF3338"/>
          </a:solidFill>
          <a:ln/>
        </p:spPr>
        <p:txBody>
          <a:bodyPr/>
          <a:lstStyle/>
          <a:p>
            <a:endParaRPr lang="en-US"/>
          </a:p>
        </p:txBody>
      </p:sp>
      <p:sp>
        <p:nvSpPr>
          <p:cNvPr id="8" name="Text 5"/>
          <p:cNvSpPr/>
          <p:nvPr/>
        </p:nvSpPr>
        <p:spPr>
          <a:xfrm>
            <a:off x="1005840" y="1371600"/>
            <a:ext cx="3200400" cy="365760"/>
          </a:xfrm>
          <a:prstGeom prst="rect">
            <a:avLst/>
          </a:prstGeom>
          <a:noFill/>
          <a:ln/>
        </p:spPr>
        <p:txBody>
          <a:bodyPr wrap="square" rtlCol="0" anchor="ctr"/>
          <a:lstStyle/>
          <a:p>
            <a:pPr marL="0" indent="0">
              <a:buNone/>
            </a:pPr>
            <a:r>
              <a:rPr lang="en-US" sz="1600" b="1" dirty="0">
                <a:solidFill>
                  <a:srgbClr val="CF3338"/>
                </a:solidFill>
                <a:latin typeface="Arial Black" pitchFamily="34" charset="0"/>
                <a:ea typeface="Arial Black" pitchFamily="34" charset="-122"/>
                <a:cs typeface="Arial Black" pitchFamily="34" charset="-120"/>
              </a:rPr>
              <a:t>Copilot</a:t>
            </a:r>
            <a:endParaRPr lang="en-US" sz="1600" dirty="0"/>
          </a:p>
        </p:txBody>
      </p:sp>
      <p:sp>
        <p:nvSpPr>
          <p:cNvPr id="9" name="Text 6"/>
          <p:cNvSpPr/>
          <p:nvPr/>
        </p:nvSpPr>
        <p:spPr>
          <a:xfrm>
            <a:off x="1005840" y="1828800"/>
            <a:ext cx="3200400" cy="1371600"/>
          </a:xfrm>
          <a:prstGeom prst="rect">
            <a:avLst/>
          </a:prstGeom>
          <a:noFill/>
          <a:ln/>
        </p:spPr>
        <p:txBody>
          <a:bodyPr wrap="square" rtlCol="0" anchor="ctr"/>
          <a:lstStyle/>
          <a:p>
            <a:pPr marL="0" indent="0">
              <a:lnSpc>
                <a:spcPct val="140000"/>
              </a:lnSpc>
              <a:buNone/>
            </a:pPr>
            <a:r>
              <a:rPr lang="en-US" sz="1300" dirty="0">
                <a:solidFill>
                  <a:srgbClr val="707070"/>
                </a:solidFill>
                <a:latin typeface="Arial" pitchFamily="34" charset="0"/>
                <a:ea typeface="Arial" pitchFamily="34" charset="-122"/>
                <a:cs typeface="Arial" pitchFamily="34" charset="-120"/>
              </a:rPr>
              <a:t>Data stays within the Microsoft</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ecosystem. Enterprise admin controls.</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Familiar compliance framework.</a:t>
            </a:r>
            <a:endParaRPr lang="en-US" sz="1300" dirty="0"/>
          </a:p>
        </p:txBody>
      </p:sp>
      <p:sp>
        <p:nvSpPr>
          <p:cNvPr id="10" name="Shape 7"/>
          <p:cNvSpPr/>
          <p:nvPr/>
        </p:nvSpPr>
        <p:spPr>
          <a:xfrm>
            <a:off x="4754880" y="1280160"/>
            <a:ext cx="3657600" cy="22860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11" name="Shape 8"/>
          <p:cNvSpPr/>
          <p:nvPr/>
        </p:nvSpPr>
        <p:spPr>
          <a:xfrm>
            <a:off x="4754880" y="1280160"/>
            <a:ext cx="73152" cy="2286000"/>
          </a:xfrm>
          <a:prstGeom prst="rect">
            <a:avLst/>
          </a:prstGeom>
          <a:solidFill>
            <a:srgbClr val="CF3338"/>
          </a:solidFill>
          <a:ln/>
        </p:spPr>
        <p:txBody>
          <a:bodyPr/>
          <a:lstStyle/>
          <a:p>
            <a:endParaRPr lang="en-US"/>
          </a:p>
        </p:txBody>
      </p:sp>
      <p:sp>
        <p:nvSpPr>
          <p:cNvPr id="12" name="Text 9"/>
          <p:cNvSpPr/>
          <p:nvPr/>
        </p:nvSpPr>
        <p:spPr>
          <a:xfrm>
            <a:off x="5029200" y="1371600"/>
            <a:ext cx="3200400" cy="365760"/>
          </a:xfrm>
          <a:prstGeom prst="rect">
            <a:avLst/>
          </a:prstGeom>
          <a:noFill/>
          <a:ln/>
        </p:spPr>
        <p:txBody>
          <a:bodyPr wrap="square" rtlCol="0" anchor="ctr"/>
          <a:lstStyle/>
          <a:p>
            <a:pPr marL="0" indent="0">
              <a:buNone/>
            </a:pPr>
            <a:r>
              <a:rPr lang="en-US" sz="1600" b="1" dirty="0">
                <a:solidFill>
                  <a:srgbClr val="CF3338"/>
                </a:solidFill>
                <a:latin typeface="Arial Black" pitchFamily="34" charset="0"/>
                <a:ea typeface="Arial Black" pitchFamily="34" charset="-122"/>
                <a:cs typeface="Arial Black" pitchFamily="34" charset="-120"/>
              </a:rPr>
              <a:t>Claude Add-in</a:t>
            </a:r>
            <a:endParaRPr lang="en-US" sz="1600" dirty="0"/>
          </a:p>
        </p:txBody>
      </p:sp>
      <p:sp>
        <p:nvSpPr>
          <p:cNvPr id="13" name="Text 10"/>
          <p:cNvSpPr/>
          <p:nvPr/>
        </p:nvSpPr>
        <p:spPr>
          <a:xfrm>
            <a:off x="5029200" y="1828800"/>
            <a:ext cx="3200400" cy="1371600"/>
          </a:xfrm>
          <a:prstGeom prst="rect">
            <a:avLst/>
          </a:prstGeom>
          <a:noFill/>
          <a:ln/>
        </p:spPr>
        <p:txBody>
          <a:bodyPr wrap="square" rtlCol="0" anchor="ctr"/>
          <a:lstStyle/>
          <a:p>
            <a:pPr marL="0" indent="0">
              <a:lnSpc>
                <a:spcPct val="140000"/>
              </a:lnSpc>
              <a:buNone/>
            </a:pPr>
            <a:r>
              <a:rPr lang="en-US" sz="1300" dirty="0">
                <a:solidFill>
                  <a:srgbClr val="707070"/>
                </a:solidFill>
                <a:latin typeface="Arial" pitchFamily="34" charset="0"/>
                <a:ea typeface="Arial" pitchFamily="34" charset="-122"/>
                <a:cs typeface="Arial" pitchFamily="34" charset="-120"/>
              </a:rPr>
              <a:t>Data is sent to Anthropic's servers.</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Check your organization's data</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policies before using with</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sensitive information.</a:t>
            </a:r>
            <a:endParaRPr lang="en-US" sz="1300" dirty="0"/>
          </a:p>
        </p:txBody>
      </p:sp>
      <p:sp>
        <p:nvSpPr>
          <p:cNvPr id="14" name="Shape 11"/>
          <p:cNvSpPr/>
          <p:nvPr/>
        </p:nvSpPr>
        <p:spPr>
          <a:xfrm>
            <a:off x="731520" y="3840480"/>
            <a:ext cx="7680960" cy="73152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15" name="Shape 12"/>
          <p:cNvSpPr/>
          <p:nvPr/>
        </p:nvSpPr>
        <p:spPr>
          <a:xfrm>
            <a:off x="731520" y="3840480"/>
            <a:ext cx="73152" cy="731520"/>
          </a:xfrm>
          <a:prstGeom prst="rect">
            <a:avLst/>
          </a:prstGeom>
          <a:solidFill>
            <a:srgbClr val="CF3338"/>
          </a:solidFill>
          <a:ln/>
        </p:spPr>
        <p:txBody>
          <a:bodyPr/>
          <a:lstStyle/>
          <a:p>
            <a:endParaRPr lang="en-US"/>
          </a:p>
        </p:txBody>
      </p:sp>
      <p:sp>
        <p:nvSpPr>
          <p:cNvPr id="16" name="Text 13"/>
          <p:cNvSpPr/>
          <p:nvPr/>
        </p:nvSpPr>
        <p:spPr>
          <a:xfrm>
            <a:off x="1005840" y="3931920"/>
            <a:ext cx="7132320" cy="548640"/>
          </a:xfrm>
          <a:prstGeom prst="rect">
            <a:avLst/>
          </a:prstGeom>
          <a:noFill/>
          <a:ln/>
        </p:spPr>
        <p:txBody>
          <a:bodyPr wrap="square" rtlCol="0" anchor="ctr"/>
          <a:lstStyle/>
          <a:p>
            <a:pPr marL="0" indent="0">
              <a:buNone/>
            </a:pPr>
            <a:r>
              <a:rPr lang="en-US" sz="1400" b="1" dirty="0">
                <a:solidFill>
                  <a:srgbClr val="1F2120"/>
                </a:solidFill>
                <a:latin typeface="Arial" pitchFamily="34" charset="0"/>
                <a:ea typeface="Arial" pitchFamily="34" charset="-122"/>
                <a:cs typeface="Arial" pitchFamily="34" charset="-120"/>
              </a:rPr>
              <a:t>Ask your IT team before using any AI tool with sensitive or proprietary data.</a:t>
            </a:r>
            <a:endParaRPr lang="en-US" sz="1400" dirty="0"/>
          </a:p>
        </p:txBody>
      </p:sp>
    </p:spTree>
    <p:extLst>
      <p:ext uri="{BB962C8B-B14F-4D97-AF65-F5344CB8AC3E}">
        <p14:creationId xmlns:p14="http://schemas.microsoft.com/office/powerpoint/2010/main" val="2042148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Making the Decision</a:t>
            </a:r>
            <a:endParaRPr lang="en-US" sz="2800" dirty="0"/>
          </a:p>
        </p:txBody>
      </p:sp>
      <p:sp>
        <p:nvSpPr>
          <p:cNvPr id="3" name="Text 1"/>
          <p:cNvSpPr/>
          <p:nvPr/>
        </p:nvSpPr>
        <p:spPr>
          <a:xfrm>
            <a:off x="731520" y="822960"/>
            <a:ext cx="7315200" cy="365760"/>
          </a:xfrm>
          <a:prstGeom prst="rect">
            <a:avLst/>
          </a:prstGeom>
          <a:noFill/>
          <a:ln/>
        </p:spPr>
        <p:txBody>
          <a:bodyPr wrap="square" rtlCol="0" anchor="ctr"/>
          <a:lstStyle/>
          <a:p>
            <a:pPr marL="0" indent="0">
              <a:buNone/>
            </a:pPr>
            <a:r>
              <a:rPr lang="en-US" sz="1300" i="1" dirty="0">
                <a:solidFill>
                  <a:srgbClr val="707070"/>
                </a:solidFill>
                <a:latin typeface="Arial" pitchFamily="34" charset="0"/>
                <a:ea typeface="Arial" pitchFamily="34" charset="-122"/>
                <a:cs typeface="Arial" pitchFamily="34" charset="-120"/>
              </a:rPr>
              <a:t>Given the rapidly evolving feature space...</a:t>
            </a:r>
            <a:endParaRPr lang="en-US" sz="1300" dirty="0"/>
          </a:p>
        </p:txBody>
      </p:sp>
      <p:sp>
        <p:nvSpPr>
          <p:cNvPr id="4" name="Shape 2"/>
          <p:cNvSpPr/>
          <p:nvPr/>
        </p:nvSpPr>
        <p:spPr>
          <a:xfrm>
            <a:off x="457200" y="1371600"/>
            <a:ext cx="3931920" cy="301752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457200" y="1371600"/>
            <a:ext cx="3931920" cy="54864"/>
          </a:xfrm>
          <a:prstGeom prst="rect">
            <a:avLst/>
          </a:prstGeom>
          <a:solidFill>
            <a:srgbClr val="CF3338"/>
          </a:solidFill>
          <a:ln/>
        </p:spPr>
        <p:txBody>
          <a:bodyPr/>
          <a:lstStyle/>
          <a:p>
            <a:endParaRPr lang="en-US"/>
          </a:p>
        </p:txBody>
      </p:sp>
      <p:sp>
        <p:nvSpPr>
          <p:cNvPr id="6" name="Text 4"/>
          <p:cNvSpPr/>
          <p:nvPr/>
        </p:nvSpPr>
        <p:spPr>
          <a:xfrm>
            <a:off x="640080" y="1508760"/>
            <a:ext cx="3566160" cy="365760"/>
          </a:xfrm>
          <a:prstGeom prst="rect">
            <a:avLst/>
          </a:prstGeom>
          <a:noFill/>
          <a:ln/>
        </p:spPr>
        <p:txBody>
          <a:bodyPr wrap="square" rtlCol="0" anchor="ctr"/>
          <a:lstStyle/>
          <a:p>
            <a:pPr marL="0" indent="0">
              <a:buNone/>
            </a:pPr>
            <a:r>
              <a:rPr lang="en-US" sz="1800" b="1" dirty="0">
                <a:solidFill>
                  <a:srgbClr val="CF3338"/>
                </a:solidFill>
                <a:latin typeface="Arial Black" pitchFamily="34" charset="0"/>
                <a:ea typeface="Arial Black" pitchFamily="34" charset="-122"/>
                <a:cs typeface="Arial Black" pitchFamily="34" charset="-120"/>
              </a:rPr>
              <a:t>Most Users</a:t>
            </a:r>
            <a:endParaRPr lang="en-US" sz="1800" dirty="0"/>
          </a:p>
        </p:txBody>
      </p:sp>
      <p:sp>
        <p:nvSpPr>
          <p:cNvPr id="7" name="Text 5"/>
          <p:cNvSpPr/>
          <p:nvPr/>
        </p:nvSpPr>
        <p:spPr>
          <a:xfrm>
            <a:off x="640080" y="1874520"/>
            <a:ext cx="3566160" cy="320040"/>
          </a:xfrm>
          <a:prstGeom prst="rect">
            <a:avLst/>
          </a:prstGeom>
          <a:noFill/>
          <a:ln/>
        </p:spPr>
        <p:txBody>
          <a:bodyPr wrap="square" rtlCol="0" anchor="ctr"/>
          <a:lstStyle/>
          <a:p>
            <a:pPr marL="0" indent="0">
              <a:buNone/>
            </a:pPr>
            <a:r>
              <a:rPr lang="en-US" sz="1400" b="1" dirty="0">
                <a:solidFill>
                  <a:srgbClr val="1F2120"/>
                </a:solidFill>
                <a:latin typeface="Arial" pitchFamily="34" charset="0"/>
                <a:ea typeface="Arial" pitchFamily="34" charset="-122"/>
                <a:cs typeface="Arial" pitchFamily="34" charset="-120"/>
              </a:rPr>
              <a:t>Copilot for Microsoft 365</a:t>
            </a:r>
            <a:endParaRPr lang="en-US" sz="1400" dirty="0"/>
          </a:p>
        </p:txBody>
      </p:sp>
      <p:sp>
        <p:nvSpPr>
          <p:cNvPr id="8" name="Text 6"/>
          <p:cNvSpPr/>
          <p:nvPr/>
        </p:nvSpPr>
        <p:spPr>
          <a:xfrm>
            <a:off x="640080" y="2286000"/>
            <a:ext cx="3566160" cy="1920240"/>
          </a:xfrm>
          <a:prstGeom prst="rect">
            <a:avLst/>
          </a:prstGeom>
          <a:noFill/>
          <a:ln/>
        </p:spPr>
        <p:txBody>
          <a:bodyPr wrap="square" rtlCol="0" anchor="ctr"/>
          <a:lstStyle/>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Paid add-on to M365 (~$30/user/mo)</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Tighter Excel integration</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Data stays in Microsoft ecosystem</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Enterprise admin controls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One subscription covers the full suite</a:t>
            </a:r>
            <a:endParaRPr lang="en-US" sz="1200" dirty="0"/>
          </a:p>
        </p:txBody>
      </p:sp>
      <p:sp>
        <p:nvSpPr>
          <p:cNvPr id="9" name="Shape 7"/>
          <p:cNvSpPr/>
          <p:nvPr/>
        </p:nvSpPr>
        <p:spPr>
          <a:xfrm>
            <a:off x="4754880" y="1371600"/>
            <a:ext cx="3931920" cy="301752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10" name="Shape 8"/>
          <p:cNvSpPr/>
          <p:nvPr/>
        </p:nvSpPr>
        <p:spPr>
          <a:xfrm>
            <a:off x="4754880" y="1371600"/>
            <a:ext cx="3931920" cy="54864"/>
          </a:xfrm>
          <a:prstGeom prst="rect">
            <a:avLst/>
          </a:prstGeom>
          <a:solidFill>
            <a:srgbClr val="CF3338"/>
          </a:solidFill>
          <a:ln/>
        </p:spPr>
        <p:txBody>
          <a:bodyPr/>
          <a:lstStyle/>
          <a:p>
            <a:endParaRPr lang="en-US"/>
          </a:p>
        </p:txBody>
      </p:sp>
      <p:sp>
        <p:nvSpPr>
          <p:cNvPr id="11" name="Text 9"/>
          <p:cNvSpPr/>
          <p:nvPr/>
        </p:nvSpPr>
        <p:spPr>
          <a:xfrm>
            <a:off x="4937760" y="1508760"/>
            <a:ext cx="3566160" cy="365760"/>
          </a:xfrm>
          <a:prstGeom prst="rect">
            <a:avLst/>
          </a:prstGeom>
          <a:noFill/>
          <a:ln/>
        </p:spPr>
        <p:txBody>
          <a:bodyPr wrap="square" rtlCol="0" anchor="ctr"/>
          <a:lstStyle/>
          <a:p>
            <a:pPr marL="0" indent="0">
              <a:buNone/>
            </a:pPr>
            <a:r>
              <a:rPr lang="en-US" sz="1800" b="1" dirty="0">
                <a:solidFill>
                  <a:srgbClr val="CF3338"/>
                </a:solidFill>
                <a:latin typeface="Arial Black" pitchFamily="34" charset="0"/>
                <a:ea typeface="Arial Black" pitchFamily="34" charset="-122"/>
                <a:cs typeface="Arial Black" pitchFamily="34" charset="-120"/>
              </a:rPr>
              <a:t>Power Users</a:t>
            </a:r>
            <a:endParaRPr lang="en-US" sz="1800" dirty="0"/>
          </a:p>
        </p:txBody>
      </p:sp>
      <p:sp>
        <p:nvSpPr>
          <p:cNvPr id="12" name="Text 10"/>
          <p:cNvSpPr/>
          <p:nvPr/>
        </p:nvSpPr>
        <p:spPr>
          <a:xfrm>
            <a:off x="4937760" y="1874520"/>
            <a:ext cx="3566160" cy="320040"/>
          </a:xfrm>
          <a:prstGeom prst="rect">
            <a:avLst/>
          </a:prstGeom>
          <a:noFill/>
          <a:ln/>
        </p:spPr>
        <p:txBody>
          <a:bodyPr wrap="square" rtlCol="0" anchor="ctr"/>
          <a:lstStyle/>
          <a:p>
            <a:pPr marL="0" indent="0">
              <a:buNone/>
            </a:pPr>
            <a:r>
              <a:rPr lang="en-US" sz="1400" b="1" dirty="0">
                <a:solidFill>
                  <a:srgbClr val="1F2120"/>
                </a:solidFill>
                <a:latin typeface="Arial" pitchFamily="34" charset="0"/>
                <a:ea typeface="Arial" pitchFamily="34" charset="-122"/>
                <a:cs typeface="Arial" pitchFamily="34" charset="-120"/>
              </a:rPr>
              <a:t>Claude (especially Cowork &amp; Code)</a:t>
            </a:r>
            <a:endParaRPr lang="en-US" sz="1400" dirty="0"/>
          </a:p>
        </p:txBody>
      </p:sp>
      <p:sp>
        <p:nvSpPr>
          <p:cNvPr id="13" name="Text 11"/>
          <p:cNvSpPr/>
          <p:nvPr/>
        </p:nvSpPr>
        <p:spPr>
          <a:xfrm>
            <a:off x="4937760" y="2286000"/>
            <a:ext cx="3566160" cy="1920240"/>
          </a:xfrm>
          <a:prstGeom prst="rect">
            <a:avLst/>
          </a:prstGeom>
          <a:noFill/>
          <a:ln/>
        </p:spPr>
        <p:txBody>
          <a:bodyPr wrap="square" rtlCol="0" anchor="ctr"/>
          <a:lstStyle/>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Full deliverable generation (Cowork)</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Developer-style workflows (Code)</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More flexible for complex tasks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Separate subscription required</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Microsoft building own version (TBA)</a:t>
            </a:r>
            <a:endParaRPr lang="en-US" sz="1200" dirty="0"/>
          </a:p>
        </p:txBody>
      </p:sp>
    </p:spTree>
    <p:extLst>
      <p:ext uri="{BB962C8B-B14F-4D97-AF65-F5344CB8AC3E}">
        <p14:creationId xmlns:p14="http://schemas.microsoft.com/office/powerpoint/2010/main" val="19212994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What's Coming Next</a:t>
            </a:r>
            <a:endParaRPr lang="en-US" sz="2800" dirty="0"/>
          </a:p>
        </p:txBody>
      </p:sp>
      <p:sp>
        <p:nvSpPr>
          <p:cNvPr id="3" name="Text 1"/>
          <p:cNvSpPr/>
          <p:nvPr/>
        </p:nvSpPr>
        <p:spPr>
          <a:xfrm>
            <a:off x="731520" y="1005840"/>
            <a:ext cx="7315200" cy="3200400"/>
          </a:xfrm>
          <a:prstGeom prst="rect">
            <a:avLst/>
          </a:prstGeom>
          <a:noFill/>
          <a:ln/>
        </p:spPr>
        <p:txBody>
          <a:bodyPr wrap="square" rtlCol="0" anchor="ctr"/>
          <a:lstStyle/>
          <a:p>
            <a:pPr marL="0" indent="0">
              <a:spcAft>
                <a:spcPts val="600"/>
              </a:spcAft>
              <a:buNone/>
            </a:pPr>
            <a:r>
              <a:rPr lang="en-US" sz="1400" b="1" dirty="0">
                <a:solidFill>
                  <a:srgbClr val="707070"/>
                </a:solidFill>
                <a:latin typeface="Arial" pitchFamily="34" charset="0"/>
                <a:ea typeface="Arial" pitchFamily="34" charset="-122"/>
                <a:cs typeface="Arial" pitchFamily="34" charset="-120"/>
              </a:rPr>
              <a:t>The landscape is shifting fast:</a:t>
            </a:r>
            <a:endParaRPr lang="en-US" sz="1400" dirty="0"/>
          </a:p>
          <a:p>
            <a:pPr marL="0" indent="0">
              <a:spcAft>
                <a:spcPts val="600"/>
              </a:spcAft>
              <a:buNone/>
            </a:pP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Copilot now supports third-party models (Claude, Gemini)</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Microsoft has announced a Cowork-like tool built on Anthropic tech</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Claude's Excel add-in continues to improve</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New models ship regularly. Today's comparison may shift</a:t>
            </a:r>
            <a:endParaRPr lang="en-US" sz="1400" dirty="0"/>
          </a:p>
          <a:p>
            <a:pPr marL="0" indent="0">
              <a:spcAft>
                <a:spcPts val="600"/>
              </a:spcAft>
              <a:buNone/>
            </a:pPr>
            <a:endParaRPr lang="en-US" sz="1400" dirty="0"/>
          </a:p>
          <a:p>
            <a:pPr marL="0" indent="0">
              <a:spcAft>
                <a:spcPts val="600"/>
              </a:spcAft>
              <a:buNone/>
            </a:pPr>
            <a:r>
              <a:rPr lang="en-US" sz="1800" b="1" dirty="0">
                <a:solidFill>
                  <a:srgbClr val="CF3338"/>
                </a:solidFill>
                <a:latin typeface="Arial" pitchFamily="34" charset="0"/>
                <a:ea typeface="Arial" pitchFamily="34" charset="-122"/>
                <a:cs typeface="Arial" pitchFamily="34" charset="-120"/>
              </a:rPr>
              <a:t>Focus on principles, not products.</a:t>
            </a:r>
            <a:endParaRPr lang="en-US" sz="1400" dirty="0"/>
          </a:p>
        </p:txBody>
      </p:sp>
    </p:spTree>
    <p:extLst>
      <p:ext uri="{BB962C8B-B14F-4D97-AF65-F5344CB8AC3E}">
        <p14:creationId xmlns:p14="http://schemas.microsoft.com/office/powerpoint/2010/main" val="10945289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Your Takeaway Toolkit</a:t>
            </a:r>
            <a:endParaRPr lang="en-US" sz="2800" dirty="0"/>
          </a:p>
        </p:txBody>
      </p:sp>
      <p:sp>
        <p:nvSpPr>
          <p:cNvPr id="3" name="Text 1"/>
          <p:cNvSpPr/>
          <p:nvPr/>
        </p:nvSpPr>
        <p:spPr>
          <a:xfrm>
            <a:off x="731520" y="1005840"/>
            <a:ext cx="7315200" cy="2743200"/>
          </a:xfrm>
          <a:prstGeom prst="rect">
            <a:avLst/>
          </a:prstGeom>
          <a:noFill/>
          <a:ln/>
        </p:spPr>
        <p:txBody>
          <a:bodyPr wrap="square" rtlCol="0" anchor="ctr"/>
          <a:lstStyle/>
          <a:p>
            <a:pPr marL="0" indent="0">
              <a:spcAft>
                <a:spcPts val="800"/>
              </a:spcAft>
              <a:buNone/>
            </a:pPr>
            <a:r>
              <a:rPr lang="en-US" sz="1400" b="1" dirty="0">
                <a:solidFill>
                  <a:srgbClr val="707070"/>
                </a:solidFill>
                <a:latin typeface="Arial" pitchFamily="34" charset="0"/>
                <a:ea typeface="Arial" pitchFamily="34" charset="-122"/>
                <a:cs typeface="Arial" pitchFamily="34" charset="-120"/>
              </a:rPr>
              <a:t>Included in your workshop materials:</a:t>
            </a:r>
            <a:endParaRPr lang="en-US" sz="1400" dirty="0"/>
          </a:p>
          <a:p>
            <a:pPr marL="0" indent="0">
              <a:spcAft>
                <a:spcPts val="800"/>
              </a:spcAft>
              <a:buNone/>
            </a:pP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Comparison handout: "Consumer Report" format</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Excel AI Style Guide: paste into any AI session for consistent results</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Excel AI Prompt Library: ready-to-paste prompts for common tasks</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"Which tool?“: decision flowchart</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Practice workbook: the same dataset I used, ready for you to try</a:t>
            </a:r>
            <a:endParaRPr lang="en-US" sz="1400" dirty="0"/>
          </a:p>
        </p:txBody>
      </p:sp>
      <p:sp>
        <p:nvSpPr>
          <p:cNvPr id="4" name="Shape 2"/>
          <p:cNvSpPr/>
          <p:nvPr/>
        </p:nvSpPr>
        <p:spPr>
          <a:xfrm>
            <a:off x="731520" y="3840480"/>
            <a:ext cx="7680960" cy="54864"/>
          </a:xfrm>
          <a:prstGeom prst="rect">
            <a:avLst/>
          </a:prstGeom>
          <a:solidFill>
            <a:srgbClr val="CF3338"/>
          </a:solidFill>
          <a:ln/>
        </p:spPr>
        <p:txBody>
          <a:bodyPr/>
          <a:lstStyle/>
          <a:p>
            <a:endParaRPr lang="en-US"/>
          </a:p>
        </p:txBody>
      </p:sp>
      <p:sp>
        <p:nvSpPr>
          <p:cNvPr id="5" name="Text 3"/>
          <p:cNvSpPr/>
          <p:nvPr/>
        </p:nvSpPr>
        <p:spPr>
          <a:xfrm>
            <a:off x="731520" y="4023360"/>
            <a:ext cx="7315200" cy="365760"/>
          </a:xfrm>
          <a:prstGeom prst="rect">
            <a:avLst/>
          </a:prstGeom>
          <a:noFill/>
          <a:ln/>
        </p:spPr>
        <p:txBody>
          <a:bodyPr wrap="square" rtlCol="0" anchor="ctr"/>
          <a:lstStyle/>
          <a:p>
            <a:pPr marL="0" indent="0">
              <a:buNone/>
            </a:pPr>
            <a:endParaRPr lang="en-US" sz="1400" dirty="0"/>
          </a:p>
        </p:txBody>
      </p:sp>
    </p:spTree>
    <p:extLst>
      <p:ext uri="{BB962C8B-B14F-4D97-AF65-F5344CB8AC3E}">
        <p14:creationId xmlns:p14="http://schemas.microsoft.com/office/powerpoint/2010/main" val="9511073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914400"/>
            <a:ext cx="6400800" cy="1828800"/>
          </a:xfrm>
          <a:prstGeom prst="rect">
            <a:avLst/>
          </a:prstGeom>
          <a:noFill/>
          <a:ln/>
        </p:spPr>
        <p:txBody>
          <a:bodyPr wrap="square" rtlCol="0" anchor="ctr"/>
          <a:lstStyle/>
          <a:p>
            <a:pPr marL="0" indent="0">
              <a:buNone/>
            </a:pPr>
            <a:r>
              <a:rPr lang="en-US" sz="4400" b="1" dirty="0">
                <a:solidFill>
                  <a:srgbClr val="CF3338"/>
                </a:solidFill>
                <a:latin typeface="Arial Black" pitchFamily="34" charset="0"/>
                <a:ea typeface="Arial Black" pitchFamily="34" charset="-122"/>
                <a:cs typeface="Arial Black" pitchFamily="34" charset="-120"/>
              </a:rPr>
              <a:t>Questions?</a:t>
            </a:r>
            <a:endParaRPr lang="en-US" sz="4400" dirty="0"/>
          </a:p>
        </p:txBody>
      </p:sp>
      <p:sp>
        <p:nvSpPr>
          <p:cNvPr id="3" name="Text 1"/>
          <p:cNvSpPr/>
          <p:nvPr/>
        </p:nvSpPr>
        <p:spPr>
          <a:xfrm>
            <a:off x="731520" y="3200400"/>
            <a:ext cx="5486400" cy="731520"/>
          </a:xfrm>
          <a:prstGeom prst="rect">
            <a:avLst/>
          </a:prstGeom>
          <a:noFill/>
          <a:ln/>
        </p:spPr>
        <p:txBody>
          <a:bodyPr wrap="square" rtlCol="0" anchor="ctr"/>
          <a:lstStyle/>
          <a:p>
            <a:pPr marL="0" indent="0">
              <a:lnSpc>
                <a:spcPct val="150000"/>
              </a:lnSpc>
              <a:buNone/>
            </a:pPr>
            <a:r>
              <a:rPr lang="en-US" sz="1400" dirty="0">
                <a:solidFill>
                  <a:srgbClr val="707070"/>
                </a:solidFill>
                <a:latin typeface="Arial" pitchFamily="34" charset="0"/>
                <a:ea typeface="Arial" pitchFamily="34" charset="-122"/>
                <a:cs typeface="Arial" pitchFamily="34" charset="-120"/>
              </a:rPr>
              <a:t>George Mount | Stringfest Analytics</a:t>
            </a:r>
            <a:endParaRPr lang="en-US" sz="1400" dirty="0"/>
          </a:p>
          <a:p>
            <a:pPr marL="0" indent="0">
              <a:lnSpc>
                <a:spcPct val="150000"/>
              </a:lnSpc>
              <a:buNone/>
            </a:pPr>
            <a:r>
              <a:rPr lang="en-US" sz="1400" dirty="0">
                <a:solidFill>
                  <a:srgbClr val="707070"/>
                </a:solidFill>
                <a:latin typeface="Arial" pitchFamily="34" charset="0"/>
                <a:ea typeface="Arial" pitchFamily="34" charset="-122"/>
                <a:cs typeface="Arial" pitchFamily="34" charset="-120"/>
              </a:rPr>
              <a:t>stringfestanalytics.com</a:t>
            </a:r>
            <a:endParaRPr lang="en-US" sz="1400" dirty="0"/>
          </a:p>
        </p:txBody>
      </p:sp>
    </p:spTree>
    <p:extLst>
      <p:ext uri="{BB962C8B-B14F-4D97-AF65-F5344CB8AC3E}">
        <p14:creationId xmlns:p14="http://schemas.microsoft.com/office/powerpoint/2010/main" val="5135136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731520"/>
            <a:ext cx="6400800" cy="1828800"/>
          </a:xfrm>
          <a:prstGeom prst="rect">
            <a:avLst/>
          </a:prstGeom>
          <a:noFill/>
          <a:ln/>
        </p:spPr>
        <p:txBody>
          <a:bodyPr wrap="square" rtlCol="0" anchor="ctr"/>
          <a:lstStyle/>
          <a:p>
            <a:pPr marL="0" indent="0">
              <a:buNone/>
            </a:pPr>
            <a:r>
              <a:rPr lang="en-US" sz="4400" b="1" dirty="0">
                <a:solidFill>
                  <a:srgbClr val="CF3338"/>
                </a:solidFill>
                <a:latin typeface="Arial Black" pitchFamily="34" charset="0"/>
                <a:ea typeface="Arial Black" pitchFamily="34" charset="-122"/>
                <a:cs typeface="Arial Black" pitchFamily="34" charset="-120"/>
              </a:rPr>
              <a:t>Thank You</a:t>
            </a:r>
            <a:endParaRPr lang="en-US" sz="4400" dirty="0"/>
          </a:p>
        </p:txBody>
      </p:sp>
      <p:sp>
        <p:nvSpPr>
          <p:cNvPr id="3" name="Text 1"/>
          <p:cNvSpPr/>
          <p:nvPr/>
        </p:nvSpPr>
        <p:spPr>
          <a:xfrm>
            <a:off x="731520" y="2743200"/>
            <a:ext cx="5486400" cy="457200"/>
          </a:xfrm>
          <a:prstGeom prst="rect">
            <a:avLst/>
          </a:prstGeom>
          <a:noFill/>
          <a:ln/>
        </p:spPr>
        <p:txBody>
          <a:bodyPr wrap="square" rtlCol="0" anchor="ctr"/>
          <a:lstStyle/>
          <a:p>
            <a:pPr marL="0" indent="0">
              <a:buNone/>
            </a:pPr>
            <a:r>
              <a:rPr lang="en-US" sz="1600" dirty="0">
                <a:solidFill>
                  <a:srgbClr val="1F2120"/>
                </a:solidFill>
                <a:latin typeface="Arial" pitchFamily="34" charset="0"/>
                <a:ea typeface="Arial" pitchFamily="34" charset="-122"/>
                <a:cs typeface="Arial" pitchFamily="34" charset="-120"/>
              </a:rPr>
              <a:t>George Mount | Stringfest Analytics</a:t>
            </a:r>
            <a:endParaRPr lang="en-US" sz="1600" dirty="0"/>
          </a:p>
        </p:txBody>
      </p:sp>
      <p:sp>
        <p:nvSpPr>
          <p:cNvPr id="4" name="Text 2"/>
          <p:cNvSpPr/>
          <p:nvPr/>
        </p:nvSpPr>
        <p:spPr>
          <a:xfrm>
            <a:off x="731520" y="3200400"/>
            <a:ext cx="5486400" cy="365760"/>
          </a:xfrm>
          <a:prstGeom prst="rect">
            <a:avLst/>
          </a:prstGeom>
          <a:noFill/>
          <a:ln/>
        </p:spPr>
        <p:txBody>
          <a:bodyPr wrap="square" rtlCol="0" anchor="ctr"/>
          <a:lstStyle/>
          <a:p>
            <a:pPr marL="0" indent="0">
              <a:buNone/>
            </a:pPr>
            <a:r>
              <a:rPr lang="en-US" sz="1200" dirty="0">
                <a:solidFill>
                  <a:srgbClr val="707070"/>
                </a:solidFill>
                <a:latin typeface="Arial" pitchFamily="34" charset="0"/>
                <a:ea typeface="Arial" pitchFamily="34" charset="-122"/>
                <a:cs typeface="Arial" pitchFamily="34" charset="-120"/>
              </a:rPr>
              <a:t>Microsoft Excel MVP | LinkedIn Learning Instructor | O'Reilly Author</a:t>
            </a:r>
            <a:endParaRPr lang="en-US" sz="1200" dirty="0"/>
          </a:p>
        </p:txBody>
      </p:sp>
      <p:sp>
        <p:nvSpPr>
          <p:cNvPr id="5" name="Text 3"/>
          <p:cNvSpPr/>
          <p:nvPr/>
        </p:nvSpPr>
        <p:spPr>
          <a:xfrm>
            <a:off x="731520" y="3749040"/>
            <a:ext cx="3657600" cy="365760"/>
          </a:xfrm>
          <a:prstGeom prst="rect">
            <a:avLst/>
          </a:prstGeom>
          <a:noFill/>
          <a:ln/>
        </p:spPr>
        <p:txBody>
          <a:bodyPr wrap="square" rtlCol="0" anchor="ctr"/>
          <a:lstStyle/>
          <a:p>
            <a:pPr marL="0" indent="0">
              <a:buNone/>
            </a:pPr>
            <a:r>
              <a:rPr lang="en-US" sz="1400" b="1" dirty="0">
                <a:solidFill>
                  <a:srgbClr val="CF3338"/>
                </a:solidFill>
                <a:latin typeface="Arial" pitchFamily="34" charset="0"/>
                <a:ea typeface="Arial" pitchFamily="34" charset="-122"/>
                <a:cs typeface="Arial" pitchFamily="34" charset="-120"/>
              </a:rPr>
              <a:t>stringfestanalytics.com</a:t>
            </a:r>
            <a:endParaRPr lang="en-US" sz="1400" dirty="0"/>
          </a:p>
        </p:txBody>
      </p:sp>
    </p:spTree>
    <p:extLst>
      <p:ext uri="{BB962C8B-B14F-4D97-AF65-F5344CB8AC3E}">
        <p14:creationId xmlns:p14="http://schemas.microsoft.com/office/powerpoint/2010/main" val="533639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88" row="5">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FBA4B7C-9907-4AE3-A32F-BE8FAD32C32C}">
  <we:reference id="WA200010001" version="1.0.0.1" store="Omex" storeType="OMEX"/>
  <we:alternateReferences>
    <we:reference id="WA200010001" version="1.0.0.1" store="WA200010001" storeType="OMEX"/>
  </we:alternateReferences>
  <we:properties>
    <we:property name="claude.fileId" value="&quot;59b4d36f-bda2-4011-af55-0bed6739a20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TotalTime>
  <Words>5315</Words>
  <Application>Microsoft Office PowerPoint</Application>
  <PresentationFormat>On-screen Show (16:9)</PresentationFormat>
  <Paragraphs>316</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Arial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vs Claude in Excel: A Side-by-Side Road Test</dc:title>
  <dc:subject>PptxGenJS Presentation</dc:subject>
  <dc:creator>George Mount</dc:creator>
  <cp:lastModifiedBy>George Mount</cp:lastModifiedBy>
  <cp:revision>7</cp:revision>
  <dcterms:created xsi:type="dcterms:W3CDTF">2026-03-23T14:28:24Z</dcterms:created>
  <dcterms:modified xsi:type="dcterms:W3CDTF">2026-04-10T15:46:51Z</dcterms:modified>
</cp:coreProperties>
</file>