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91" d="100"/>
          <a:sy n="91" d="100"/>
        </p:scale>
        <p:origin x="13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664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doing a practical, side-by-side road test of Microsoft 365 Copilot (the paid ~$30/month version) and Claude inside Excel. This is NOT about declaring a winner: it's about helping you understand both tools so you can make an informed decision. I'll run live demos, but more importantly, I'll walk away with principles that apply regardless of which tool you choose.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I focus on helping people build practical Excel workflows. I'm not affiliated with Microsoft or Anthropic beyond being an MVP. My goal is an honest, unbiased comparison.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roadmap. I'll start by understanding the landscape, then do live demos with real data, then zoom out to the big-picture comparison and universal principles. You'll leave with practical takeaways, not just opinions.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question people are asking. I see it in training courses, LinkedIn comments, and from organizations trying to decide where to invest. The landscape is confusing: you can even run Claude models inside Copilot now.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AI shows up in Excel. Copilot is built in. Claude is a third-party add-in. And the twist: premium Copilot can select Anthropic models, meaning you can run Claude's brain inside Microsoft's interface. So what's the actual difference? That's what I'm here to find 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demo, let's understand the mechanics. Copilot lives natively in the ribbon. You toggle 'Edit with Copilot' and it can directly modify cells. Claude is an add-in panel: it asks permission before each change. This permission model is a fundamental UX difference you'll notice immediately.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test rig. Simple expense data: travel, meals, office supplies. Category column is blank. Two tasks: categorize the data, then build a summary. Same dataset, same prompts, same model where possible. The workbook is available for download if you want to try this yourself. Note: the dataset includes a few intentional curveballs: a vendor name typo ('Starbuks'), a negative amount (a refund), a duplicate transaction, and an ambiguous description ('team building event'). These are there to show how each tool handles messy, real world data and to give you something concrete to talk about when I get to Principle 1 (always review AI output).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live demos. Remind attendees: results WILL vary from run to run. What they're watching for are the patterns and differences in experience, not specific numbers.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Open the workbook. Paste the categorization prompt into Copilot first, then Claude. Narrate what's happening. Call out the permission model difference: Claude asks before modifying. Point out any ambiguous cases where the tools disagree. Don't judge right vs. wrong, just observe the differences. KEY TALKING POINTS for the tricky rows: (1) 'Starbuks' typo: does each tool recognize it as Starbucks? Does it correct the name or just categorize it? (2) The negative $67.30 Amazon return: how does each tool handle a refund? Does it still categorize it? (3) 'Team building event' at Marriott: is that Lodging? Meals? Entertainment? This is your best example for Principle 1 (always review). (4) The duplicate Delta flight: does either tool notice it matches an earlier transaction?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Paste the summary prompt. Key pattern: when you're vague about HOW you want the output, the tools make different choices. One might use formulas, another pivot tables. Watch whether the tools respect 'create a new worksheet.' If one overwrites data, narrate it as a real-world gotcha.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patterns, not guarantees. Across many runs, Copilot tends toward formulas and tighter instruction following. Claude tends toward pivot tables and more detailed explanations. Both get the math right. The differences are in approach, UX, and how literally they follow instructions. Stress: YOUR results may differ. That's the nature of generative AI.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zoom out from the demos and look at the full picture: pricing (focusing on Microsoft 365 Copilot, the paid add-on), data privacy, ecosystem, IT controls.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methodically. Pause on data handling: this is the question most organizations care about. Copilot = Microsoft ecosystem. Claude = Anthropic servers. For regulated industries, this is often the deciding factor. Note: I'm discussing Microsoft 365 Copilot (paid ~$30/user/month), not free Copilot in Bing/Edge. M365 Copilot now includes Claude models as an option, so you're paying for the wrapper and ecosystem, not just the model.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evaluate these tools in isolation. Copilot is part of M365: one subscription covers Excel, Word, PowerPoint, Outlook, Teams. Claude is part of Anthropic's ecosystem: the add-in is just one piece alongside Cowork (which can assemble entire workshop packs in one pass) and Code (for building custom tools). Your buying decision should factor in where ELSE you'll use the tool.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what's true across ALL AI tools in Excel. These principles will serve you well no matter which tool you use, and even as these tools continue to evolve.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1: Trust but verify. Both tools can get the math right but disagree on judgment calls. If you're submitting an expense report or presenting to leadership, you check the details.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2: Specificity is your best friend. When you say 'summarize,' one tool uses formulas, another uses pivot tables. If you'd said 'use SUMIFS formulas in a new worksheet called Summary,' you'd get consistent results across ANY tool.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3: The style guide is the single most practical takeaway. An Excel AI Style Guide is included in attendee materials. The idea: paste your standards into the AI at the start of the session and it follows your conventions. Works with Copilot, Claude, ChatGPT, or anything else.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4: Variability is a feature, not a bug. You can run the SAME model in two different wrappers and get different results. Run it again tomorrow, another variation. This is why review matters and why you think of AI as a collaborator, not a calculator.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5: Data privacy matters. Microsoft 365 Copilot (the paid version) keeps data in Microsoft's ecosystem. Claude routes data through Anthropic's servers. For personal projects, may not matter. For company data, check with IT first. This is often the deciding factor for organizations. Note: this applies to the paid M365 Copilot I'm discussing, not free Copilot in Bing/Edge.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buying guidance for Microsoft 365 Copilot (the paid version, ~$30/user/month). Most users: M365 Copilot. Power users: Claude. This isn't about which model is smarter: you can run the same model in both. It's about the ecosystem, the integration, the data handling, and your specific needs. Remember: I'm not comparing to free Copilot in Bing/Edge; I'm comparing the paid enterprise tools.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will keep changing. What won't change are the principles: review your output, be specific, use a style guide, expect variability, and know where your data goes. If you internalize those five principles, you'll be effective with whatever AI tool comes next.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attendees to the materials. Walk through each one briefly: the Consumer Report is your take home comparison reference. The Excel AI Style Guide is the single most practical takeaway: paste it into any AI session. The Prompt Library gives you ready to use prompts for common tasks. The Decision Flowchart helps you figure out which tool fits your situation. And the practice workbook lets you run the same comparison I just did. Encourage them to try the comparison on their own.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Q&amp;A. Anticipate: pricing differences (M365 Copilot is ~$30/month, not free; Claude Pro is ~$20/month), data privacy concerns, whether M365 Copilot's Claude model integration means you don't need the separate Claude add-in (short answer: mostly yes for Excel-only use), and what Claude Cowork/Code can do that Copilot can't yet. Clarify: I discussed the paid M365 Copilot throughout, not free Copilot in Bing/Edge.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for attending. Remind them about the recording and supplemental materials.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731520"/>
            <a:ext cx="6400800" cy="2011680"/>
          </a:xfrm>
          <a:prstGeom prst="rect">
            <a:avLst/>
          </a:prstGeom>
          <a:noFill/>
          <a:ln/>
        </p:spPr>
        <p:txBody>
          <a:bodyPr wrap="square" rtlCol="0" anchor="ctr"/>
          <a:lstStyle/>
          <a:p>
            <a:pPr marL="0" indent="0">
              <a:lnSpc>
                <a:spcPct val="110000"/>
              </a:lnSpc>
              <a:buNone/>
            </a:pPr>
            <a:r>
              <a:rPr lang="en-US" sz="4000" b="1" dirty="0">
                <a:solidFill>
                  <a:srgbClr val="CF3338"/>
                </a:solidFill>
                <a:latin typeface="Arial Black" pitchFamily="34" charset="0"/>
                <a:ea typeface="Arial Black" pitchFamily="34" charset="-122"/>
                <a:cs typeface="Arial Black" pitchFamily="34" charset="-120"/>
              </a:rPr>
              <a:t>Claude vs Copilot for Excel</a:t>
            </a:r>
            <a:endParaRPr lang="en-US" sz="4000" dirty="0"/>
          </a:p>
        </p:txBody>
      </p:sp>
      <p:sp>
        <p:nvSpPr>
          <p:cNvPr id="3" name="Text 1"/>
          <p:cNvSpPr/>
          <p:nvPr/>
        </p:nvSpPr>
        <p:spPr>
          <a:xfrm>
            <a:off x="731520" y="2743200"/>
            <a:ext cx="5486400" cy="548640"/>
          </a:xfrm>
          <a:prstGeom prst="rect">
            <a:avLst/>
          </a:prstGeom>
          <a:noFill/>
          <a:ln/>
        </p:spPr>
        <p:txBody>
          <a:bodyPr wrap="square" rtlCol="0" anchor="ctr"/>
          <a:lstStyle/>
          <a:p>
            <a:pPr marL="0" indent="0">
              <a:buNone/>
            </a:pPr>
            <a:r>
              <a:rPr lang="en-US" sz="2000" i="1" dirty="0">
                <a:solidFill>
                  <a:srgbClr val="1F2120"/>
                </a:solidFill>
                <a:latin typeface="Arial" pitchFamily="34" charset="0"/>
                <a:ea typeface="Arial" pitchFamily="34" charset="-122"/>
                <a:cs typeface="Arial" pitchFamily="34" charset="-120"/>
              </a:rPr>
              <a:t>A Practical Comparison for Analysts</a:t>
            </a:r>
            <a:endParaRPr lang="en-US" sz="2000" dirty="0"/>
          </a:p>
        </p:txBody>
      </p:sp>
      <p:sp>
        <p:nvSpPr>
          <p:cNvPr id="4" name="Text 2"/>
          <p:cNvSpPr/>
          <p:nvPr/>
        </p:nvSpPr>
        <p:spPr>
          <a:xfrm>
            <a:off x="731520" y="3474720"/>
            <a:ext cx="4572000" cy="365760"/>
          </a:xfrm>
          <a:prstGeom prst="rect">
            <a:avLst/>
          </a:prstGeom>
          <a:noFill/>
          <a:ln/>
        </p:spPr>
        <p:txBody>
          <a:bodyPr wrap="square" rtlCol="0" anchor="ctr"/>
          <a:lstStyle/>
          <a:p>
            <a:pPr marL="0" indent="0">
              <a:buNone/>
            </a:pPr>
            <a:r>
              <a:rPr lang="en-US" sz="1400" dirty="0">
                <a:solidFill>
                  <a:srgbClr val="707070"/>
                </a:solidFill>
                <a:latin typeface="Arial" pitchFamily="34" charset="0"/>
                <a:ea typeface="Arial" pitchFamily="34" charset="-122"/>
                <a:cs typeface="Arial" pitchFamily="34" charset="-120"/>
              </a:rPr>
              <a:t>George Mount | Stringfest Analytics</a:t>
            </a:r>
            <a:endParaRPr lang="en-US" sz="1400" dirty="0"/>
          </a:p>
        </p:txBody>
      </p:sp>
      <p:sp>
        <p:nvSpPr>
          <p:cNvPr id="5" name="Text 3"/>
          <p:cNvSpPr/>
          <p:nvPr/>
        </p:nvSpPr>
        <p:spPr>
          <a:xfrm>
            <a:off x="731520" y="3840480"/>
            <a:ext cx="5486400" cy="365760"/>
          </a:xfrm>
          <a:prstGeom prst="rect">
            <a:avLst/>
          </a:prstGeom>
          <a:noFill/>
          <a:ln/>
        </p:spPr>
        <p:txBody>
          <a:bodyPr wrap="square" rtlCol="0" anchor="ctr"/>
          <a:lstStyle/>
          <a:p>
            <a:pPr marL="0" indent="0">
              <a:buNone/>
            </a:pPr>
            <a:r>
              <a:rPr lang="en-US" sz="1100" dirty="0">
                <a:solidFill>
                  <a:srgbClr val="707070"/>
                </a:solidFill>
                <a:latin typeface="Arial" pitchFamily="34" charset="0"/>
                <a:ea typeface="Arial" pitchFamily="34" charset="-122"/>
                <a:cs typeface="Arial" pitchFamily="34" charset="-120"/>
              </a:rPr>
              <a:t>Microsoft Excel MVP | LinkedIn Learning Instructor | O'Reilly Author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731520"/>
          </a:xfrm>
          <a:prstGeom prst="rect">
            <a:avLst/>
          </a:prstGeom>
          <a:noFill/>
          <a:ln/>
        </p:spPr>
        <p:txBody>
          <a:bodyPr wrap="square" rtlCol="0" anchor="ctr"/>
          <a:lstStyle/>
          <a:p>
            <a:pPr marL="0" indent="0">
              <a:buNone/>
            </a:pPr>
            <a:r>
              <a:rPr lang="en-US" sz="3200" b="1" dirty="0">
                <a:solidFill>
                  <a:srgbClr val="CF3338"/>
                </a:solidFill>
                <a:latin typeface="Arial Black" pitchFamily="34" charset="0"/>
                <a:ea typeface="Arial Black" pitchFamily="34" charset="-122"/>
                <a:cs typeface="Arial Black" pitchFamily="34" charset="-120"/>
              </a:rPr>
              <a:t>About Me</a:t>
            </a:r>
            <a:endParaRPr lang="en-US" sz="3200" dirty="0"/>
          </a:p>
        </p:txBody>
      </p:sp>
      <p:sp>
        <p:nvSpPr>
          <p:cNvPr id="3" name="Text 1"/>
          <p:cNvSpPr/>
          <p:nvPr/>
        </p:nvSpPr>
        <p:spPr>
          <a:xfrm>
            <a:off x="731520" y="1143000"/>
            <a:ext cx="7772400" cy="3474720"/>
          </a:xfrm>
          <a:prstGeom prst="rect">
            <a:avLst/>
          </a:prstGeom>
          <a:noFill/>
          <a:ln/>
        </p:spPr>
        <p:txBody>
          <a:bodyPr wrap="square" rtlCol="0" anchor="t"/>
          <a:lstStyle/>
          <a:p>
            <a:pPr marL="0" indent="0">
              <a:spcAft>
                <a:spcPts val="200"/>
              </a:spcAft>
              <a:buNone/>
            </a:pPr>
            <a:r>
              <a:rPr lang="en-US" sz="2200" b="1" dirty="0">
                <a:solidFill>
                  <a:srgbClr val="CF3338"/>
                </a:solidFill>
                <a:latin typeface="Arial" pitchFamily="34" charset="0"/>
              </a:rPr>
              <a:t>George J. Mount</a:t>
            </a:r>
          </a:p>
          <a:p>
            <a:pPr marL="0" indent="0">
              <a:spcAft>
                <a:spcPts val="800"/>
              </a:spcAft>
              <a:buNone/>
            </a:pPr>
            <a:r>
              <a:rPr lang="en-US" sz="1400" dirty="0">
                <a:solidFill>
                  <a:srgbClr val="707070"/>
                </a:solidFill>
                <a:latin typeface="Arial" pitchFamily="34" charset="0"/>
              </a:rPr>
              <a:t>Stringfest Analytics | Modern Excel + AI systems that make your analysts faster, smarter, and more reliable</a:t>
            </a:r>
          </a:p>
          <a:p>
            <a:pPr marL="0" indent="0">
              <a:spcAft>
                <a:spcPts val="600"/>
              </a:spcAft>
              <a:buNone/>
            </a:pPr>
            <a:r>
              <a:rPr lang="en-US" sz="1400" dirty="0">
                <a:solidFill>
                  <a:srgbClr val="1F2120"/>
                </a:solidFill>
                <a:latin typeface="Arial" pitchFamily="34" charset="0"/>
              </a:rPr>
              <a:t>I am an O’Reilly author, a Microsoft MVP, and a LinkedIn Learning instructor.</a:t>
            </a:r>
          </a:p>
          <a:p>
            <a:pPr marL="0" indent="0">
              <a:spcAft>
                <a:spcPts val="600"/>
              </a:spcAft>
              <a:buNone/>
            </a:pPr>
            <a:r>
              <a:rPr lang="en-US" sz="1400" dirty="0">
                <a:solidFill>
                  <a:srgbClr val="1F2120"/>
                </a:solidFill>
                <a:latin typeface="Arial" pitchFamily="34" charset="0"/>
              </a:rPr>
              <a:t>I help teams modernize the way they use Excel. When you combine Excel with tools your organization already has like Python, Copilot, Power Query, and Power Automate, you get faster analysis, fewer errors, stronger documentation, and workflows that scale.</a:t>
            </a:r>
          </a:p>
          <a:p>
            <a:pPr marL="0" indent="0">
              <a:spcAft>
                <a:spcPts val="600"/>
              </a:spcAft>
              <a:buNone/>
            </a:pPr>
            <a:r>
              <a:rPr lang="en-US" sz="1400" dirty="0">
                <a:solidFill>
                  <a:srgbClr val="1F2120"/>
                </a:solidFill>
                <a:latin typeface="Arial" pitchFamily="34" charset="0"/>
              </a:rPr>
              <a:t>My goal is to help your analysts work with clarity and confidence, spend less time fighting spreadsheets, and finish the day with less stress and more control over their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731520"/>
          </a:xfrm>
          <a:prstGeom prst="rect">
            <a:avLst/>
          </a:prstGeom>
          <a:noFill/>
          <a:ln/>
        </p:spPr>
        <p:txBody>
          <a:bodyPr wrap="square" rtlCol="0" anchor="ctr"/>
          <a:lstStyle/>
          <a:p>
            <a:pPr marL="0" indent="0">
              <a:buNone/>
            </a:pPr>
            <a:r>
              <a:rPr lang="en-US" sz="3200" b="1" dirty="0">
                <a:solidFill>
                  <a:srgbClr val="1F2120"/>
                </a:solidFill>
                <a:latin typeface="Arial Black" pitchFamily="34" charset="0"/>
                <a:ea typeface="Arial Black" pitchFamily="34" charset="-122"/>
                <a:cs typeface="Arial Black" pitchFamily="34" charset="-120"/>
              </a:rPr>
              <a:t>Session Roadmap</a:t>
            </a:r>
            <a:endParaRPr lang="en-US" sz="3200" dirty="0"/>
          </a:p>
        </p:txBody>
      </p:sp>
      <p:pic>
        <p:nvPicPr>
          <p:cNvPr id="3" name="Image 0" descr="preencoded.png"/>
          <p:cNvPicPr>
            <a:picLocks noChangeAspect="1"/>
          </p:cNvPicPr>
          <p:nvPr/>
        </p:nvPicPr>
        <p:blipFill>
          <a:blip r:embed="rId3"/>
          <a:stretch>
            <a:fillRect/>
          </a:stretch>
        </p:blipFill>
        <p:spPr>
          <a:xfrm>
            <a:off x="822960" y="1280160"/>
            <a:ext cx="320040" cy="320040"/>
          </a:xfrm>
          <a:prstGeom prst="rect">
            <a:avLst/>
          </a:prstGeom>
        </p:spPr>
      </p:pic>
      <p:sp>
        <p:nvSpPr>
          <p:cNvPr id="4" name="Text 1"/>
          <p:cNvSpPr/>
          <p:nvPr/>
        </p:nvSpPr>
        <p:spPr>
          <a:xfrm>
            <a:off x="1371600" y="1234440"/>
            <a:ext cx="274320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The Landscape</a:t>
            </a:r>
            <a:endParaRPr lang="en-US" sz="1500" dirty="0"/>
          </a:p>
        </p:txBody>
      </p:sp>
      <p:sp>
        <p:nvSpPr>
          <p:cNvPr id="5" name="Text 2"/>
          <p:cNvSpPr/>
          <p:nvPr/>
        </p:nvSpPr>
        <p:spPr>
          <a:xfrm>
            <a:off x="4114800" y="1234440"/>
            <a:ext cx="4114800" cy="41148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What's available and why it's confusing</a:t>
            </a:r>
            <a:endParaRPr lang="en-US" sz="1300" dirty="0"/>
          </a:p>
        </p:txBody>
      </p:sp>
      <p:pic>
        <p:nvPicPr>
          <p:cNvPr id="6" name="Image 1" descr="preencoded.png"/>
          <p:cNvPicPr>
            <a:picLocks noChangeAspect="1"/>
          </p:cNvPicPr>
          <p:nvPr/>
        </p:nvPicPr>
        <p:blipFill>
          <a:blip r:embed="rId4"/>
          <a:stretch>
            <a:fillRect/>
          </a:stretch>
        </p:blipFill>
        <p:spPr>
          <a:xfrm>
            <a:off x="822960" y="1874520"/>
            <a:ext cx="320040" cy="320040"/>
          </a:xfrm>
          <a:prstGeom prst="rect">
            <a:avLst/>
          </a:prstGeom>
        </p:spPr>
      </p:pic>
      <p:sp>
        <p:nvSpPr>
          <p:cNvPr id="7" name="Text 3"/>
          <p:cNvSpPr/>
          <p:nvPr/>
        </p:nvSpPr>
        <p:spPr>
          <a:xfrm>
            <a:off x="1371600" y="1828800"/>
            <a:ext cx="274320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Setup + First Look</a:t>
            </a:r>
            <a:endParaRPr lang="en-US" sz="1500" dirty="0"/>
          </a:p>
        </p:txBody>
      </p:sp>
      <p:sp>
        <p:nvSpPr>
          <p:cNvPr id="8" name="Text 4"/>
          <p:cNvSpPr/>
          <p:nvPr/>
        </p:nvSpPr>
        <p:spPr>
          <a:xfrm>
            <a:off x="4114800" y="1828800"/>
            <a:ext cx="4114800" cy="41148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How each tool works inside Excel</a:t>
            </a:r>
            <a:endParaRPr lang="en-US" sz="1300" dirty="0"/>
          </a:p>
        </p:txBody>
      </p:sp>
      <p:pic>
        <p:nvPicPr>
          <p:cNvPr id="9" name="Image 2" descr="preencoded.png"/>
          <p:cNvPicPr>
            <a:picLocks noChangeAspect="1"/>
          </p:cNvPicPr>
          <p:nvPr/>
        </p:nvPicPr>
        <p:blipFill>
          <a:blip r:embed="rId5"/>
          <a:stretch>
            <a:fillRect/>
          </a:stretch>
        </p:blipFill>
        <p:spPr>
          <a:xfrm>
            <a:off x="822960" y="2468880"/>
            <a:ext cx="320040" cy="320040"/>
          </a:xfrm>
          <a:prstGeom prst="rect">
            <a:avLst/>
          </a:prstGeom>
        </p:spPr>
      </p:pic>
      <p:sp>
        <p:nvSpPr>
          <p:cNvPr id="10" name="Text 5"/>
          <p:cNvSpPr/>
          <p:nvPr/>
        </p:nvSpPr>
        <p:spPr>
          <a:xfrm>
            <a:off x="1371600" y="2423160"/>
            <a:ext cx="274320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Live Demos</a:t>
            </a:r>
            <a:endParaRPr lang="en-US" sz="1500" dirty="0"/>
          </a:p>
        </p:txBody>
      </p:sp>
      <p:sp>
        <p:nvSpPr>
          <p:cNvPr id="11" name="Text 6"/>
          <p:cNvSpPr/>
          <p:nvPr/>
        </p:nvSpPr>
        <p:spPr>
          <a:xfrm>
            <a:off x="4114800" y="2423160"/>
            <a:ext cx="4114800" cy="41148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Same data, same prompts, different tools</a:t>
            </a:r>
            <a:endParaRPr lang="en-US" sz="1300" dirty="0"/>
          </a:p>
        </p:txBody>
      </p:sp>
      <p:pic>
        <p:nvPicPr>
          <p:cNvPr id="12" name="Image 3" descr="preencoded.png"/>
          <p:cNvPicPr>
            <a:picLocks noChangeAspect="1"/>
          </p:cNvPicPr>
          <p:nvPr/>
        </p:nvPicPr>
        <p:blipFill>
          <a:blip r:embed="rId6"/>
          <a:stretch>
            <a:fillRect/>
          </a:stretch>
        </p:blipFill>
        <p:spPr>
          <a:xfrm>
            <a:off x="822960" y="3063240"/>
            <a:ext cx="320040" cy="320040"/>
          </a:xfrm>
          <a:prstGeom prst="rect">
            <a:avLst/>
          </a:prstGeom>
        </p:spPr>
      </p:pic>
      <p:sp>
        <p:nvSpPr>
          <p:cNvPr id="13" name="Text 7"/>
          <p:cNvSpPr/>
          <p:nvPr/>
        </p:nvSpPr>
        <p:spPr>
          <a:xfrm>
            <a:off x="1371600" y="3017520"/>
            <a:ext cx="274320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The Spec Sheet</a:t>
            </a:r>
            <a:endParaRPr lang="en-US" sz="1500" dirty="0"/>
          </a:p>
        </p:txBody>
      </p:sp>
      <p:sp>
        <p:nvSpPr>
          <p:cNvPr id="14" name="Text 8"/>
          <p:cNvSpPr/>
          <p:nvPr/>
        </p:nvSpPr>
        <p:spPr>
          <a:xfrm>
            <a:off x="4114800" y="3017520"/>
            <a:ext cx="4114800" cy="41148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Feature-by-feature comparison</a:t>
            </a:r>
            <a:endParaRPr lang="en-US" sz="1300" dirty="0"/>
          </a:p>
        </p:txBody>
      </p:sp>
      <p:pic>
        <p:nvPicPr>
          <p:cNvPr id="15" name="Image 4" descr="preencoded.png"/>
          <p:cNvPicPr>
            <a:picLocks noChangeAspect="1"/>
          </p:cNvPicPr>
          <p:nvPr/>
        </p:nvPicPr>
        <p:blipFill>
          <a:blip r:embed="rId7"/>
          <a:stretch>
            <a:fillRect/>
          </a:stretch>
        </p:blipFill>
        <p:spPr>
          <a:xfrm>
            <a:off x="822960" y="3657600"/>
            <a:ext cx="320040" cy="320040"/>
          </a:xfrm>
          <a:prstGeom prst="rect">
            <a:avLst/>
          </a:prstGeom>
        </p:spPr>
      </p:pic>
      <p:sp>
        <p:nvSpPr>
          <p:cNvPr id="16" name="Text 9"/>
          <p:cNvSpPr/>
          <p:nvPr/>
        </p:nvSpPr>
        <p:spPr>
          <a:xfrm>
            <a:off x="1371600" y="3611880"/>
            <a:ext cx="274320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Universal Principles</a:t>
            </a:r>
            <a:endParaRPr lang="en-US" sz="1500" dirty="0"/>
          </a:p>
        </p:txBody>
      </p:sp>
      <p:sp>
        <p:nvSpPr>
          <p:cNvPr id="17" name="Text 10"/>
          <p:cNvSpPr/>
          <p:nvPr/>
        </p:nvSpPr>
        <p:spPr>
          <a:xfrm>
            <a:off x="4114800" y="3611880"/>
            <a:ext cx="4114800" cy="41148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What works in any AI tool</a:t>
            </a:r>
            <a:endParaRPr lang="en-US" sz="1300" dirty="0"/>
          </a:p>
        </p:txBody>
      </p:sp>
      <p:pic>
        <p:nvPicPr>
          <p:cNvPr id="18" name="Image 5" descr="preencoded.png"/>
          <p:cNvPicPr>
            <a:picLocks noChangeAspect="1"/>
          </p:cNvPicPr>
          <p:nvPr/>
        </p:nvPicPr>
        <p:blipFill>
          <a:blip r:embed="rId8"/>
          <a:stretch>
            <a:fillRect/>
          </a:stretch>
        </p:blipFill>
        <p:spPr>
          <a:xfrm>
            <a:off x="822960" y="4251960"/>
            <a:ext cx="320040" cy="320040"/>
          </a:xfrm>
          <a:prstGeom prst="rect">
            <a:avLst/>
          </a:prstGeom>
        </p:spPr>
      </p:pic>
      <p:sp>
        <p:nvSpPr>
          <p:cNvPr id="19" name="Text 11"/>
          <p:cNvSpPr/>
          <p:nvPr/>
        </p:nvSpPr>
        <p:spPr>
          <a:xfrm>
            <a:off x="1371600" y="4206240"/>
            <a:ext cx="274320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The Buying Decision</a:t>
            </a:r>
            <a:endParaRPr lang="en-US" sz="1500" dirty="0"/>
          </a:p>
        </p:txBody>
      </p:sp>
      <p:sp>
        <p:nvSpPr>
          <p:cNvPr id="20" name="Text 12"/>
          <p:cNvSpPr/>
          <p:nvPr/>
        </p:nvSpPr>
        <p:spPr>
          <a:xfrm>
            <a:off x="4114800" y="4206240"/>
            <a:ext cx="4114800" cy="41148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How to choose for your workflow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914400" y="1371600"/>
            <a:ext cx="7315200" cy="1371600"/>
          </a:xfrm>
          <a:prstGeom prst="rect">
            <a:avLst/>
          </a:prstGeom>
          <a:noFill/>
          <a:ln/>
        </p:spPr>
        <p:txBody>
          <a:bodyPr wrap="square" rtlCol="0" anchor="ctr"/>
          <a:lstStyle/>
          <a:p>
            <a:pPr marL="0" indent="0" algn="ctr">
              <a:buNone/>
            </a:pPr>
            <a:r>
              <a:rPr lang="en-US" sz="3600" b="1" dirty="0">
                <a:solidFill>
                  <a:srgbClr val="CF3338"/>
                </a:solidFill>
                <a:latin typeface="Arial Black" pitchFamily="34" charset="0"/>
                <a:ea typeface="Arial Black" pitchFamily="34" charset="-122"/>
                <a:cs typeface="Arial Black" pitchFamily="34" charset="-120"/>
              </a:rPr>
              <a:t>Why This Comparison Matters</a:t>
            </a:r>
            <a:endParaRPr lang="en-US" sz="3600" dirty="0"/>
          </a:p>
        </p:txBody>
      </p:sp>
      <p:sp>
        <p:nvSpPr>
          <p:cNvPr id="3" name="Text 1"/>
          <p:cNvSpPr/>
          <p:nvPr/>
        </p:nvSpPr>
        <p:spPr>
          <a:xfrm>
            <a:off x="1371600" y="2926080"/>
            <a:ext cx="6400800" cy="1097280"/>
          </a:xfrm>
          <a:prstGeom prst="rect">
            <a:avLst/>
          </a:prstGeom>
          <a:noFill/>
          <a:ln/>
        </p:spPr>
        <p:txBody>
          <a:bodyPr wrap="square" rtlCol="0" anchor="ctr"/>
          <a:lstStyle/>
          <a:p>
            <a:pPr marL="0" indent="0" algn="ctr">
              <a:lnSpc>
                <a:spcPct val="140000"/>
              </a:lnSpc>
              <a:buNone/>
            </a:pPr>
            <a:r>
              <a:rPr lang="en-US" sz="1600" dirty="0">
                <a:solidFill>
                  <a:srgbClr val="707070"/>
                </a:solidFill>
                <a:latin typeface="Arial" pitchFamily="34" charset="0"/>
                <a:ea typeface="Arial" pitchFamily="34" charset="-122"/>
                <a:cs typeface="Arial" pitchFamily="34" charset="-120"/>
              </a:rPr>
              <a:t>Multiple AI options are now available inside Excel.</a:t>
            </a:r>
            <a:endParaRPr lang="en-US" sz="1600" dirty="0"/>
          </a:p>
          <a:p>
            <a:pPr marL="0" indent="0" algn="ctr">
              <a:lnSpc>
                <a:spcPct val="140000"/>
              </a:lnSpc>
              <a:buNone/>
            </a:pPr>
            <a:r>
              <a:rPr lang="en-US" sz="1600" dirty="0">
                <a:solidFill>
                  <a:srgbClr val="707070"/>
                </a:solidFill>
                <a:latin typeface="Arial" pitchFamily="34" charset="0"/>
                <a:ea typeface="Arial" pitchFamily="34" charset="-122"/>
                <a:cs typeface="Arial" pitchFamily="34" charset="-120"/>
              </a:rPr>
              <a:t>But which one do you need?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731520"/>
          </a:xfrm>
          <a:prstGeom prst="rect">
            <a:avLst/>
          </a:prstGeom>
          <a:noFill/>
          <a:ln/>
        </p:spPr>
        <p:txBody>
          <a:bodyPr wrap="square" rtlCol="0" anchor="ctr"/>
          <a:lstStyle/>
          <a:p>
            <a:pPr marL="0" indent="0">
              <a:buNone/>
            </a:pPr>
            <a:r>
              <a:rPr lang="en-US" sz="3200" b="1" dirty="0">
                <a:solidFill>
                  <a:srgbClr val="1F2120"/>
                </a:solidFill>
                <a:latin typeface="Arial Black" pitchFamily="34" charset="0"/>
                <a:ea typeface="Arial Black" pitchFamily="34" charset="-122"/>
                <a:cs typeface="Arial Black" pitchFamily="34" charset="-120"/>
              </a:rPr>
              <a:t>The Current Landscape</a:t>
            </a:r>
            <a:endParaRPr lang="en-US" sz="3200" dirty="0"/>
          </a:p>
        </p:txBody>
      </p:sp>
      <p:sp>
        <p:nvSpPr>
          <p:cNvPr id="3" name="Shape 1"/>
          <p:cNvSpPr/>
          <p:nvPr/>
        </p:nvSpPr>
        <p:spPr>
          <a:xfrm>
            <a:off x="457200" y="1280160"/>
            <a:ext cx="2606040" cy="32004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457200" y="1280160"/>
            <a:ext cx="2606040" cy="54864"/>
          </a:xfrm>
          <a:prstGeom prst="rect">
            <a:avLst/>
          </a:prstGeom>
          <a:solidFill>
            <a:srgbClr val="CF3338"/>
          </a:solidFill>
          <a:ln/>
        </p:spPr>
        <p:txBody>
          <a:bodyPr/>
          <a:lstStyle/>
          <a:p>
            <a:endParaRPr lang="en-US"/>
          </a:p>
        </p:txBody>
      </p:sp>
      <p:sp>
        <p:nvSpPr>
          <p:cNvPr id="5" name="Text 3"/>
          <p:cNvSpPr/>
          <p:nvPr/>
        </p:nvSpPr>
        <p:spPr>
          <a:xfrm>
            <a:off x="640080" y="1417320"/>
            <a:ext cx="224028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Microsoft Copilot</a:t>
            </a:r>
            <a:endParaRPr lang="en-US" sz="1500" dirty="0"/>
          </a:p>
        </p:txBody>
      </p:sp>
      <p:sp>
        <p:nvSpPr>
          <p:cNvPr id="6" name="Text 4"/>
          <p:cNvSpPr/>
          <p:nvPr/>
        </p:nvSpPr>
        <p:spPr>
          <a:xfrm>
            <a:off x="640080" y="1783080"/>
            <a:ext cx="2240280" cy="320040"/>
          </a:xfrm>
          <a:prstGeom prst="rect">
            <a:avLst/>
          </a:prstGeom>
          <a:noFill/>
          <a:ln/>
        </p:spPr>
        <p:txBody>
          <a:bodyPr wrap="square" lIns="0" tIns="0" rIns="0" bIns="0" rtlCol="0" anchor="ctr"/>
          <a:lstStyle/>
          <a:p>
            <a:pPr marL="0" indent="0">
              <a:buNone/>
            </a:pPr>
            <a:r>
              <a:rPr lang="en-US" sz="1000" i="1" dirty="0">
                <a:solidFill>
                  <a:srgbClr val="707070"/>
                </a:solidFill>
                <a:latin typeface="Arial" pitchFamily="34" charset="0"/>
                <a:ea typeface="Arial" pitchFamily="34" charset="-122"/>
                <a:cs typeface="Arial" pitchFamily="34" charset="-120"/>
              </a:rPr>
              <a:t>Built into Microsoft 365</a:t>
            </a:r>
            <a:endParaRPr lang="en-US" sz="1000" dirty="0"/>
          </a:p>
        </p:txBody>
      </p:sp>
      <p:sp>
        <p:nvSpPr>
          <p:cNvPr id="7" name="Text 5"/>
          <p:cNvSpPr/>
          <p:nvPr/>
        </p:nvSpPr>
        <p:spPr>
          <a:xfrm>
            <a:off x="640080" y="2194560"/>
            <a:ext cx="2240280" cy="2103120"/>
          </a:xfrm>
          <a:prstGeom prst="rect">
            <a:avLst/>
          </a:prstGeom>
          <a:noFill/>
          <a:ln/>
        </p:spPr>
        <p:txBody>
          <a:bodyPr wrap="square" rtlCol="0" anchor="ctr"/>
          <a:lstStyle/>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Native Excel integration</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Multiple model options</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Paid M365 add-on (~$30/user/mo)</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Edit-with-Copilot in cells</a:t>
            </a:r>
            <a:endParaRPr lang="en-US" sz="1100" dirty="0"/>
          </a:p>
        </p:txBody>
      </p:sp>
      <p:sp>
        <p:nvSpPr>
          <p:cNvPr id="8" name="Shape 6"/>
          <p:cNvSpPr/>
          <p:nvPr/>
        </p:nvSpPr>
        <p:spPr>
          <a:xfrm>
            <a:off x="3246120" y="1280160"/>
            <a:ext cx="2606040" cy="32004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46120" y="1280160"/>
            <a:ext cx="2606040" cy="54864"/>
          </a:xfrm>
          <a:prstGeom prst="rect">
            <a:avLst/>
          </a:prstGeom>
          <a:solidFill>
            <a:srgbClr val="CF3338"/>
          </a:solidFill>
          <a:ln/>
        </p:spPr>
        <p:txBody>
          <a:bodyPr/>
          <a:lstStyle/>
          <a:p>
            <a:endParaRPr lang="en-US"/>
          </a:p>
        </p:txBody>
      </p:sp>
      <p:sp>
        <p:nvSpPr>
          <p:cNvPr id="10" name="Text 8"/>
          <p:cNvSpPr/>
          <p:nvPr/>
        </p:nvSpPr>
        <p:spPr>
          <a:xfrm>
            <a:off x="3429000" y="1417320"/>
            <a:ext cx="224028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Claude Add-in</a:t>
            </a:r>
            <a:endParaRPr lang="en-US" sz="1500" dirty="0"/>
          </a:p>
        </p:txBody>
      </p:sp>
      <p:sp>
        <p:nvSpPr>
          <p:cNvPr id="11" name="Text 9"/>
          <p:cNvSpPr/>
          <p:nvPr/>
        </p:nvSpPr>
        <p:spPr>
          <a:xfrm>
            <a:off x="3429000" y="1783080"/>
            <a:ext cx="2240280" cy="320040"/>
          </a:xfrm>
          <a:prstGeom prst="rect">
            <a:avLst/>
          </a:prstGeom>
          <a:noFill/>
          <a:ln/>
        </p:spPr>
        <p:txBody>
          <a:bodyPr wrap="square" lIns="0" tIns="0" rIns="0" bIns="0" rtlCol="0" anchor="ctr"/>
          <a:lstStyle/>
          <a:p>
            <a:pPr marL="0" indent="0">
              <a:buNone/>
            </a:pPr>
            <a:r>
              <a:rPr lang="en-US" sz="1000" i="1" dirty="0">
                <a:solidFill>
                  <a:srgbClr val="707070"/>
                </a:solidFill>
                <a:latin typeface="Arial" pitchFamily="34" charset="0"/>
                <a:ea typeface="Arial" pitchFamily="34" charset="-122"/>
                <a:cs typeface="Arial" pitchFamily="34" charset="-120"/>
              </a:rPr>
              <a:t>Anthropic's Excel add-in</a:t>
            </a:r>
            <a:endParaRPr lang="en-US" sz="1000" dirty="0"/>
          </a:p>
        </p:txBody>
      </p:sp>
      <p:sp>
        <p:nvSpPr>
          <p:cNvPr id="12" name="Text 10"/>
          <p:cNvSpPr/>
          <p:nvPr/>
        </p:nvSpPr>
        <p:spPr>
          <a:xfrm>
            <a:off x="3429000" y="2194560"/>
            <a:ext cx="2240280" cy="2103120"/>
          </a:xfrm>
          <a:prstGeom prst="rect">
            <a:avLst/>
          </a:prstGeom>
          <a:noFill/>
          <a:ln/>
        </p:spPr>
        <p:txBody>
          <a:bodyPr wrap="square" rtlCol="0" anchor="ctr"/>
          <a:lstStyle/>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Third-party add-in</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Claude models only</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Separate subscription</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Side panel interface</a:t>
            </a:r>
            <a:endParaRPr lang="en-US" sz="1100" dirty="0"/>
          </a:p>
        </p:txBody>
      </p:sp>
      <p:sp>
        <p:nvSpPr>
          <p:cNvPr id="13" name="Shape 11"/>
          <p:cNvSpPr/>
          <p:nvPr/>
        </p:nvSpPr>
        <p:spPr>
          <a:xfrm>
            <a:off x="6035040" y="1280160"/>
            <a:ext cx="2606040" cy="32004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6035040" y="1280160"/>
            <a:ext cx="2606040" cy="54864"/>
          </a:xfrm>
          <a:prstGeom prst="rect">
            <a:avLst/>
          </a:prstGeom>
          <a:solidFill>
            <a:srgbClr val="CF3338"/>
          </a:solidFill>
          <a:ln/>
        </p:spPr>
        <p:txBody>
          <a:bodyPr/>
          <a:lstStyle/>
          <a:p>
            <a:endParaRPr lang="en-US"/>
          </a:p>
        </p:txBody>
      </p:sp>
      <p:sp>
        <p:nvSpPr>
          <p:cNvPr id="15" name="Text 13"/>
          <p:cNvSpPr/>
          <p:nvPr/>
        </p:nvSpPr>
        <p:spPr>
          <a:xfrm>
            <a:off x="6217920" y="1417320"/>
            <a:ext cx="2240280" cy="411480"/>
          </a:xfrm>
          <a:prstGeom prst="rect">
            <a:avLst/>
          </a:prstGeom>
          <a:noFill/>
          <a:ln/>
        </p:spPr>
        <p:txBody>
          <a:bodyPr wrap="square" lIns="0" tIns="0" rIns="0" bIns="0" rtlCol="0" anchor="ctr"/>
          <a:lstStyle/>
          <a:p>
            <a:pPr marL="0" indent="0">
              <a:buNone/>
            </a:pPr>
            <a:r>
              <a:rPr lang="en-US" sz="1500" b="1" dirty="0">
                <a:solidFill>
                  <a:srgbClr val="1F2120"/>
                </a:solidFill>
                <a:latin typeface="Arial Black" pitchFamily="34" charset="0"/>
                <a:ea typeface="Arial Black" pitchFamily="34" charset="-122"/>
                <a:cs typeface="Arial Black" pitchFamily="34" charset="-120"/>
              </a:rPr>
              <a:t>The Twist</a:t>
            </a:r>
            <a:endParaRPr lang="en-US" sz="1500" dirty="0"/>
          </a:p>
        </p:txBody>
      </p:sp>
      <p:sp>
        <p:nvSpPr>
          <p:cNvPr id="16" name="Text 14"/>
          <p:cNvSpPr/>
          <p:nvPr/>
        </p:nvSpPr>
        <p:spPr>
          <a:xfrm>
            <a:off x="6217920" y="1783080"/>
            <a:ext cx="2240280" cy="320040"/>
          </a:xfrm>
          <a:prstGeom prst="rect">
            <a:avLst/>
          </a:prstGeom>
          <a:noFill/>
          <a:ln/>
        </p:spPr>
        <p:txBody>
          <a:bodyPr wrap="square" lIns="0" tIns="0" rIns="0" bIns="0" rtlCol="0" anchor="ctr"/>
          <a:lstStyle/>
          <a:p>
            <a:pPr marL="0" indent="0">
              <a:buNone/>
            </a:pPr>
            <a:r>
              <a:rPr lang="en-US" sz="1000" i="1" dirty="0">
                <a:solidFill>
                  <a:srgbClr val="707070"/>
                </a:solidFill>
                <a:latin typeface="Arial" pitchFamily="34" charset="0"/>
                <a:ea typeface="Arial" pitchFamily="34" charset="-122"/>
                <a:cs typeface="Arial" pitchFamily="34" charset="-120"/>
              </a:rPr>
              <a:t>Copilot + Claude models</a:t>
            </a:r>
            <a:endParaRPr lang="en-US" sz="1000" dirty="0"/>
          </a:p>
        </p:txBody>
      </p:sp>
      <p:sp>
        <p:nvSpPr>
          <p:cNvPr id="17" name="Text 15"/>
          <p:cNvSpPr/>
          <p:nvPr/>
        </p:nvSpPr>
        <p:spPr>
          <a:xfrm>
            <a:off x="6217920" y="2194560"/>
            <a:ext cx="2240280" cy="2103120"/>
          </a:xfrm>
          <a:prstGeom prst="rect">
            <a:avLst/>
          </a:prstGeom>
          <a:noFill/>
          <a:ln/>
        </p:spPr>
        <p:txBody>
          <a:bodyPr wrap="square" rtlCol="0" anchor="ctr"/>
          <a:lstStyle/>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Premium Copilot can run</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Anthropic models</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Same model, different wrapper</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Different capabilities</a:t>
            </a:r>
            <a:endParaRPr lang="en-US" sz="1100" dirty="0"/>
          </a:p>
          <a:p>
            <a:pPr marL="342900" indent="-342900">
              <a:spcAft>
                <a:spcPts val="400"/>
              </a:spcAft>
              <a:buSzPct val="100000"/>
              <a:buChar char="•"/>
            </a:pPr>
            <a:r>
              <a:rPr lang="en-US" sz="1100" dirty="0">
                <a:solidFill>
                  <a:srgbClr val="707070"/>
                </a:solidFill>
                <a:latin typeface="Arial" pitchFamily="34" charset="0"/>
                <a:ea typeface="Arial" pitchFamily="34" charset="-122"/>
                <a:cs typeface="Arial" pitchFamily="34" charset="-120"/>
              </a:rPr>
              <a:t>Confusing? Yes.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How Each Tool Works Inside Excel</a:t>
            </a:r>
            <a:endParaRPr lang="en-US" sz="2800" dirty="0"/>
          </a:p>
        </p:txBody>
      </p:sp>
      <p:sp>
        <p:nvSpPr>
          <p:cNvPr id="3" name="Shape 1"/>
          <p:cNvSpPr/>
          <p:nvPr/>
        </p:nvSpPr>
        <p:spPr>
          <a:xfrm>
            <a:off x="457200" y="1188720"/>
            <a:ext cx="3931920" cy="3291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457200" y="1188720"/>
            <a:ext cx="73152" cy="3291840"/>
          </a:xfrm>
          <a:prstGeom prst="rect">
            <a:avLst/>
          </a:prstGeom>
          <a:solidFill>
            <a:srgbClr val="CF3338"/>
          </a:solidFill>
          <a:ln/>
        </p:spPr>
        <p:txBody>
          <a:bodyPr/>
          <a:lstStyle/>
          <a:p>
            <a:endParaRPr lang="en-US"/>
          </a:p>
        </p:txBody>
      </p:sp>
      <p:sp>
        <p:nvSpPr>
          <p:cNvPr id="5" name="Text 3"/>
          <p:cNvSpPr/>
          <p:nvPr/>
        </p:nvSpPr>
        <p:spPr>
          <a:xfrm>
            <a:off x="731520" y="1280160"/>
            <a:ext cx="3474720" cy="411480"/>
          </a:xfrm>
          <a:prstGeom prst="rect">
            <a:avLst/>
          </a:prstGeom>
          <a:noFill/>
          <a:ln/>
        </p:spPr>
        <p:txBody>
          <a:bodyPr wrap="square" rtlCol="0" anchor="ctr"/>
          <a:lstStyle/>
          <a:p>
            <a:pPr marL="0" indent="0">
              <a:buNone/>
            </a:pPr>
            <a:r>
              <a:rPr lang="en-US" sz="1800" b="1" dirty="0">
                <a:solidFill>
                  <a:srgbClr val="CF3338"/>
                </a:solidFill>
                <a:latin typeface="Arial Black" pitchFamily="34" charset="0"/>
                <a:ea typeface="Arial Black" pitchFamily="34" charset="-122"/>
                <a:cs typeface="Arial Black" pitchFamily="34" charset="-120"/>
              </a:rPr>
              <a:t>Copilot</a:t>
            </a:r>
            <a:endParaRPr lang="en-US" sz="1800" dirty="0"/>
          </a:p>
        </p:txBody>
      </p:sp>
      <p:sp>
        <p:nvSpPr>
          <p:cNvPr id="6" name="Text 4"/>
          <p:cNvSpPr/>
          <p:nvPr/>
        </p:nvSpPr>
        <p:spPr>
          <a:xfrm>
            <a:off x="731520" y="1737360"/>
            <a:ext cx="347472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Lives in the ribbon and side panel</a:t>
            </a:r>
            <a:endParaRPr lang="en-US" sz="1200" dirty="0"/>
          </a:p>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"Edit with Copilot" toggle enables direct cell editing</a:t>
            </a:r>
            <a:endParaRPr lang="en-US" sz="1200" dirty="0"/>
          </a:p>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Model selector under the three-dot menu</a:t>
            </a:r>
            <a:endParaRPr lang="en-US" sz="1200" dirty="0"/>
          </a:p>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Works with your existing tables natively</a:t>
            </a:r>
            <a:endParaRPr lang="en-US" sz="1200" dirty="0"/>
          </a:p>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Changes appear inline, no separate approval step</a:t>
            </a:r>
            <a:endParaRPr lang="en-US" sz="1200" dirty="0"/>
          </a:p>
        </p:txBody>
      </p:sp>
      <p:sp>
        <p:nvSpPr>
          <p:cNvPr id="7" name="Shape 5"/>
          <p:cNvSpPr/>
          <p:nvPr/>
        </p:nvSpPr>
        <p:spPr>
          <a:xfrm>
            <a:off x="4754880" y="1188720"/>
            <a:ext cx="3931920" cy="3291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1188720"/>
            <a:ext cx="73152" cy="3291840"/>
          </a:xfrm>
          <a:prstGeom prst="rect">
            <a:avLst/>
          </a:prstGeom>
          <a:solidFill>
            <a:srgbClr val="CF3338"/>
          </a:solidFill>
          <a:ln/>
        </p:spPr>
        <p:txBody>
          <a:bodyPr/>
          <a:lstStyle/>
          <a:p>
            <a:endParaRPr lang="en-US"/>
          </a:p>
        </p:txBody>
      </p:sp>
      <p:sp>
        <p:nvSpPr>
          <p:cNvPr id="9" name="Text 7"/>
          <p:cNvSpPr/>
          <p:nvPr/>
        </p:nvSpPr>
        <p:spPr>
          <a:xfrm>
            <a:off x="5029200" y="1280160"/>
            <a:ext cx="3474720" cy="411480"/>
          </a:xfrm>
          <a:prstGeom prst="rect">
            <a:avLst/>
          </a:prstGeom>
          <a:noFill/>
          <a:ln/>
        </p:spPr>
        <p:txBody>
          <a:bodyPr wrap="square" rtlCol="0" anchor="ctr"/>
          <a:lstStyle/>
          <a:p>
            <a:pPr marL="0" indent="0">
              <a:buNone/>
            </a:pPr>
            <a:r>
              <a:rPr lang="en-US" sz="1800" b="1" dirty="0">
                <a:solidFill>
                  <a:srgbClr val="CF3338"/>
                </a:solidFill>
                <a:latin typeface="Arial Black" pitchFamily="34" charset="0"/>
                <a:ea typeface="Arial Black" pitchFamily="34" charset="-122"/>
                <a:cs typeface="Arial Black" pitchFamily="34" charset="-120"/>
              </a:rPr>
              <a:t>Claude Add-in</a:t>
            </a:r>
            <a:endParaRPr lang="en-US" sz="1800" dirty="0"/>
          </a:p>
        </p:txBody>
      </p:sp>
      <p:sp>
        <p:nvSpPr>
          <p:cNvPr id="10" name="Text 8"/>
          <p:cNvSpPr/>
          <p:nvPr/>
        </p:nvSpPr>
        <p:spPr>
          <a:xfrm>
            <a:off x="5029200" y="1737360"/>
            <a:ext cx="347472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Installed from the Office add-in store</a:t>
            </a:r>
            <a:endParaRPr lang="en-US" sz="1200" dirty="0"/>
          </a:p>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Opens in a side panel</a:t>
            </a:r>
            <a:endParaRPr lang="en-US" sz="1200" dirty="0"/>
          </a:p>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Model selector in the panel header</a:t>
            </a:r>
            <a:endParaRPr lang="en-US" sz="1200" dirty="0"/>
          </a:p>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Asks permission before modifying your data</a:t>
            </a:r>
            <a:endParaRPr lang="en-US" sz="1200" dirty="0"/>
          </a:p>
          <a:p>
            <a:pPr marL="342900" indent="-342900">
              <a:spcAft>
                <a:spcPts val="600"/>
              </a:spcAft>
              <a:buSzPct val="100000"/>
              <a:buChar char="•"/>
            </a:pPr>
            <a:r>
              <a:rPr lang="en-US" sz="1200" dirty="0">
                <a:solidFill>
                  <a:srgbClr val="707070"/>
                </a:solidFill>
                <a:latin typeface="Arial" pitchFamily="34" charset="0"/>
                <a:ea typeface="Arial" pitchFamily="34" charset="-122"/>
                <a:cs typeface="Arial" pitchFamily="34" charset="-120"/>
              </a:rPr>
              <a:t>You approve or deny each change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My Test Dataset</a:t>
            </a:r>
            <a:endParaRPr lang="en-US" sz="2800" dirty="0"/>
          </a:p>
        </p:txBody>
      </p:sp>
      <p:sp>
        <p:nvSpPr>
          <p:cNvPr id="3" name="Shape 1"/>
          <p:cNvSpPr/>
          <p:nvPr/>
        </p:nvSpPr>
        <p:spPr>
          <a:xfrm>
            <a:off x="731520" y="1188720"/>
            <a:ext cx="7680960" cy="1463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731520" y="1188720"/>
            <a:ext cx="73152" cy="1463040"/>
          </a:xfrm>
          <a:prstGeom prst="rect">
            <a:avLst/>
          </a:prstGeom>
          <a:solidFill>
            <a:srgbClr val="CF3338"/>
          </a:solidFill>
          <a:ln/>
        </p:spPr>
        <p:txBody>
          <a:bodyPr/>
          <a:lstStyle/>
          <a:p>
            <a:endParaRPr lang="en-US"/>
          </a:p>
        </p:txBody>
      </p:sp>
      <p:sp>
        <p:nvSpPr>
          <p:cNvPr id="5" name="Text 3"/>
          <p:cNvSpPr/>
          <p:nvPr/>
        </p:nvSpPr>
        <p:spPr>
          <a:xfrm>
            <a:off x="1005840" y="1280160"/>
            <a:ext cx="7132320" cy="1280160"/>
          </a:xfrm>
          <a:prstGeom prst="rect">
            <a:avLst/>
          </a:prstGeom>
          <a:noFill/>
          <a:ln/>
        </p:spPr>
        <p:txBody>
          <a:bodyPr wrap="square" rtlCol="0" anchor="ctr"/>
          <a:lstStyle/>
          <a:p>
            <a:pPr marL="0" indent="0">
              <a:spcAft>
                <a:spcPts val="400"/>
              </a:spcAft>
              <a:buNone/>
            </a:pPr>
            <a:r>
              <a:rPr lang="en-US" sz="1400" b="1" dirty="0">
                <a:solidFill>
                  <a:srgbClr val="707070"/>
                </a:solidFill>
                <a:latin typeface="Arial" pitchFamily="34" charset="0"/>
                <a:ea typeface="Arial" pitchFamily="34" charset="-122"/>
                <a:cs typeface="Arial" pitchFamily="34" charset="-120"/>
              </a:rPr>
              <a:t>Employee expense report | 29 transactions | 3 departments</a:t>
            </a:r>
            <a:endParaRPr lang="en-US" sz="1300" dirty="0"/>
          </a:p>
          <a:p>
            <a:pPr marL="0" indent="0">
              <a:spcAft>
                <a:spcPts val="400"/>
              </a:spcAft>
              <a:buNone/>
            </a:pPr>
            <a:r>
              <a:rPr lang="en-US" sz="1300" dirty="0">
                <a:solidFill>
                  <a:srgbClr val="707070"/>
                </a:solidFill>
                <a:latin typeface="Arial" pitchFamily="34" charset="0"/>
                <a:ea typeface="Arial" pitchFamily="34" charset="-122"/>
                <a:cs typeface="Arial" pitchFamily="34" charset="-120"/>
              </a:rPr>
              <a:t>Columns: Date, Employee, Dept, Vendor, Description, Amount, Category (blank)</a:t>
            </a:r>
            <a:endParaRPr lang="en-US" sz="1300" dirty="0"/>
          </a:p>
          <a:p>
            <a:pPr marL="0" indent="0">
              <a:spcAft>
                <a:spcPts val="400"/>
              </a:spcAft>
              <a:buNone/>
            </a:pPr>
            <a:r>
              <a:rPr lang="en-US" sz="1300" i="1" dirty="0">
                <a:solidFill>
                  <a:srgbClr val="707070"/>
                </a:solidFill>
                <a:latin typeface="Arial" pitchFamily="34" charset="0"/>
                <a:ea typeface="Arial" pitchFamily="34" charset="-122"/>
                <a:cs typeface="Arial" pitchFamily="34" charset="-120"/>
              </a:rPr>
              <a:t>Category column is intentionally empty. The AI fills it in. Includes a few curveballs: a typo, a refund, and an ambiguous entry.</a:t>
            </a:r>
            <a:endParaRPr lang="en-US" sz="1300" dirty="0"/>
          </a:p>
        </p:txBody>
      </p:sp>
      <p:sp>
        <p:nvSpPr>
          <p:cNvPr id="6" name="Text 4"/>
          <p:cNvSpPr/>
          <p:nvPr/>
        </p:nvSpPr>
        <p:spPr>
          <a:xfrm>
            <a:off x="731520" y="2926080"/>
            <a:ext cx="7315200" cy="365760"/>
          </a:xfrm>
          <a:prstGeom prst="rect">
            <a:avLst/>
          </a:prstGeom>
          <a:noFill/>
          <a:ln/>
        </p:spPr>
        <p:txBody>
          <a:bodyPr wrap="square" rtlCol="0" anchor="ctr"/>
          <a:lstStyle/>
          <a:p>
            <a:pPr marL="0" indent="0">
              <a:buNone/>
            </a:pPr>
            <a:r>
              <a:rPr lang="en-US" sz="1600" b="1" dirty="0">
                <a:solidFill>
                  <a:srgbClr val="1F2120"/>
                </a:solidFill>
                <a:latin typeface="Arial Black" pitchFamily="34" charset="0"/>
                <a:ea typeface="Arial Black" pitchFamily="34" charset="-122"/>
                <a:cs typeface="Arial Black" pitchFamily="34" charset="-120"/>
              </a:rPr>
              <a:t>What I'll ask each tool to do:</a:t>
            </a:r>
            <a:endParaRPr lang="en-US" sz="1600" dirty="0"/>
          </a:p>
        </p:txBody>
      </p:sp>
      <p:sp>
        <p:nvSpPr>
          <p:cNvPr id="7" name="Shape 5"/>
          <p:cNvSpPr/>
          <p:nvPr/>
        </p:nvSpPr>
        <p:spPr>
          <a:xfrm>
            <a:off x="731520" y="3383280"/>
            <a:ext cx="3657600" cy="12801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731520" y="3383280"/>
            <a:ext cx="1097280" cy="1280160"/>
          </a:xfrm>
          <a:prstGeom prst="rect">
            <a:avLst/>
          </a:prstGeom>
          <a:solidFill>
            <a:srgbClr val="CF3338"/>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Task 1</a:t>
            </a:r>
            <a:endParaRPr lang="en-US" sz="1400" dirty="0"/>
          </a:p>
        </p:txBody>
      </p:sp>
      <p:sp>
        <p:nvSpPr>
          <p:cNvPr id="9" name="Text 7"/>
          <p:cNvSpPr/>
          <p:nvPr/>
        </p:nvSpPr>
        <p:spPr>
          <a:xfrm>
            <a:off x="1920240" y="3474720"/>
            <a:ext cx="2286000" cy="1097280"/>
          </a:xfrm>
          <a:prstGeom prst="rect">
            <a:avLst/>
          </a:prstGeom>
          <a:noFill/>
          <a:ln/>
        </p:spPr>
        <p:txBody>
          <a:bodyPr wrap="square" rtlCol="0" anchor="ctr"/>
          <a:lstStyle/>
          <a:p>
            <a:pPr marL="0" indent="0">
              <a:lnSpc>
                <a:spcPct val="130000"/>
              </a:lnSpc>
              <a:buNone/>
            </a:pPr>
            <a:r>
              <a:rPr lang="en-US" sz="1200" dirty="0">
                <a:solidFill>
                  <a:srgbClr val="1F2120"/>
                </a:solidFill>
                <a:latin typeface="Arial" pitchFamily="34" charset="0"/>
                <a:ea typeface="Arial" pitchFamily="34" charset="-122"/>
                <a:cs typeface="Arial" pitchFamily="34" charset="-120"/>
              </a:rPr>
              <a:t>Categorize each expense</a:t>
            </a:r>
            <a:endParaRPr lang="en-US" sz="1200" dirty="0"/>
          </a:p>
          <a:p>
            <a:pPr marL="0" indent="0">
              <a:lnSpc>
                <a:spcPct val="130000"/>
              </a:lnSpc>
              <a:buNone/>
            </a:pPr>
            <a:r>
              <a:rPr lang="en-US" sz="1200" dirty="0">
                <a:solidFill>
                  <a:srgbClr val="1F2120"/>
                </a:solidFill>
                <a:latin typeface="Arial" pitchFamily="34" charset="0"/>
                <a:ea typeface="Arial" pitchFamily="34" charset="-122"/>
                <a:cs typeface="Arial" pitchFamily="34" charset="-120"/>
              </a:rPr>
              <a:t>based on vendor and description</a:t>
            </a:r>
            <a:endParaRPr lang="en-US" sz="1200" dirty="0"/>
          </a:p>
        </p:txBody>
      </p:sp>
      <p:sp>
        <p:nvSpPr>
          <p:cNvPr id="10" name="Shape 8"/>
          <p:cNvSpPr/>
          <p:nvPr/>
        </p:nvSpPr>
        <p:spPr>
          <a:xfrm>
            <a:off x="4754880" y="3383280"/>
            <a:ext cx="3657600" cy="12801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4754880" y="3383280"/>
            <a:ext cx="1097280" cy="1280160"/>
          </a:xfrm>
          <a:prstGeom prst="rect">
            <a:avLst/>
          </a:prstGeom>
          <a:solidFill>
            <a:srgbClr val="CF3338"/>
          </a:solid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Task 2</a:t>
            </a:r>
            <a:endParaRPr lang="en-US" sz="1400" dirty="0"/>
          </a:p>
        </p:txBody>
      </p:sp>
      <p:sp>
        <p:nvSpPr>
          <p:cNvPr id="12" name="Text 10"/>
          <p:cNvSpPr/>
          <p:nvPr/>
        </p:nvSpPr>
        <p:spPr>
          <a:xfrm>
            <a:off x="5943600" y="3474720"/>
            <a:ext cx="2286000" cy="1097280"/>
          </a:xfrm>
          <a:prstGeom prst="rect">
            <a:avLst/>
          </a:prstGeom>
          <a:noFill/>
          <a:ln/>
        </p:spPr>
        <p:txBody>
          <a:bodyPr wrap="square" rtlCol="0" anchor="ctr"/>
          <a:lstStyle/>
          <a:p>
            <a:pPr marL="0" indent="0">
              <a:lnSpc>
                <a:spcPct val="130000"/>
              </a:lnSpc>
              <a:buNone/>
            </a:pPr>
            <a:r>
              <a:rPr lang="en-US" sz="1200" dirty="0">
                <a:solidFill>
                  <a:srgbClr val="1F2120"/>
                </a:solidFill>
                <a:latin typeface="Arial" pitchFamily="34" charset="0"/>
                <a:ea typeface="Arial" pitchFamily="34" charset="-122"/>
                <a:cs typeface="Arial" pitchFamily="34" charset="-120"/>
              </a:rPr>
              <a:t>Build a summary report:</a:t>
            </a:r>
            <a:endParaRPr lang="en-US" sz="1200" dirty="0"/>
          </a:p>
          <a:p>
            <a:pPr marL="0" indent="0">
              <a:lnSpc>
                <a:spcPct val="130000"/>
              </a:lnSpc>
              <a:buNone/>
            </a:pPr>
            <a:r>
              <a:rPr lang="en-US" sz="1200" dirty="0">
                <a:solidFill>
                  <a:srgbClr val="1F2120"/>
                </a:solidFill>
                <a:latin typeface="Arial" pitchFamily="34" charset="0"/>
                <a:ea typeface="Arial" pitchFamily="34" charset="-122"/>
                <a:cs typeface="Arial" pitchFamily="34" charset="-120"/>
              </a:rPr>
              <a:t>totals by category and department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914400" y="1371600"/>
            <a:ext cx="7315200" cy="1371600"/>
          </a:xfrm>
          <a:prstGeom prst="rect">
            <a:avLst/>
          </a:prstGeom>
          <a:noFill/>
          <a:ln/>
        </p:spPr>
        <p:txBody>
          <a:bodyPr wrap="square" rtlCol="0" anchor="ctr"/>
          <a:lstStyle/>
          <a:p>
            <a:pPr marL="0" indent="0" algn="ctr">
              <a:buNone/>
            </a:pPr>
            <a:r>
              <a:rPr lang="en-US" sz="4000" b="1" dirty="0">
                <a:solidFill>
                  <a:srgbClr val="CF3338"/>
                </a:solidFill>
                <a:latin typeface="Arial Black" pitchFamily="34" charset="0"/>
                <a:ea typeface="Arial Black" pitchFamily="34" charset="-122"/>
                <a:cs typeface="Arial Black" pitchFamily="34" charset="-120"/>
              </a:rPr>
              <a:t>Live Demos</a:t>
            </a:r>
            <a:endParaRPr lang="en-US" sz="4000" dirty="0"/>
          </a:p>
        </p:txBody>
      </p:sp>
      <p:sp>
        <p:nvSpPr>
          <p:cNvPr id="3" name="Text 1"/>
          <p:cNvSpPr/>
          <p:nvPr/>
        </p:nvSpPr>
        <p:spPr>
          <a:xfrm>
            <a:off x="1371600" y="2926080"/>
            <a:ext cx="6400800" cy="731520"/>
          </a:xfrm>
          <a:prstGeom prst="rect">
            <a:avLst/>
          </a:prstGeom>
          <a:noFill/>
          <a:ln/>
        </p:spPr>
        <p:txBody>
          <a:bodyPr wrap="square" rtlCol="0" anchor="ctr"/>
          <a:lstStyle/>
          <a:p>
            <a:pPr marL="0" indent="0" algn="ctr">
              <a:buNone/>
            </a:pPr>
            <a:r>
              <a:rPr lang="en-US" sz="1600" dirty="0">
                <a:solidFill>
                  <a:srgbClr val="707070"/>
                </a:solidFill>
                <a:latin typeface="Arial" pitchFamily="34" charset="0"/>
                <a:ea typeface="Arial" pitchFamily="34" charset="-122"/>
                <a:cs typeface="Arial" pitchFamily="34" charset="-120"/>
              </a:rPr>
              <a:t>Same data. Same prompts. Let's see what happens.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CF3338"/>
          </a:solidFill>
          <a:ln/>
        </p:spPr>
        <p:txBody>
          <a:bodyPr/>
          <a:lstStyle/>
          <a:p>
            <a:endParaRPr lang="en-US"/>
          </a:p>
        </p:txBody>
      </p:sp>
      <p:sp>
        <p:nvSpPr>
          <p:cNvPr id="3" name="Text 1"/>
          <p:cNvSpPr/>
          <p:nvPr/>
        </p:nvSpPr>
        <p:spPr>
          <a:xfrm>
            <a:off x="6949440" y="1371600"/>
            <a:ext cx="2103120" cy="1828800"/>
          </a:xfrm>
          <a:prstGeom prst="rect">
            <a:avLst/>
          </a:prstGeom>
          <a:noFill/>
          <a:ln/>
        </p:spPr>
        <p:txBody>
          <a:bodyPr wrap="square"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LIVE</a:t>
            </a:r>
            <a:endParaRPr lang="en-US" sz="2800" dirty="0"/>
          </a:p>
          <a:p>
            <a:pPr marL="0" indent="0" algn="ctr">
              <a:buNone/>
            </a:pPr>
            <a:r>
              <a:rPr lang="en-US" sz="2800" b="1" dirty="0">
                <a:solidFill>
                  <a:srgbClr val="FFFFFF"/>
                </a:solidFill>
                <a:latin typeface="Arial Black" pitchFamily="34" charset="0"/>
                <a:ea typeface="Arial Black" pitchFamily="34" charset="-122"/>
                <a:cs typeface="Arial Black" pitchFamily="34" charset="-120"/>
              </a:rPr>
              <a:t>DEMO</a:t>
            </a:r>
            <a:endParaRPr lang="en-US" sz="2800" dirty="0"/>
          </a:p>
        </p:txBody>
      </p:sp>
      <p:sp>
        <p:nvSpPr>
          <p:cNvPr id="7" name="Text 5"/>
          <p:cNvSpPr/>
          <p:nvPr/>
        </p:nvSpPr>
        <p:spPr>
          <a:xfrm>
            <a:off x="731520" y="365760"/>
            <a:ext cx="5943600" cy="640080"/>
          </a:xfrm>
          <a:prstGeom prst="rect">
            <a:avLst/>
          </a:prstGeom>
          <a:noFill/>
          <a:ln/>
        </p:spPr>
        <p:txBody>
          <a:bodyPr wrap="square"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Task 1: Categorize Expenses</a:t>
            </a:r>
            <a:endParaRPr lang="en-US" sz="2600" dirty="0"/>
          </a:p>
        </p:txBody>
      </p:sp>
      <p:sp>
        <p:nvSpPr>
          <p:cNvPr id="8" name="Text 6"/>
          <p:cNvSpPr/>
          <p:nvPr/>
        </p:nvSpPr>
        <p:spPr>
          <a:xfrm>
            <a:off x="731520" y="1097280"/>
            <a:ext cx="5486400" cy="365760"/>
          </a:xfrm>
          <a:prstGeom prst="rect">
            <a:avLst/>
          </a:prstGeom>
          <a:noFill/>
          <a:ln/>
        </p:spPr>
        <p:txBody>
          <a:bodyPr wrap="square" rtlCol="0" anchor="ctr"/>
          <a:lstStyle/>
          <a:p>
            <a:pPr marL="0" indent="0">
              <a:buNone/>
            </a:pPr>
            <a:r>
              <a:rPr lang="en-US" sz="1600" b="1" dirty="0">
                <a:solidFill>
                  <a:srgbClr val="CF3338"/>
                </a:solidFill>
                <a:latin typeface="Arial Black" pitchFamily="34" charset="0"/>
                <a:ea typeface="Arial Black" pitchFamily="34" charset="-122"/>
                <a:cs typeface="Arial Black" pitchFamily="34" charset="-120"/>
              </a:rPr>
              <a:t>What to watch for:</a:t>
            </a:r>
            <a:endParaRPr lang="en-US" sz="1600" dirty="0"/>
          </a:p>
        </p:txBody>
      </p:sp>
      <p:sp>
        <p:nvSpPr>
          <p:cNvPr id="9" name="Text 7"/>
          <p:cNvSpPr/>
          <p:nvPr/>
        </p:nvSpPr>
        <p:spPr>
          <a:xfrm>
            <a:off x="731520" y="1554480"/>
            <a:ext cx="5669280" cy="2743200"/>
          </a:xfrm>
          <a:prstGeom prst="rect">
            <a:avLst/>
          </a:prstGeom>
          <a:noFill/>
          <a:ln/>
        </p:spPr>
        <p:txBody>
          <a:bodyPr wrap="square" rtlCol="0" anchor="ctr"/>
          <a:lstStyle/>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How does each tool interact with the table?</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Does it ask for permission or just act?</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How does it handle ambiguous items?</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Does it explain its reasoning?</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Do both tools agree on the categories?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CF3338"/>
          </a:solidFill>
          <a:ln/>
        </p:spPr>
        <p:txBody>
          <a:bodyPr/>
          <a:lstStyle/>
          <a:p>
            <a:endParaRPr lang="en-US"/>
          </a:p>
        </p:txBody>
      </p:sp>
      <p:sp>
        <p:nvSpPr>
          <p:cNvPr id="3" name="Text 1"/>
          <p:cNvSpPr/>
          <p:nvPr/>
        </p:nvSpPr>
        <p:spPr>
          <a:xfrm>
            <a:off x="6949440" y="1371600"/>
            <a:ext cx="2103120" cy="1828800"/>
          </a:xfrm>
          <a:prstGeom prst="rect">
            <a:avLst/>
          </a:prstGeom>
          <a:noFill/>
          <a:ln/>
        </p:spPr>
        <p:txBody>
          <a:bodyPr wrap="square"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LIVE</a:t>
            </a:r>
            <a:endParaRPr lang="en-US" sz="2800" dirty="0"/>
          </a:p>
          <a:p>
            <a:pPr marL="0" indent="0" algn="ctr">
              <a:buNone/>
            </a:pPr>
            <a:r>
              <a:rPr lang="en-US" sz="2800" b="1" dirty="0">
                <a:solidFill>
                  <a:srgbClr val="FFFFFF"/>
                </a:solidFill>
                <a:latin typeface="Arial Black" pitchFamily="34" charset="0"/>
                <a:ea typeface="Arial Black" pitchFamily="34" charset="-122"/>
                <a:cs typeface="Arial Black" pitchFamily="34" charset="-120"/>
              </a:rPr>
              <a:t>DEMO</a:t>
            </a:r>
            <a:endParaRPr lang="en-US" sz="2800" dirty="0"/>
          </a:p>
        </p:txBody>
      </p:sp>
      <p:sp>
        <p:nvSpPr>
          <p:cNvPr id="7" name="Text 5"/>
          <p:cNvSpPr/>
          <p:nvPr/>
        </p:nvSpPr>
        <p:spPr>
          <a:xfrm>
            <a:off x="731520" y="365760"/>
            <a:ext cx="5943600" cy="640080"/>
          </a:xfrm>
          <a:prstGeom prst="rect">
            <a:avLst/>
          </a:prstGeom>
          <a:noFill/>
          <a:ln/>
        </p:spPr>
        <p:txBody>
          <a:bodyPr wrap="square"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Task 2: Build a Summary</a:t>
            </a:r>
            <a:endParaRPr lang="en-US" sz="2600" dirty="0"/>
          </a:p>
        </p:txBody>
      </p:sp>
      <p:sp>
        <p:nvSpPr>
          <p:cNvPr id="8" name="Text 6"/>
          <p:cNvSpPr/>
          <p:nvPr/>
        </p:nvSpPr>
        <p:spPr>
          <a:xfrm>
            <a:off x="731520" y="1097280"/>
            <a:ext cx="5486400" cy="365760"/>
          </a:xfrm>
          <a:prstGeom prst="rect">
            <a:avLst/>
          </a:prstGeom>
          <a:noFill/>
          <a:ln/>
        </p:spPr>
        <p:txBody>
          <a:bodyPr wrap="square" rtlCol="0" anchor="ctr"/>
          <a:lstStyle/>
          <a:p>
            <a:pPr marL="0" indent="0">
              <a:buNone/>
            </a:pPr>
            <a:r>
              <a:rPr lang="en-US" sz="1600" b="1" dirty="0">
                <a:solidFill>
                  <a:srgbClr val="CF3338"/>
                </a:solidFill>
                <a:latin typeface="Arial Black" pitchFamily="34" charset="0"/>
                <a:ea typeface="Arial Black" pitchFamily="34" charset="-122"/>
                <a:cs typeface="Arial Black" pitchFamily="34" charset="-120"/>
              </a:rPr>
              <a:t>What to watch for:</a:t>
            </a:r>
            <a:endParaRPr lang="en-US" sz="1600" dirty="0"/>
          </a:p>
        </p:txBody>
      </p:sp>
      <p:sp>
        <p:nvSpPr>
          <p:cNvPr id="9" name="Text 7"/>
          <p:cNvSpPr/>
          <p:nvPr/>
        </p:nvSpPr>
        <p:spPr>
          <a:xfrm>
            <a:off x="731520" y="1554480"/>
            <a:ext cx="5669280" cy="2743200"/>
          </a:xfrm>
          <a:prstGeom prst="rect">
            <a:avLst/>
          </a:prstGeom>
          <a:noFill/>
          <a:ln/>
        </p:spPr>
        <p:txBody>
          <a:bodyPr wrap="square" rtlCol="0" anchor="ctr"/>
          <a:lstStyle/>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Formulas or PivotTables? (You didn't specify!)</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Does it create a new worksheet as asked?</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Does it overwrite anything it shouldn't?</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How well does it follow your exact instructions?</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What does the written explanation look like?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Patterns I Typically See</a:t>
            </a:r>
            <a:endParaRPr lang="en-US" sz="2800" dirty="0"/>
          </a:p>
        </p:txBody>
      </p:sp>
      <p:sp>
        <p:nvSpPr>
          <p:cNvPr id="3" name="Text 1"/>
          <p:cNvSpPr/>
          <p:nvPr/>
        </p:nvSpPr>
        <p:spPr>
          <a:xfrm>
            <a:off x="731520" y="914400"/>
            <a:ext cx="7315200" cy="365760"/>
          </a:xfrm>
          <a:prstGeom prst="rect">
            <a:avLst/>
          </a:prstGeom>
          <a:noFill/>
          <a:ln/>
        </p:spPr>
        <p:txBody>
          <a:bodyPr wrap="square" rtlCol="0" anchor="ctr"/>
          <a:lstStyle/>
          <a:p>
            <a:pPr marL="0" indent="0">
              <a:buNone/>
            </a:pPr>
            <a:r>
              <a:rPr lang="en-US" sz="1300" i="1" dirty="0">
                <a:solidFill>
                  <a:srgbClr val="707070"/>
                </a:solidFill>
                <a:latin typeface="Arial" pitchFamily="34" charset="0"/>
                <a:ea typeface="Arial" pitchFamily="34" charset="-122"/>
                <a:cs typeface="Arial" pitchFamily="34" charset="-120"/>
              </a:rPr>
              <a:t>These patterns hold across many runs, even as specific results vary:</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3750030578"/>
              </p:ext>
            </p:extLst>
          </p:nvPr>
        </p:nvGraphicFramePr>
        <p:xfrm>
          <a:off x="274320" y="1371600"/>
          <a:ext cx="8595360" cy="3017520"/>
        </p:xfrm>
        <a:graphic>
          <a:graphicData uri="http://schemas.openxmlformats.org/drawingml/2006/table">
            <a:tbl>
              <a:tblPr/>
              <a:tblGrid>
                <a:gridCol w="18288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Arial" pitchFamily="34" charset="0"/>
                          <a:ea typeface="Arial" pitchFamily="34" charset="-122"/>
                          <a:cs typeface="Arial" pitchFamily="34" charset="-120"/>
                        </a:rPr>
                        <a:t>Dimension</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F3338"/>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Copilot</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F3338"/>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Claude Add-in</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F3338"/>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Output approach</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Tends toward formulas</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(SUMIFS, structured refs)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Often reaches for PivotTables</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or helper sheets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Instruction following</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Tighter: stays closer to</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what you asked for</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More interpretive: may</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choose its own approach</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Permission model</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Inline editing: changes</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appear in cells directly</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Approval-based: asks before</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each modification</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F2120"/>
                          </a:solidFill>
                          <a:latin typeface="Arial" pitchFamily="34" charset="0"/>
                          <a:ea typeface="Arial" pitchFamily="34" charset="-122"/>
                          <a:cs typeface="Arial" pitchFamily="34" charset="-120"/>
                        </a:rPr>
                        <a:t>Explanations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Concise summaries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More detailed reasoning</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extLst>
                  <a:ext uri="{0D108BD9-81ED-4DB2-BD59-A6C34878D82A}">
                    <a16:rowId xmlns:a16="http://schemas.microsoft.com/office/drawing/2014/main" val="10004"/>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Ambiguous data</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More conservative: may</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label as "Other"</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More aggressive: attempts</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a classification</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Workbook handling</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Generally respects worksheet</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boundaries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May overwrite existing sheets</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or create unexpected ones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914400" y="1371600"/>
            <a:ext cx="7315200" cy="1371600"/>
          </a:xfrm>
          <a:prstGeom prst="rect">
            <a:avLst/>
          </a:prstGeom>
          <a:noFill/>
          <a:ln/>
        </p:spPr>
        <p:txBody>
          <a:bodyPr wrap="square" rtlCol="0" anchor="ctr"/>
          <a:lstStyle/>
          <a:p>
            <a:pPr marL="0" indent="0" algn="ctr">
              <a:buNone/>
            </a:pPr>
            <a:r>
              <a:rPr lang="en-US" sz="4000" b="1" dirty="0">
                <a:solidFill>
                  <a:srgbClr val="CF3338"/>
                </a:solidFill>
                <a:latin typeface="Arial Black" pitchFamily="34" charset="0"/>
                <a:ea typeface="Arial Black" pitchFamily="34" charset="-122"/>
                <a:cs typeface="Arial Black" pitchFamily="34" charset="-120"/>
              </a:rPr>
              <a:t>The Spec Sheet</a:t>
            </a:r>
            <a:endParaRPr lang="en-US" sz="4000" dirty="0"/>
          </a:p>
        </p:txBody>
      </p:sp>
      <p:sp>
        <p:nvSpPr>
          <p:cNvPr id="3" name="Text 1"/>
          <p:cNvSpPr/>
          <p:nvPr/>
        </p:nvSpPr>
        <p:spPr>
          <a:xfrm>
            <a:off x="1371600" y="2926080"/>
            <a:ext cx="6400800" cy="731520"/>
          </a:xfrm>
          <a:prstGeom prst="rect">
            <a:avLst/>
          </a:prstGeom>
          <a:noFill/>
          <a:ln/>
        </p:spPr>
        <p:txBody>
          <a:bodyPr wrap="square" rtlCol="0" anchor="ctr"/>
          <a:lstStyle/>
          <a:p>
            <a:pPr marL="0" indent="0" algn="ctr">
              <a:buNone/>
            </a:pPr>
            <a:r>
              <a:rPr lang="en-US" sz="1600" dirty="0">
                <a:solidFill>
                  <a:srgbClr val="707070"/>
                </a:solidFill>
                <a:latin typeface="Arial" pitchFamily="34" charset="0"/>
                <a:ea typeface="Arial" pitchFamily="34" charset="-122"/>
                <a:cs typeface="Arial" pitchFamily="34" charset="-120"/>
              </a:rPr>
              <a:t>Beyond the demos: what you need to know to compare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Feature-by-Feature Comparison</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1005840"/>
          <a:ext cx="8595360" cy="2944368"/>
        </p:xfrm>
        <a:graphic>
          <a:graphicData uri="http://schemas.openxmlformats.org/drawingml/2006/table">
            <a:tbl>
              <a:tblPr/>
              <a:tblGrid>
                <a:gridCol w="18288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Arial" pitchFamily="34" charset="0"/>
                          <a:ea typeface="Arial" pitchFamily="34" charset="-122"/>
                          <a:cs typeface="Arial" pitchFamily="34" charset="-120"/>
                        </a:rPr>
                        <a:t>Feature</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F3338"/>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Copilot for Microsoft 365</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F3338"/>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Claude Add-in for Excel</a:t>
                      </a:r>
                      <a:endParaRPr lang="en-US" sz="12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F3338"/>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Pricing</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Microsoft 365 Copilot (paid add-on)</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(~$30/user/month)</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Separate Claude subscription</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(Pro ~$20/month)</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Model options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GPT-4o, Claude, Gemini</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(premium toggle)</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Claude models only</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(Haiku, Sonnet, Opus)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Integration depth</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Native: formula bar, ribbon,</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cell editing</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Add-in panel: approval-based</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modifications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F2120"/>
                          </a:solidFill>
                          <a:latin typeface="Arial" pitchFamily="34" charset="0"/>
                          <a:ea typeface="Arial" pitchFamily="34" charset="-122"/>
                          <a:cs typeface="Arial" pitchFamily="34" charset="-120"/>
                        </a:rPr>
                        <a:t>Data handling</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Stays in Microsoft ecosystem</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Sent to Anthropic servers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F2120"/>
                          </a:solidFill>
                          <a:latin typeface="Arial" pitchFamily="34" charset="0"/>
                          <a:ea typeface="Arial" pitchFamily="34" charset="-122"/>
                          <a:cs typeface="Arial" pitchFamily="34" charset="-120"/>
                        </a:rPr>
                        <a:t>IT / Admin controls</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Full enterprise admin center</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Limited: add-in level</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100" dirty="0">
                          <a:solidFill>
                            <a:srgbClr val="1F2120"/>
                          </a:solidFill>
                          <a:latin typeface="Arial" pitchFamily="34" charset="0"/>
                          <a:ea typeface="Arial" pitchFamily="34" charset="-122"/>
                          <a:cs typeface="Arial" pitchFamily="34" charset="-120"/>
                        </a:rPr>
                        <a:t>Broader ecosystem</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Word, PowerPoint, Outlook,</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Teams, GitHub Copilot</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tc>
                  <a:txBody>
                    <a:bodyPr/>
                    <a:lstStyle/>
                    <a:p>
                      <a:pPr marL="0" indent="0">
                        <a:buNone/>
                      </a:pPr>
                      <a:r>
                        <a:rPr lang="en-US" sz="1100" dirty="0">
                          <a:solidFill>
                            <a:srgbClr val="1F2120"/>
                          </a:solidFill>
                          <a:latin typeface="Arial" pitchFamily="34" charset="0"/>
                          <a:ea typeface="Arial" pitchFamily="34" charset="-122"/>
                          <a:cs typeface="Arial" pitchFamily="34" charset="-120"/>
                        </a:rPr>
                        <a:t>Cowork, Claude Code, API,</a:t>
                      </a:r>
                      <a:endParaRPr lang="en-US" sz="1100" dirty="0">
                        <a:latin typeface="Arial" charset="0"/>
                        <a:ea typeface="Arial" charset="0"/>
                        <a:cs typeface="Arial" charset="0"/>
                      </a:endParaRPr>
                    </a:p>
                    <a:p>
                      <a:pPr marL="0" indent="0">
                        <a:buNone/>
                      </a:pPr>
                      <a:r>
                        <a:rPr lang="en-US" sz="1100" dirty="0">
                          <a:solidFill>
                            <a:srgbClr val="1F2120"/>
                          </a:solidFill>
                          <a:latin typeface="Arial" pitchFamily="34" charset="0"/>
                          <a:ea typeface="Arial" pitchFamily="34" charset="-122"/>
                          <a:cs typeface="Arial" pitchFamily="34" charset="-120"/>
                        </a:rPr>
                        <a:t>web interface</a:t>
                      </a:r>
                      <a:endParaRPr lang="en-US" sz="1100" dirty="0">
                        <a:latin typeface="Arial" charset="0"/>
                        <a:ea typeface="Arial" charset="0"/>
                        <a:cs typeface="Arial"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0E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It's Not Just an Excel Add-in</a:t>
            </a:r>
            <a:endParaRPr lang="en-US" sz="2800" dirty="0"/>
          </a:p>
        </p:txBody>
      </p:sp>
      <p:sp>
        <p:nvSpPr>
          <p:cNvPr id="3" name="Text 1"/>
          <p:cNvSpPr/>
          <p:nvPr/>
        </p:nvSpPr>
        <p:spPr>
          <a:xfrm>
            <a:off x="731520" y="914400"/>
            <a:ext cx="7315200" cy="365760"/>
          </a:xfrm>
          <a:prstGeom prst="rect">
            <a:avLst/>
          </a:prstGeom>
          <a:noFill/>
          <a:ln/>
        </p:spPr>
        <p:txBody>
          <a:bodyPr wrap="square" rtlCol="0" anchor="ctr"/>
          <a:lstStyle/>
          <a:p>
            <a:pPr marL="0" indent="0">
              <a:buNone/>
            </a:pPr>
            <a:r>
              <a:rPr lang="en-US" sz="1400" i="1" dirty="0">
                <a:solidFill>
                  <a:srgbClr val="707070"/>
                </a:solidFill>
                <a:latin typeface="Arial" pitchFamily="34" charset="0"/>
                <a:ea typeface="Arial" pitchFamily="34" charset="-122"/>
                <a:cs typeface="Arial" pitchFamily="34" charset="-120"/>
              </a:rPr>
              <a:t>Your investment is in the ecosystem, not just the Excel feature.</a:t>
            </a:r>
            <a:endParaRPr lang="en-US" sz="1400" dirty="0"/>
          </a:p>
        </p:txBody>
      </p:sp>
      <p:sp>
        <p:nvSpPr>
          <p:cNvPr id="4" name="Shape 2"/>
          <p:cNvSpPr/>
          <p:nvPr/>
        </p:nvSpPr>
        <p:spPr>
          <a:xfrm>
            <a:off x="457200" y="1463040"/>
            <a:ext cx="3931920" cy="3017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457200" y="1463040"/>
            <a:ext cx="3931920" cy="54864"/>
          </a:xfrm>
          <a:prstGeom prst="rect">
            <a:avLst/>
          </a:prstGeom>
          <a:solidFill>
            <a:srgbClr val="CF3338"/>
          </a:solidFill>
          <a:ln/>
        </p:spPr>
        <p:txBody>
          <a:bodyPr/>
          <a:lstStyle/>
          <a:p>
            <a:endParaRPr lang="en-US"/>
          </a:p>
        </p:txBody>
      </p:sp>
      <p:sp>
        <p:nvSpPr>
          <p:cNvPr id="6" name="Text 4"/>
          <p:cNvSpPr/>
          <p:nvPr/>
        </p:nvSpPr>
        <p:spPr>
          <a:xfrm>
            <a:off x="640080" y="1600200"/>
            <a:ext cx="3566160" cy="365760"/>
          </a:xfrm>
          <a:prstGeom prst="rect">
            <a:avLst/>
          </a:prstGeom>
          <a:noFill/>
          <a:ln/>
        </p:spPr>
        <p:txBody>
          <a:bodyPr wrap="square" rtlCol="0" anchor="ctr"/>
          <a:lstStyle/>
          <a:p>
            <a:pPr marL="0" indent="0">
              <a:buNone/>
            </a:pPr>
            <a:r>
              <a:rPr lang="en-US" sz="1500" b="1" dirty="0">
                <a:solidFill>
                  <a:srgbClr val="CF3338"/>
                </a:solidFill>
                <a:latin typeface="Arial Black" pitchFamily="34" charset="0"/>
                <a:ea typeface="Arial Black" pitchFamily="34" charset="-122"/>
                <a:cs typeface="Arial Black" pitchFamily="34" charset="-120"/>
              </a:rPr>
              <a:t>Microsoft Copilot Ecosystem</a:t>
            </a:r>
            <a:endParaRPr lang="en-US" sz="1500" dirty="0"/>
          </a:p>
        </p:txBody>
      </p:sp>
      <p:sp>
        <p:nvSpPr>
          <p:cNvPr id="7" name="Text 5"/>
          <p:cNvSpPr/>
          <p:nvPr/>
        </p:nvSpPr>
        <p:spPr>
          <a:xfrm>
            <a:off x="640080" y="2057400"/>
            <a:ext cx="3566160" cy="2194560"/>
          </a:xfrm>
          <a:prstGeom prst="rect">
            <a:avLst/>
          </a:prstGeom>
          <a:noFill/>
          <a:ln/>
        </p:spPr>
        <p:txBody>
          <a:bodyPr wrap="square" rtlCol="0" anchor="ctr"/>
          <a:lstStyle/>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Excel: formulas, summaries, analysis</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Word: drafting, editing, summarizing</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PowerPoint: slide generation</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Outlook: email triage, drafting</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Teams: meeting summaries</a:t>
            </a:r>
            <a:endParaRPr lang="en-US" sz="1200" dirty="0"/>
          </a:p>
          <a:p>
            <a:pPr marL="342900" indent="-342900">
              <a:spcAft>
                <a:spcPts val="400"/>
              </a:spcAft>
              <a:buSzPct val="100000"/>
              <a:buChar char="•"/>
            </a:pPr>
            <a:r>
              <a:rPr lang="en-US" sz="1200" b="1" dirty="0">
                <a:solidFill>
                  <a:srgbClr val="707070"/>
                </a:solidFill>
                <a:latin typeface="Arial" pitchFamily="34" charset="0"/>
                <a:ea typeface="Arial" pitchFamily="34" charset="-122"/>
                <a:cs typeface="Arial" pitchFamily="34" charset="-120"/>
              </a:rPr>
              <a:t>One subscription covers all</a:t>
            </a:r>
            <a:endParaRPr lang="en-US" sz="1200" dirty="0"/>
          </a:p>
        </p:txBody>
      </p:sp>
      <p:sp>
        <p:nvSpPr>
          <p:cNvPr id="8" name="Shape 6"/>
          <p:cNvSpPr/>
          <p:nvPr/>
        </p:nvSpPr>
        <p:spPr>
          <a:xfrm>
            <a:off x="4754880" y="1463040"/>
            <a:ext cx="3931920" cy="3017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54880" y="1463040"/>
            <a:ext cx="3931920" cy="54864"/>
          </a:xfrm>
          <a:prstGeom prst="rect">
            <a:avLst/>
          </a:prstGeom>
          <a:solidFill>
            <a:srgbClr val="CF3338"/>
          </a:solidFill>
          <a:ln/>
        </p:spPr>
        <p:txBody>
          <a:bodyPr/>
          <a:lstStyle/>
          <a:p>
            <a:endParaRPr lang="en-US"/>
          </a:p>
        </p:txBody>
      </p:sp>
      <p:sp>
        <p:nvSpPr>
          <p:cNvPr id="10" name="Text 8"/>
          <p:cNvSpPr/>
          <p:nvPr/>
        </p:nvSpPr>
        <p:spPr>
          <a:xfrm>
            <a:off x="4937760" y="1600200"/>
            <a:ext cx="3566160" cy="365760"/>
          </a:xfrm>
          <a:prstGeom prst="rect">
            <a:avLst/>
          </a:prstGeom>
          <a:noFill/>
          <a:ln/>
        </p:spPr>
        <p:txBody>
          <a:bodyPr wrap="square" rtlCol="0" anchor="ctr"/>
          <a:lstStyle/>
          <a:p>
            <a:pPr marL="0" indent="0">
              <a:buNone/>
            </a:pPr>
            <a:r>
              <a:rPr lang="en-US" sz="1500" b="1" dirty="0">
                <a:solidFill>
                  <a:srgbClr val="CF3338"/>
                </a:solidFill>
                <a:latin typeface="Arial Black" pitchFamily="34" charset="0"/>
                <a:ea typeface="Arial Black" pitchFamily="34" charset="-122"/>
                <a:cs typeface="Arial Black" pitchFamily="34" charset="-120"/>
              </a:rPr>
              <a:t>Claude Ecosystem</a:t>
            </a:r>
            <a:endParaRPr lang="en-US" sz="1500" dirty="0"/>
          </a:p>
        </p:txBody>
      </p:sp>
      <p:sp>
        <p:nvSpPr>
          <p:cNvPr id="11" name="Text 9"/>
          <p:cNvSpPr/>
          <p:nvPr/>
        </p:nvSpPr>
        <p:spPr>
          <a:xfrm>
            <a:off x="4937760" y="2057400"/>
            <a:ext cx="3566160" cy="2194560"/>
          </a:xfrm>
          <a:prstGeom prst="rect">
            <a:avLst/>
          </a:prstGeom>
          <a:noFill/>
          <a:ln/>
        </p:spPr>
        <p:txBody>
          <a:bodyPr wrap="square" rtlCol="0" anchor="ctr"/>
          <a:lstStyle/>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Excel add-in: analysis, categorization</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Cowork: full deliverable generation</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Claude Code: developer workflows</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API: custom integrations</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Web / mobile interface</a:t>
            </a:r>
            <a:endParaRPr lang="en-US" sz="1200" dirty="0"/>
          </a:p>
          <a:p>
            <a:pPr marL="342900" indent="-342900">
              <a:spcAft>
                <a:spcPts val="400"/>
              </a:spcAft>
              <a:buSzPct val="100000"/>
              <a:buChar char="•"/>
            </a:pPr>
            <a:r>
              <a:rPr lang="en-US" sz="1200" b="1" dirty="0">
                <a:solidFill>
                  <a:srgbClr val="707070"/>
                </a:solidFill>
                <a:latin typeface="Arial" pitchFamily="34" charset="0"/>
                <a:ea typeface="Arial" pitchFamily="34" charset="-122"/>
                <a:cs typeface="Arial" pitchFamily="34" charset="-120"/>
              </a:rPr>
              <a:t>Power-user oriented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914400" y="1371600"/>
            <a:ext cx="7315200" cy="1371600"/>
          </a:xfrm>
          <a:prstGeom prst="rect">
            <a:avLst/>
          </a:prstGeom>
          <a:noFill/>
          <a:ln/>
        </p:spPr>
        <p:txBody>
          <a:bodyPr wrap="square" rtlCol="0" anchor="ctr"/>
          <a:lstStyle/>
          <a:p>
            <a:pPr marL="0" indent="0" algn="ctr">
              <a:buNone/>
            </a:pPr>
            <a:r>
              <a:rPr lang="en-US" sz="4000" b="1" dirty="0">
                <a:solidFill>
                  <a:srgbClr val="CF3338"/>
                </a:solidFill>
                <a:latin typeface="Arial Black" pitchFamily="34" charset="0"/>
                <a:ea typeface="Arial Black" pitchFamily="34" charset="-122"/>
                <a:cs typeface="Arial Black" pitchFamily="34" charset="-120"/>
              </a:rPr>
              <a:t>Universal Principles</a:t>
            </a:r>
            <a:endParaRPr lang="en-US" sz="4000" dirty="0"/>
          </a:p>
        </p:txBody>
      </p:sp>
      <p:sp>
        <p:nvSpPr>
          <p:cNvPr id="3" name="Text 1"/>
          <p:cNvSpPr/>
          <p:nvPr/>
        </p:nvSpPr>
        <p:spPr>
          <a:xfrm>
            <a:off x="1371600" y="2926080"/>
            <a:ext cx="6400800" cy="731520"/>
          </a:xfrm>
          <a:prstGeom prst="rect">
            <a:avLst/>
          </a:prstGeom>
          <a:noFill/>
          <a:ln/>
        </p:spPr>
        <p:txBody>
          <a:bodyPr wrap="square" rtlCol="0" anchor="ctr"/>
          <a:lstStyle/>
          <a:p>
            <a:pPr marL="0" indent="0" algn="ctr">
              <a:buNone/>
            </a:pPr>
            <a:r>
              <a:rPr lang="en-US" sz="1600" dirty="0">
                <a:solidFill>
                  <a:srgbClr val="707070"/>
                </a:solidFill>
                <a:latin typeface="Arial" pitchFamily="34" charset="0"/>
                <a:ea typeface="Arial" pitchFamily="34" charset="-122"/>
                <a:cs typeface="Arial" pitchFamily="34" charset="-120"/>
              </a:rPr>
              <a:t>What works regardless of the tool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F3338"/>
          </a:solidFill>
          <a:ln/>
        </p:spPr>
        <p:txBody>
          <a:bodyPr/>
          <a:lstStyle/>
          <a:p>
            <a:endParaRPr lang="en-US"/>
          </a:p>
        </p:txBody>
      </p:sp>
      <p:sp>
        <p:nvSpPr>
          <p:cNvPr id="3" name="Text 1"/>
          <p:cNvSpPr/>
          <p:nvPr/>
        </p:nvSpPr>
        <p:spPr>
          <a:xfrm>
            <a:off x="365760" y="274320"/>
            <a:ext cx="731520" cy="822960"/>
          </a:xfrm>
          <a:prstGeom prst="rect">
            <a:avLst/>
          </a:prstGeom>
          <a:noFill/>
          <a:ln/>
        </p:spPr>
        <p:txBody>
          <a:bodyPr wrap="square" rtlCol="0" anchor="ctr"/>
          <a:lstStyle/>
          <a:p>
            <a:pPr marL="0" indent="0">
              <a:buNone/>
            </a:pPr>
            <a:r>
              <a:rPr lang="en-US" sz="4800" b="1" dirty="0">
                <a:solidFill>
                  <a:srgbClr val="CF3338"/>
                </a:solidFill>
                <a:latin typeface="Arial Black" pitchFamily="34" charset="0"/>
                <a:ea typeface="Arial Black" pitchFamily="34" charset="-122"/>
                <a:cs typeface="Arial Black" pitchFamily="34" charset="-120"/>
              </a:rPr>
              <a:t>1</a:t>
            </a:r>
            <a:endParaRPr lang="en-US" sz="4800" dirty="0"/>
          </a:p>
        </p:txBody>
      </p:sp>
      <p:pic>
        <p:nvPicPr>
          <p:cNvPr id="4" name="Image 0" descr="preencoded.png"/>
          <p:cNvPicPr>
            <a:picLocks noChangeAspect="1"/>
          </p:cNvPicPr>
          <p:nvPr/>
        </p:nvPicPr>
        <p:blipFill>
          <a:blip r:embed="rId3"/>
          <a:stretch>
            <a:fillRect/>
          </a:stretch>
        </p:blipFill>
        <p:spPr>
          <a:xfrm>
            <a:off x="1188720" y="411480"/>
            <a:ext cx="365760" cy="365760"/>
          </a:xfrm>
          <a:prstGeom prst="rect">
            <a:avLst/>
          </a:prstGeom>
        </p:spPr>
      </p:pic>
      <p:sp>
        <p:nvSpPr>
          <p:cNvPr id="5" name="Text 2"/>
          <p:cNvSpPr/>
          <p:nvPr/>
        </p:nvSpPr>
        <p:spPr>
          <a:xfrm>
            <a:off x="1691640" y="365760"/>
            <a:ext cx="5943600" cy="640080"/>
          </a:xfrm>
          <a:prstGeom prst="rect">
            <a:avLst/>
          </a:prstGeom>
          <a:noFill/>
          <a:ln/>
        </p:spPr>
        <p:txBody>
          <a:bodyPr wrap="square" lIns="0" tIns="0" rIns="0" bIns="0"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Always Review AI Output</a:t>
            </a:r>
            <a:endParaRPr lang="en-US" sz="2600" dirty="0"/>
          </a:p>
        </p:txBody>
      </p:sp>
      <p:sp>
        <p:nvSpPr>
          <p:cNvPr id="6" name="Text 3"/>
          <p:cNvSpPr/>
          <p:nvPr/>
        </p:nvSpPr>
        <p:spPr>
          <a:xfrm>
            <a:off x="1188720" y="1188720"/>
            <a:ext cx="6858000" cy="3291840"/>
          </a:xfrm>
          <a:prstGeom prst="rect">
            <a:avLst/>
          </a:prstGeom>
          <a:noFill/>
          <a:ln/>
        </p:spPr>
        <p:txBody>
          <a:bodyPr wrap="square" rtlCol="0" anchor="ctr"/>
          <a:lstStyle/>
          <a:p>
            <a:pPr marL="0" indent="0">
              <a:spcAft>
                <a:spcPts val="600"/>
              </a:spcAft>
              <a:buNone/>
            </a:pPr>
            <a:r>
              <a:rPr lang="en-US" sz="1600" b="1" dirty="0">
                <a:solidFill>
                  <a:srgbClr val="707070"/>
                </a:solidFill>
                <a:latin typeface="Arial" pitchFamily="34" charset="0"/>
                <a:ea typeface="Arial" pitchFamily="34" charset="-122"/>
                <a:cs typeface="Arial" pitchFamily="34" charset="-120"/>
              </a:rPr>
              <a:t>AI gives you a strong first draft, not a final answer.</a:t>
            </a:r>
            <a:endParaRPr lang="en-US" sz="1400" dirty="0"/>
          </a:p>
          <a:p>
            <a:pPr marL="0" indent="0">
              <a:spcAft>
                <a:spcPts val="600"/>
              </a:spcAft>
              <a:buNone/>
            </a:pP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Check edge cases and ambiguous classifications</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Verify formula logic references the right cells</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Sanity-check totals against known values</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Look for structural changes you didn't ask for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F3338"/>
          </a:solidFill>
          <a:ln/>
        </p:spPr>
        <p:txBody>
          <a:bodyPr/>
          <a:lstStyle/>
          <a:p>
            <a:endParaRPr lang="en-US"/>
          </a:p>
        </p:txBody>
      </p:sp>
      <p:sp>
        <p:nvSpPr>
          <p:cNvPr id="3" name="Text 1"/>
          <p:cNvSpPr/>
          <p:nvPr/>
        </p:nvSpPr>
        <p:spPr>
          <a:xfrm>
            <a:off x="365760" y="274320"/>
            <a:ext cx="731520" cy="822960"/>
          </a:xfrm>
          <a:prstGeom prst="rect">
            <a:avLst/>
          </a:prstGeom>
          <a:noFill/>
          <a:ln/>
        </p:spPr>
        <p:txBody>
          <a:bodyPr wrap="square" rtlCol="0" anchor="ctr"/>
          <a:lstStyle/>
          <a:p>
            <a:pPr marL="0" indent="0">
              <a:buNone/>
            </a:pPr>
            <a:r>
              <a:rPr lang="en-US" sz="4800" b="1" dirty="0">
                <a:solidFill>
                  <a:srgbClr val="CF3338"/>
                </a:solidFill>
                <a:latin typeface="Arial Black" pitchFamily="34" charset="0"/>
                <a:ea typeface="Arial Black" pitchFamily="34" charset="-122"/>
                <a:cs typeface="Arial Black" pitchFamily="34" charset="-120"/>
              </a:rPr>
              <a:t>2</a:t>
            </a:r>
            <a:endParaRPr lang="en-US" sz="4800" dirty="0"/>
          </a:p>
        </p:txBody>
      </p:sp>
      <p:pic>
        <p:nvPicPr>
          <p:cNvPr id="4" name="Image 0" descr="preencoded.png"/>
          <p:cNvPicPr>
            <a:picLocks noChangeAspect="1"/>
          </p:cNvPicPr>
          <p:nvPr/>
        </p:nvPicPr>
        <p:blipFill>
          <a:blip r:embed="rId3"/>
          <a:stretch>
            <a:fillRect/>
          </a:stretch>
        </p:blipFill>
        <p:spPr>
          <a:xfrm>
            <a:off x="1188720" y="411480"/>
            <a:ext cx="365760" cy="365760"/>
          </a:xfrm>
          <a:prstGeom prst="rect">
            <a:avLst/>
          </a:prstGeom>
        </p:spPr>
      </p:pic>
      <p:sp>
        <p:nvSpPr>
          <p:cNvPr id="5" name="Text 2"/>
          <p:cNvSpPr/>
          <p:nvPr/>
        </p:nvSpPr>
        <p:spPr>
          <a:xfrm>
            <a:off x="1691640" y="365760"/>
            <a:ext cx="5943600" cy="640080"/>
          </a:xfrm>
          <a:prstGeom prst="rect">
            <a:avLst/>
          </a:prstGeom>
          <a:noFill/>
          <a:ln/>
        </p:spPr>
        <p:txBody>
          <a:bodyPr wrap="square" lIns="0" tIns="0" rIns="0" bIns="0"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Be Specific in Your Prompts</a:t>
            </a:r>
            <a:endParaRPr lang="en-US" sz="2600" dirty="0"/>
          </a:p>
        </p:txBody>
      </p:sp>
      <p:sp>
        <p:nvSpPr>
          <p:cNvPr id="6" name="Shape 3"/>
          <p:cNvSpPr/>
          <p:nvPr/>
        </p:nvSpPr>
        <p:spPr>
          <a:xfrm>
            <a:off x="731520" y="1280160"/>
            <a:ext cx="3657600" cy="27432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7" name="Text 4"/>
          <p:cNvSpPr/>
          <p:nvPr/>
        </p:nvSpPr>
        <p:spPr>
          <a:xfrm>
            <a:off x="731520" y="1280160"/>
            <a:ext cx="3657600" cy="365760"/>
          </a:xfrm>
          <a:prstGeom prst="rect">
            <a:avLst/>
          </a:prstGeom>
          <a:solidFill>
            <a:srgbClr val="707070"/>
          </a:solid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Vague Prompt</a:t>
            </a:r>
            <a:endParaRPr lang="en-US" sz="1200" dirty="0"/>
          </a:p>
        </p:txBody>
      </p:sp>
      <p:sp>
        <p:nvSpPr>
          <p:cNvPr id="8" name="Text 5"/>
          <p:cNvSpPr/>
          <p:nvPr/>
        </p:nvSpPr>
        <p:spPr>
          <a:xfrm>
            <a:off x="914400" y="1828800"/>
            <a:ext cx="3291840" cy="914400"/>
          </a:xfrm>
          <a:prstGeom prst="rect">
            <a:avLst/>
          </a:prstGeom>
          <a:noFill/>
          <a:ln/>
        </p:spPr>
        <p:txBody>
          <a:bodyPr wrap="square" rtlCol="0" anchor="t"/>
          <a:lstStyle/>
          <a:p>
            <a:pPr marL="0" indent="0">
              <a:buNone/>
            </a:pPr>
            <a:r>
              <a:rPr lang="en-US" sz="1600" i="1" dirty="0">
                <a:solidFill>
                  <a:srgbClr val="707070"/>
                </a:solidFill>
                <a:latin typeface="Arial" pitchFamily="34" charset="0"/>
                <a:ea typeface="Arial" pitchFamily="34" charset="-122"/>
                <a:cs typeface="Arial" pitchFamily="34" charset="-120"/>
              </a:rPr>
              <a:t>"Summarize this data"</a:t>
            </a:r>
            <a:endParaRPr lang="en-US" sz="1600" dirty="0"/>
          </a:p>
        </p:txBody>
      </p:sp>
      <p:sp>
        <p:nvSpPr>
          <p:cNvPr id="9" name="Text 6"/>
          <p:cNvSpPr/>
          <p:nvPr/>
        </p:nvSpPr>
        <p:spPr>
          <a:xfrm>
            <a:off x="914400" y="2743200"/>
            <a:ext cx="3291840" cy="1097280"/>
          </a:xfrm>
          <a:prstGeom prst="rect">
            <a:avLst/>
          </a:prstGeom>
          <a:noFill/>
          <a:ln/>
        </p:spPr>
        <p:txBody>
          <a:bodyPr wrap="square" rtlCol="0" anchor="ctr"/>
          <a:lstStyle/>
          <a:p>
            <a:pPr marL="0" indent="0">
              <a:lnSpc>
                <a:spcPct val="130000"/>
              </a:lnSpc>
              <a:buNone/>
            </a:pPr>
            <a:r>
              <a:rPr lang="en-US" sz="1200" dirty="0">
                <a:solidFill>
                  <a:srgbClr val="707070"/>
                </a:solidFill>
                <a:latin typeface="Arial" pitchFamily="34" charset="0"/>
                <a:ea typeface="Arial" pitchFamily="34" charset="-122"/>
                <a:cs typeface="Arial" pitchFamily="34" charset="-120"/>
              </a:rPr>
              <a:t>Result: unpredictable.</a:t>
            </a:r>
            <a:endParaRPr lang="en-US" sz="1200" dirty="0"/>
          </a:p>
          <a:p>
            <a:pPr marL="0" indent="0">
              <a:lnSpc>
                <a:spcPct val="130000"/>
              </a:lnSpc>
              <a:buNone/>
            </a:pPr>
            <a:r>
              <a:rPr lang="en-US" sz="1200" dirty="0">
                <a:solidFill>
                  <a:srgbClr val="707070"/>
                </a:solidFill>
                <a:latin typeface="Arial" pitchFamily="34" charset="0"/>
                <a:ea typeface="Arial" pitchFamily="34" charset="-122"/>
                <a:cs typeface="Arial" pitchFamily="34" charset="-120"/>
              </a:rPr>
              <a:t>Formulas? Pivot tables?</a:t>
            </a:r>
            <a:endParaRPr lang="en-US" sz="1200" dirty="0"/>
          </a:p>
          <a:p>
            <a:pPr marL="0" indent="0">
              <a:lnSpc>
                <a:spcPct val="130000"/>
              </a:lnSpc>
              <a:buNone/>
            </a:pPr>
            <a:r>
              <a:rPr lang="en-US" sz="1200" dirty="0">
                <a:solidFill>
                  <a:srgbClr val="707070"/>
                </a:solidFill>
                <a:latin typeface="Arial" pitchFamily="34" charset="0"/>
                <a:ea typeface="Arial" pitchFamily="34" charset="-122"/>
                <a:cs typeface="Arial" pitchFamily="34" charset="-120"/>
              </a:rPr>
              <a:t>New sheet? Same sheet?</a:t>
            </a:r>
            <a:endParaRPr lang="en-US" sz="1200" dirty="0"/>
          </a:p>
          <a:p>
            <a:pPr marL="0" indent="0">
              <a:lnSpc>
                <a:spcPct val="130000"/>
              </a:lnSpc>
              <a:buNone/>
            </a:pPr>
            <a:r>
              <a:rPr lang="en-US" sz="1200" dirty="0">
                <a:solidFill>
                  <a:srgbClr val="707070"/>
                </a:solidFill>
                <a:latin typeface="Arial" pitchFamily="34" charset="0"/>
                <a:ea typeface="Arial" pitchFamily="34" charset="-122"/>
                <a:cs typeface="Arial" pitchFamily="34" charset="-120"/>
              </a:rPr>
              <a:t>Who knows.</a:t>
            </a:r>
            <a:endParaRPr lang="en-US" sz="1200" dirty="0"/>
          </a:p>
        </p:txBody>
      </p:sp>
      <p:sp>
        <p:nvSpPr>
          <p:cNvPr id="10" name="Shape 7"/>
          <p:cNvSpPr/>
          <p:nvPr/>
        </p:nvSpPr>
        <p:spPr>
          <a:xfrm>
            <a:off x="4754880" y="1280160"/>
            <a:ext cx="3657600" cy="27432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1" name="Text 8"/>
          <p:cNvSpPr/>
          <p:nvPr/>
        </p:nvSpPr>
        <p:spPr>
          <a:xfrm>
            <a:off x="4754880" y="1280160"/>
            <a:ext cx="3657600" cy="365760"/>
          </a:xfrm>
          <a:prstGeom prst="rect">
            <a:avLst/>
          </a:prstGeom>
          <a:solidFill>
            <a:srgbClr val="CF3338"/>
          </a:solid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Specific Prompt</a:t>
            </a:r>
            <a:endParaRPr lang="en-US" sz="1200" dirty="0"/>
          </a:p>
        </p:txBody>
      </p:sp>
      <p:sp>
        <p:nvSpPr>
          <p:cNvPr id="12" name="Text 9"/>
          <p:cNvSpPr/>
          <p:nvPr/>
        </p:nvSpPr>
        <p:spPr>
          <a:xfrm>
            <a:off x="4937760" y="1828800"/>
            <a:ext cx="3291840" cy="1463040"/>
          </a:xfrm>
          <a:prstGeom prst="rect">
            <a:avLst/>
          </a:prstGeom>
          <a:noFill/>
          <a:ln/>
        </p:spPr>
        <p:txBody>
          <a:bodyPr wrap="square" rtlCol="0" anchor="t"/>
          <a:lstStyle/>
          <a:p>
            <a:pPr marL="0" indent="0">
              <a:lnSpc>
                <a:spcPct val="130000"/>
              </a:lnSpc>
              <a:buNone/>
            </a:pPr>
            <a:r>
              <a:rPr lang="en-US" sz="1300" dirty="0">
                <a:solidFill>
                  <a:srgbClr val="1F2120"/>
                </a:solidFill>
                <a:latin typeface="Arial" pitchFamily="34" charset="0"/>
                <a:ea typeface="Arial" pitchFamily="34" charset="-122"/>
                <a:cs typeface="Arial" pitchFamily="34" charset="-120"/>
              </a:rPr>
              <a:t>"Using SUMIFS formulas in a</a:t>
            </a:r>
            <a:endParaRPr lang="en-US" sz="1300" dirty="0"/>
          </a:p>
          <a:p>
            <a:pPr marL="0" indent="0">
              <a:lnSpc>
                <a:spcPct val="130000"/>
              </a:lnSpc>
              <a:buNone/>
            </a:pPr>
            <a:r>
              <a:rPr lang="en-US" sz="1300" dirty="0">
                <a:solidFill>
                  <a:srgbClr val="1F2120"/>
                </a:solidFill>
                <a:latin typeface="Arial" pitchFamily="34" charset="0"/>
                <a:ea typeface="Arial" pitchFamily="34" charset="-122"/>
                <a:cs typeface="Arial" pitchFamily="34" charset="-120"/>
              </a:rPr>
              <a:t>new worksheet called 'Summary',</a:t>
            </a:r>
            <a:endParaRPr lang="en-US" sz="1300" dirty="0"/>
          </a:p>
          <a:p>
            <a:pPr marL="0" indent="0">
              <a:lnSpc>
                <a:spcPct val="130000"/>
              </a:lnSpc>
              <a:buNone/>
            </a:pPr>
            <a:r>
              <a:rPr lang="en-US" sz="1300" dirty="0">
                <a:solidFill>
                  <a:srgbClr val="1F2120"/>
                </a:solidFill>
                <a:latin typeface="Arial" pitchFamily="34" charset="0"/>
                <a:ea typeface="Arial" pitchFamily="34" charset="-122"/>
                <a:cs typeface="Arial" pitchFamily="34" charset="-120"/>
              </a:rPr>
              <a:t>calculate total spend by category</a:t>
            </a:r>
            <a:endParaRPr lang="en-US" sz="1300" dirty="0"/>
          </a:p>
          <a:p>
            <a:pPr marL="0" indent="0">
              <a:lnSpc>
                <a:spcPct val="130000"/>
              </a:lnSpc>
              <a:buNone/>
            </a:pPr>
            <a:r>
              <a:rPr lang="en-US" sz="1300" dirty="0">
                <a:solidFill>
                  <a:srgbClr val="1F2120"/>
                </a:solidFill>
                <a:latin typeface="Arial" pitchFamily="34" charset="0"/>
                <a:ea typeface="Arial" pitchFamily="34" charset="-122"/>
                <a:cs typeface="Arial" pitchFamily="34" charset="-120"/>
              </a:rPr>
              <a:t>and by department. Highlight the</a:t>
            </a:r>
            <a:endParaRPr lang="en-US" sz="1300" dirty="0"/>
          </a:p>
          <a:p>
            <a:pPr marL="0" indent="0">
              <a:lnSpc>
                <a:spcPct val="130000"/>
              </a:lnSpc>
              <a:buNone/>
            </a:pPr>
            <a:r>
              <a:rPr lang="en-US" sz="1300" dirty="0">
                <a:solidFill>
                  <a:srgbClr val="1F2120"/>
                </a:solidFill>
                <a:latin typeface="Arial" pitchFamily="34" charset="0"/>
                <a:ea typeface="Arial" pitchFamily="34" charset="-122"/>
                <a:cs typeface="Arial" pitchFamily="34" charset="-120"/>
              </a:rPr>
              <a:t>largest single expense."</a:t>
            </a:r>
            <a:endParaRPr lang="en-US" sz="1300" dirty="0"/>
          </a:p>
        </p:txBody>
      </p:sp>
      <p:sp>
        <p:nvSpPr>
          <p:cNvPr id="13" name="Text 10"/>
          <p:cNvSpPr/>
          <p:nvPr/>
        </p:nvSpPr>
        <p:spPr>
          <a:xfrm>
            <a:off x="4937760" y="3383280"/>
            <a:ext cx="3291840" cy="548640"/>
          </a:xfrm>
          <a:prstGeom prst="rect">
            <a:avLst/>
          </a:prstGeom>
          <a:noFill/>
          <a:ln/>
        </p:spPr>
        <p:txBody>
          <a:bodyPr wrap="square" rtlCol="0" anchor="ctr"/>
          <a:lstStyle/>
          <a:p>
            <a:pPr marL="0" indent="0">
              <a:lnSpc>
                <a:spcPct val="130000"/>
              </a:lnSpc>
              <a:buNone/>
            </a:pPr>
            <a:r>
              <a:rPr lang="en-US" sz="1200" b="1" dirty="0">
                <a:solidFill>
                  <a:srgbClr val="1F2120"/>
                </a:solidFill>
                <a:latin typeface="Arial" pitchFamily="34" charset="0"/>
                <a:ea typeface="Arial" pitchFamily="34" charset="-122"/>
                <a:cs typeface="Arial" pitchFamily="34" charset="-120"/>
              </a:rPr>
              <a:t>Result: consistent and</a:t>
            </a:r>
            <a:endParaRPr lang="en-US" sz="1200" dirty="0"/>
          </a:p>
          <a:p>
            <a:pPr marL="0" indent="0">
              <a:lnSpc>
                <a:spcPct val="130000"/>
              </a:lnSpc>
              <a:buNone/>
            </a:pPr>
            <a:r>
              <a:rPr lang="en-US" sz="1200" b="1" dirty="0">
                <a:solidFill>
                  <a:srgbClr val="1F2120"/>
                </a:solidFill>
                <a:latin typeface="Arial" pitchFamily="34" charset="0"/>
                <a:ea typeface="Arial" pitchFamily="34" charset="-122"/>
                <a:cs typeface="Arial" pitchFamily="34" charset="-120"/>
              </a:rPr>
              <a:t>auditable, in any tool.</a:t>
            </a:r>
            <a:endParaRPr lang="en-US" sz="1200" dirty="0"/>
          </a:p>
        </p:txBody>
      </p:sp>
      <p:sp>
        <p:nvSpPr>
          <p:cNvPr id="14" name="Text 11"/>
          <p:cNvSpPr/>
          <p:nvPr/>
        </p:nvSpPr>
        <p:spPr>
          <a:xfrm>
            <a:off x="731520" y="4297680"/>
            <a:ext cx="7315200" cy="365760"/>
          </a:xfrm>
          <a:prstGeom prst="rect">
            <a:avLst/>
          </a:prstGeom>
          <a:noFill/>
          <a:ln/>
        </p:spPr>
        <p:txBody>
          <a:bodyPr wrap="square" rtlCol="0" anchor="ctr"/>
          <a:lstStyle/>
          <a:p>
            <a:pPr marL="0" indent="0">
              <a:buNone/>
            </a:pPr>
            <a:r>
              <a:rPr lang="en-US" sz="1300" i="1" dirty="0">
                <a:solidFill>
                  <a:srgbClr val="707070"/>
                </a:solidFill>
                <a:latin typeface="Arial" pitchFamily="34" charset="0"/>
                <a:ea typeface="Arial" pitchFamily="34" charset="-122"/>
                <a:cs typeface="Arial" pitchFamily="34" charset="-120"/>
              </a:rPr>
              <a:t>The more explicit your instructions, the more consistent your results, in any tool.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F3338"/>
          </a:solidFill>
          <a:ln/>
        </p:spPr>
        <p:txBody>
          <a:bodyPr/>
          <a:lstStyle/>
          <a:p>
            <a:endParaRPr lang="en-US"/>
          </a:p>
        </p:txBody>
      </p:sp>
      <p:sp>
        <p:nvSpPr>
          <p:cNvPr id="3" name="Text 1"/>
          <p:cNvSpPr/>
          <p:nvPr/>
        </p:nvSpPr>
        <p:spPr>
          <a:xfrm>
            <a:off x="365760" y="274320"/>
            <a:ext cx="731520" cy="822960"/>
          </a:xfrm>
          <a:prstGeom prst="rect">
            <a:avLst/>
          </a:prstGeom>
          <a:noFill/>
          <a:ln/>
        </p:spPr>
        <p:txBody>
          <a:bodyPr wrap="square" rtlCol="0" anchor="ctr"/>
          <a:lstStyle/>
          <a:p>
            <a:pPr marL="0" indent="0">
              <a:buNone/>
            </a:pPr>
            <a:r>
              <a:rPr lang="en-US" sz="4800" b="1" dirty="0">
                <a:solidFill>
                  <a:srgbClr val="CF3338"/>
                </a:solidFill>
                <a:latin typeface="Arial Black" pitchFamily="34" charset="0"/>
                <a:ea typeface="Arial Black" pitchFamily="34" charset="-122"/>
                <a:cs typeface="Arial Black" pitchFamily="34" charset="-120"/>
              </a:rPr>
              <a:t>3</a:t>
            </a:r>
            <a:endParaRPr lang="en-US" sz="4800" dirty="0"/>
          </a:p>
        </p:txBody>
      </p:sp>
      <p:pic>
        <p:nvPicPr>
          <p:cNvPr id="4" name="Image 0" descr="preencoded.png"/>
          <p:cNvPicPr>
            <a:picLocks noChangeAspect="1"/>
          </p:cNvPicPr>
          <p:nvPr/>
        </p:nvPicPr>
        <p:blipFill>
          <a:blip r:embed="rId3"/>
          <a:stretch>
            <a:fillRect/>
          </a:stretch>
        </p:blipFill>
        <p:spPr>
          <a:xfrm>
            <a:off x="1188720" y="411480"/>
            <a:ext cx="365760" cy="365760"/>
          </a:xfrm>
          <a:prstGeom prst="rect">
            <a:avLst/>
          </a:prstGeom>
        </p:spPr>
      </p:pic>
      <p:sp>
        <p:nvSpPr>
          <p:cNvPr id="5" name="Text 2"/>
          <p:cNvSpPr/>
          <p:nvPr/>
        </p:nvSpPr>
        <p:spPr>
          <a:xfrm>
            <a:off x="1691640" y="365760"/>
            <a:ext cx="5943600" cy="640080"/>
          </a:xfrm>
          <a:prstGeom prst="rect">
            <a:avLst/>
          </a:prstGeom>
          <a:noFill/>
          <a:ln/>
        </p:spPr>
        <p:txBody>
          <a:bodyPr wrap="square" lIns="0" tIns="0" rIns="0" bIns="0"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Use a Style Guide</a:t>
            </a:r>
            <a:endParaRPr lang="en-US" sz="2600" dirty="0"/>
          </a:p>
        </p:txBody>
      </p:sp>
      <p:sp>
        <p:nvSpPr>
          <p:cNvPr id="6" name="Text 3"/>
          <p:cNvSpPr/>
          <p:nvPr/>
        </p:nvSpPr>
        <p:spPr>
          <a:xfrm>
            <a:off x="1188720" y="1188720"/>
            <a:ext cx="6858000" cy="3291840"/>
          </a:xfrm>
          <a:prstGeom prst="rect">
            <a:avLst/>
          </a:prstGeom>
          <a:noFill/>
          <a:ln/>
        </p:spPr>
        <p:txBody>
          <a:bodyPr wrap="square" rtlCol="0" anchor="ctr"/>
          <a:lstStyle/>
          <a:p>
            <a:pPr marL="0" indent="0">
              <a:spcAft>
                <a:spcPts val="600"/>
              </a:spcAft>
              <a:buNone/>
            </a:pPr>
            <a:r>
              <a:rPr lang="en-US" sz="1600" b="1" dirty="0">
                <a:solidFill>
                  <a:srgbClr val="707070"/>
                </a:solidFill>
                <a:latin typeface="Arial" pitchFamily="34" charset="0"/>
                <a:ea typeface="Arial" pitchFamily="34" charset="-122"/>
                <a:cs typeface="Arial" pitchFamily="34" charset="-120"/>
              </a:rPr>
              <a:t>Create a document that tells the AI how you want Excel work done.</a:t>
            </a:r>
            <a:endParaRPr lang="en-US" sz="1400" dirty="0"/>
          </a:p>
          <a:p>
            <a:pPr marL="0" indent="0">
              <a:spcAft>
                <a:spcPts val="600"/>
              </a:spcAft>
              <a:buNone/>
            </a:pP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Use Excel Tables, not loose ranges</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Naming conventions: tbl_, p_, m_</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Preferred functions: XLOOKUP over VLOOKUP</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Formatting standards and documentation expectations</a:t>
            </a:r>
            <a:endParaRPr lang="en-US" sz="1400" dirty="0"/>
          </a:p>
          <a:p>
            <a:pPr marL="0" indent="0">
              <a:spcAft>
                <a:spcPts val="600"/>
              </a:spcAft>
              <a:buNone/>
            </a:pPr>
            <a:endParaRPr lang="en-US" sz="1400" dirty="0"/>
          </a:p>
          <a:p>
            <a:pPr marL="0" indent="0">
              <a:spcAft>
                <a:spcPts val="600"/>
              </a:spcAft>
              <a:buNone/>
            </a:pPr>
            <a:r>
              <a:rPr lang="en-US" sz="1400" i="1" dirty="0">
                <a:solidFill>
                  <a:srgbClr val="707070"/>
                </a:solidFill>
                <a:latin typeface="Arial" pitchFamily="34" charset="0"/>
                <a:ea typeface="Arial" pitchFamily="34" charset="-122"/>
                <a:cs typeface="Arial" pitchFamily="34" charset="-120"/>
              </a:rPr>
              <a:t>Paste it at the start of any AI session. This is included in your materials.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F3338"/>
          </a:solidFill>
          <a:ln/>
        </p:spPr>
        <p:txBody>
          <a:bodyPr/>
          <a:lstStyle/>
          <a:p>
            <a:endParaRPr lang="en-US"/>
          </a:p>
        </p:txBody>
      </p:sp>
      <p:sp>
        <p:nvSpPr>
          <p:cNvPr id="3" name="Text 1"/>
          <p:cNvSpPr/>
          <p:nvPr/>
        </p:nvSpPr>
        <p:spPr>
          <a:xfrm>
            <a:off x="365760" y="274320"/>
            <a:ext cx="731520" cy="822960"/>
          </a:xfrm>
          <a:prstGeom prst="rect">
            <a:avLst/>
          </a:prstGeom>
          <a:noFill/>
          <a:ln/>
        </p:spPr>
        <p:txBody>
          <a:bodyPr wrap="square" rtlCol="0" anchor="ctr"/>
          <a:lstStyle/>
          <a:p>
            <a:pPr marL="0" indent="0">
              <a:buNone/>
            </a:pPr>
            <a:r>
              <a:rPr lang="en-US" sz="4800" b="1" dirty="0">
                <a:solidFill>
                  <a:srgbClr val="CF3338"/>
                </a:solidFill>
                <a:latin typeface="Arial Black" pitchFamily="34" charset="0"/>
                <a:ea typeface="Arial Black" pitchFamily="34" charset="-122"/>
                <a:cs typeface="Arial Black" pitchFamily="34" charset="-120"/>
              </a:rPr>
              <a:t>4</a:t>
            </a:r>
            <a:endParaRPr lang="en-US" sz="4800" dirty="0"/>
          </a:p>
        </p:txBody>
      </p:sp>
      <p:pic>
        <p:nvPicPr>
          <p:cNvPr id="4" name="Image 0" descr="preencoded.png"/>
          <p:cNvPicPr>
            <a:picLocks noChangeAspect="1"/>
          </p:cNvPicPr>
          <p:nvPr/>
        </p:nvPicPr>
        <p:blipFill>
          <a:blip r:embed="rId3"/>
          <a:stretch>
            <a:fillRect/>
          </a:stretch>
        </p:blipFill>
        <p:spPr>
          <a:xfrm>
            <a:off x="1188720" y="411480"/>
            <a:ext cx="365760" cy="365760"/>
          </a:xfrm>
          <a:prstGeom prst="rect">
            <a:avLst/>
          </a:prstGeom>
        </p:spPr>
      </p:pic>
      <p:sp>
        <p:nvSpPr>
          <p:cNvPr id="5" name="Text 2"/>
          <p:cNvSpPr/>
          <p:nvPr/>
        </p:nvSpPr>
        <p:spPr>
          <a:xfrm>
            <a:off x="1691640" y="365760"/>
            <a:ext cx="5943600" cy="640080"/>
          </a:xfrm>
          <a:prstGeom prst="rect">
            <a:avLst/>
          </a:prstGeom>
          <a:noFill/>
          <a:ln/>
        </p:spPr>
        <p:txBody>
          <a:bodyPr wrap="square" lIns="0" tIns="0" rIns="0" bIns="0"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Expect Variability</a:t>
            </a:r>
            <a:endParaRPr lang="en-US" sz="2600" dirty="0"/>
          </a:p>
        </p:txBody>
      </p:sp>
      <p:sp>
        <p:nvSpPr>
          <p:cNvPr id="6" name="Text 3"/>
          <p:cNvSpPr/>
          <p:nvPr/>
        </p:nvSpPr>
        <p:spPr>
          <a:xfrm>
            <a:off x="1188720" y="1188720"/>
            <a:ext cx="6858000" cy="3291840"/>
          </a:xfrm>
          <a:prstGeom prst="rect">
            <a:avLst/>
          </a:prstGeom>
          <a:noFill/>
          <a:ln/>
        </p:spPr>
        <p:txBody>
          <a:bodyPr wrap="square" rtlCol="0" anchor="ctr"/>
          <a:lstStyle/>
          <a:p>
            <a:pPr marL="0" indent="0">
              <a:spcAft>
                <a:spcPts val="600"/>
              </a:spcAft>
              <a:buNone/>
            </a:pPr>
            <a:r>
              <a:rPr lang="en-US" sz="1600" b="1" dirty="0">
                <a:solidFill>
                  <a:srgbClr val="707070"/>
                </a:solidFill>
                <a:latin typeface="Arial" pitchFamily="34" charset="0"/>
                <a:ea typeface="Arial" pitchFamily="34" charset="-122"/>
                <a:cs typeface="Arial" pitchFamily="34" charset="-120"/>
              </a:rPr>
              <a:t>These are generative models, not deterministic calculators.</a:t>
            </a:r>
            <a:endParaRPr lang="en-US" sz="1400" dirty="0"/>
          </a:p>
          <a:p>
            <a:pPr marL="0" indent="0">
              <a:spcAft>
                <a:spcPts val="600"/>
              </a:spcAft>
              <a:buNone/>
            </a:pP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Run the same prompt twice and you may get different results</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Same model in different tools can behave differently</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Results will change as models are updated</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Your job: understand the output, not just trust it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F3338"/>
          </a:solidFill>
          <a:ln/>
        </p:spPr>
        <p:txBody>
          <a:bodyPr/>
          <a:lstStyle/>
          <a:p>
            <a:endParaRPr lang="en-US"/>
          </a:p>
        </p:txBody>
      </p:sp>
      <p:sp>
        <p:nvSpPr>
          <p:cNvPr id="3" name="Text 1"/>
          <p:cNvSpPr/>
          <p:nvPr/>
        </p:nvSpPr>
        <p:spPr>
          <a:xfrm>
            <a:off x="365760" y="274320"/>
            <a:ext cx="731520" cy="822960"/>
          </a:xfrm>
          <a:prstGeom prst="rect">
            <a:avLst/>
          </a:prstGeom>
          <a:noFill/>
          <a:ln/>
        </p:spPr>
        <p:txBody>
          <a:bodyPr wrap="square" rtlCol="0" anchor="ctr"/>
          <a:lstStyle/>
          <a:p>
            <a:pPr marL="0" indent="0">
              <a:buNone/>
            </a:pPr>
            <a:r>
              <a:rPr lang="en-US" sz="4800" b="1" dirty="0">
                <a:solidFill>
                  <a:srgbClr val="CF3338"/>
                </a:solidFill>
                <a:latin typeface="Arial Black" pitchFamily="34" charset="0"/>
                <a:ea typeface="Arial Black" pitchFamily="34" charset="-122"/>
                <a:cs typeface="Arial Black" pitchFamily="34" charset="-120"/>
              </a:rPr>
              <a:t>5</a:t>
            </a:r>
            <a:endParaRPr lang="en-US" sz="4800" dirty="0"/>
          </a:p>
        </p:txBody>
      </p:sp>
      <p:pic>
        <p:nvPicPr>
          <p:cNvPr id="4" name="Image 0" descr="preencoded.png"/>
          <p:cNvPicPr>
            <a:picLocks noChangeAspect="1"/>
          </p:cNvPicPr>
          <p:nvPr/>
        </p:nvPicPr>
        <p:blipFill>
          <a:blip r:embed="rId3"/>
          <a:stretch>
            <a:fillRect/>
          </a:stretch>
        </p:blipFill>
        <p:spPr>
          <a:xfrm>
            <a:off x="1188720" y="411480"/>
            <a:ext cx="365760" cy="365760"/>
          </a:xfrm>
          <a:prstGeom prst="rect">
            <a:avLst/>
          </a:prstGeom>
        </p:spPr>
      </p:pic>
      <p:sp>
        <p:nvSpPr>
          <p:cNvPr id="5" name="Text 2"/>
          <p:cNvSpPr/>
          <p:nvPr/>
        </p:nvSpPr>
        <p:spPr>
          <a:xfrm>
            <a:off x="1691640" y="365760"/>
            <a:ext cx="5943600" cy="640080"/>
          </a:xfrm>
          <a:prstGeom prst="rect">
            <a:avLst/>
          </a:prstGeom>
          <a:noFill/>
          <a:ln/>
        </p:spPr>
        <p:txBody>
          <a:bodyPr wrap="square" lIns="0" tIns="0" rIns="0" bIns="0"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Know Where Your Data Goes</a:t>
            </a:r>
            <a:endParaRPr lang="en-US" sz="2600" dirty="0"/>
          </a:p>
        </p:txBody>
      </p:sp>
      <p:sp>
        <p:nvSpPr>
          <p:cNvPr id="6" name="Shape 3"/>
          <p:cNvSpPr/>
          <p:nvPr/>
        </p:nvSpPr>
        <p:spPr>
          <a:xfrm>
            <a:off x="731520" y="1280160"/>
            <a:ext cx="3657600" cy="22860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7" name="Shape 4"/>
          <p:cNvSpPr/>
          <p:nvPr/>
        </p:nvSpPr>
        <p:spPr>
          <a:xfrm>
            <a:off x="731520" y="1280160"/>
            <a:ext cx="73152" cy="2286000"/>
          </a:xfrm>
          <a:prstGeom prst="rect">
            <a:avLst/>
          </a:prstGeom>
          <a:solidFill>
            <a:srgbClr val="CF3338"/>
          </a:solidFill>
          <a:ln/>
        </p:spPr>
        <p:txBody>
          <a:bodyPr/>
          <a:lstStyle/>
          <a:p>
            <a:endParaRPr lang="en-US"/>
          </a:p>
        </p:txBody>
      </p:sp>
      <p:sp>
        <p:nvSpPr>
          <p:cNvPr id="8" name="Text 5"/>
          <p:cNvSpPr/>
          <p:nvPr/>
        </p:nvSpPr>
        <p:spPr>
          <a:xfrm>
            <a:off x="1005840" y="1371600"/>
            <a:ext cx="3200400" cy="365760"/>
          </a:xfrm>
          <a:prstGeom prst="rect">
            <a:avLst/>
          </a:prstGeom>
          <a:noFill/>
          <a:ln/>
        </p:spPr>
        <p:txBody>
          <a:bodyPr wrap="square" rtlCol="0" anchor="ctr"/>
          <a:lstStyle/>
          <a:p>
            <a:pPr marL="0" indent="0">
              <a:buNone/>
            </a:pPr>
            <a:r>
              <a:rPr lang="en-US" sz="1600" b="1" dirty="0">
                <a:solidFill>
                  <a:srgbClr val="CF3338"/>
                </a:solidFill>
                <a:latin typeface="Arial Black" pitchFamily="34" charset="0"/>
                <a:ea typeface="Arial Black" pitchFamily="34" charset="-122"/>
                <a:cs typeface="Arial Black" pitchFamily="34" charset="-120"/>
              </a:rPr>
              <a:t>Copilot</a:t>
            </a:r>
            <a:endParaRPr lang="en-US" sz="1600" dirty="0"/>
          </a:p>
        </p:txBody>
      </p:sp>
      <p:sp>
        <p:nvSpPr>
          <p:cNvPr id="9" name="Text 6"/>
          <p:cNvSpPr/>
          <p:nvPr/>
        </p:nvSpPr>
        <p:spPr>
          <a:xfrm>
            <a:off x="1005840" y="1828800"/>
            <a:ext cx="3200400" cy="1371600"/>
          </a:xfrm>
          <a:prstGeom prst="rect">
            <a:avLst/>
          </a:prstGeom>
          <a:noFill/>
          <a:ln/>
        </p:spPr>
        <p:txBody>
          <a:bodyPr wrap="square" rtlCol="0" anchor="ctr"/>
          <a:lstStyle/>
          <a:p>
            <a:pPr marL="0" indent="0">
              <a:lnSpc>
                <a:spcPct val="140000"/>
              </a:lnSpc>
              <a:buNone/>
            </a:pPr>
            <a:r>
              <a:rPr lang="en-US" sz="1300" dirty="0">
                <a:solidFill>
                  <a:srgbClr val="707070"/>
                </a:solidFill>
                <a:latin typeface="Arial" pitchFamily="34" charset="0"/>
                <a:ea typeface="Arial" pitchFamily="34" charset="-122"/>
                <a:cs typeface="Arial" pitchFamily="34" charset="-120"/>
              </a:rPr>
              <a:t>Data stays within the Microsoft</a:t>
            </a:r>
            <a:endParaRPr lang="en-US" sz="1300" dirty="0"/>
          </a:p>
          <a:p>
            <a:pPr marL="0" indent="0">
              <a:lnSpc>
                <a:spcPct val="140000"/>
              </a:lnSpc>
              <a:buNone/>
            </a:pPr>
            <a:r>
              <a:rPr lang="en-US" sz="1300" dirty="0">
                <a:solidFill>
                  <a:srgbClr val="707070"/>
                </a:solidFill>
                <a:latin typeface="Arial" pitchFamily="34" charset="0"/>
                <a:ea typeface="Arial" pitchFamily="34" charset="-122"/>
                <a:cs typeface="Arial" pitchFamily="34" charset="-120"/>
              </a:rPr>
              <a:t>ecosystem. Enterprise admin controls.</a:t>
            </a:r>
            <a:endParaRPr lang="en-US" sz="1300" dirty="0"/>
          </a:p>
          <a:p>
            <a:pPr marL="0" indent="0">
              <a:lnSpc>
                <a:spcPct val="140000"/>
              </a:lnSpc>
              <a:buNone/>
            </a:pPr>
            <a:r>
              <a:rPr lang="en-US" sz="1300" dirty="0">
                <a:solidFill>
                  <a:srgbClr val="707070"/>
                </a:solidFill>
                <a:latin typeface="Arial" pitchFamily="34" charset="0"/>
                <a:ea typeface="Arial" pitchFamily="34" charset="-122"/>
                <a:cs typeface="Arial" pitchFamily="34" charset="-120"/>
              </a:rPr>
              <a:t>Familiar compliance framework.</a:t>
            </a:r>
            <a:endParaRPr lang="en-US" sz="1300" dirty="0"/>
          </a:p>
        </p:txBody>
      </p:sp>
      <p:sp>
        <p:nvSpPr>
          <p:cNvPr id="10" name="Shape 7"/>
          <p:cNvSpPr/>
          <p:nvPr/>
        </p:nvSpPr>
        <p:spPr>
          <a:xfrm>
            <a:off x="4754880" y="1280160"/>
            <a:ext cx="3657600" cy="22860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1" name="Shape 8"/>
          <p:cNvSpPr/>
          <p:nvPr/>
        </p:nvSpPr>
        <p:spPr>
          <a:xfrm>
            <a:off x="4754880" y="1280160"/>
            <a:ext cx="73152" cy="2286000"/>
          </a:xfrm>
          <a:prstGeom prst="rect">
            <a:avLst/>
          </a:prstGeom>
          <a:solidFill>
            <a:srgbClr val="CF3338"/>
          </a:solidFill>
          <a:ln/>
        </p:spPr>
        <p:txBody>
          <a:bodyPr/>
          <a:lstStyle/>
          <a:p>
            <a:endParaRPr lang="en-US"/>
          </a:p>
        </p:txBody>
      </p:sp>
      <p:sp>
        <p:nvSpPr>
          <p:cNvPr id="12" name="Text 9"/>
          <p:cNvSpPr/>
          <p:nvPr/>
        </p:nvSpPr>
        <p:spPr>
          <a:xfrm>
            <a:off x="5029200" y="1371600"/>
            <a:ext cx="3200400" cy="365760"/>
          </a:xfrm>
          <a:prstGeom prst="rect">
            <a:avLst/>
          </a:prstGeom>
          <a:noFill/>
          <a:ln/>
        </p:spPr>
        <p:txBody>
          <a:bodyPr wrap="square" rtlCol="0" anchor="ctr"/>
          <a:lstStyle/>
          <a:p>
            <a:pPr marL="0" indent="0">
              <a:buNone/>
            </a:pPr>
            <a:r>
              <a:rPr lang="en-US" sz="1600" b="1" dirty="0">
                <a:solidFill>
                  <a:srgbClr val="CF3338"/>
                </a:solidFill>
                <a:latin typeface="Arial Black" pitchFamily="34" charset="0"/>
                <a:ea typeface="Arial Black" pitchFamily="34" charset="-122"/>
                <a:cs typeface="Arial Black" pitchFamily="34" charset="-120"/>
              </a:rPr>
              <a:t>Claude Add-in</a:t>
            </a:r>
            <a:endParaRPr lang="en-US" sz="1600" dirty="0"/>
          </a:p>
        </p:txBody>
      </p:sp>
      <p:sp>
        <p:nvSpPr>
          <p:cNvPr id="13" name="Text 10"/>
          <p:cNvSpPr/>
          <p:nvPr/>
        </p:nvSpPr>
        <p:spPr>
          <a:xfrm>
            <a:off x="5029200" y="1828800"/>
            <a:ext cx="3200400" cy="1371600"/>
          </a:xfrm>
          <a:prstGeom prst="rect">
            <a:avLst/>
          </a:prstGeom>
          <a:noFill/>
          <a:ln/>
        </p:spPr>
        <p:txBody>
          <a:bodyPr wrap="square" rtlCol="0" anchor="ctr"/>
          <a:lstStyle/>
          <a:p>
            <a:pPr marL="0" indent="0">
              <a:lnSpc>
                <a:spcPct val="140000"/>
              </a:lnSpc>
              <a:buNone/>
            </a:pPr>
            <a:r>
              <a:rPr lang="en-US" sz="1300" dirty="0">
                <a:solidFill>
                  <a:srgbClr val="707070"/>
                </a:solidFill>
                <a:latin typeface="Arial" pitchFamily="34" charset="0"/>
                <a:ea typeface="Arial" pitchFamily="34" charset="-122"/>
                <a:cs typeface="Arial" pitchFamily="34" charset="-120"/>
              </a:rPr>
              <a:t>Data is sent to Anthropic's servers.</a:t>
            </a:r>
            <a:endParaRPr lang="en-US" sz="1300" dirty="0"/>
          </a:p>
          <a:p>
            <a:pPr marL="0" indent="0">
              <a:lnSpc>
                <a:spcPct val="140000"/>
              </a:lnSpc>
              <a:buNone/>
            </a:pPr>
            <a:r>
              <a:rPr lang="en-US" sz="1300" dirty="0">
                <a:solidFill>
                  <a:srgbClr val="707070"/>
                </a:solidFill>
                <a:latin typeface="Arial" pitchFamily="34" charset="0"/>
                <a:ea typeface="Arial" pitchFamily="34" charset="-122"/>
                <a:cs typeface="Arial" pitchFamily="34" charset="-120"/>
              </a:rPr>
              <a:t>Check your organization's data</a:t>
            </a:r>
            <a:endParaRPr lang="en-US" sz="1300" dirty="0"/>
          </a:p>
          <a:p>
            <a:pPr marL="0" indent="0">
              <a:lnSpc>
                <a:spcPct val="140000"/>
              </a:lnSpc>
              <a:buNone/>
            </a:pPr>
            <a:r>
              <a:rPr lang="en-US" sz="1300" dirty="0">
                <a:solidFill>
                  <a:srgbClr val="707070"/>
                </a:solidFill>
                <a:latin typeface="Arial" pitchFamily="34" charset="0"/>
                <a:ea typeface="Arial" pitchFamily="34" charset="-122"/>
                <a:cs typeface="Arial" pitchFamily="34" charset="-120"/>
              </a:rPr>
              <a:t>policies before using with</a:t>
            </a:r>
            <a:endParaRPr lang="en-US" sz="1300" dirty="0"/>
          </a:p>
          <a:p>
            <a:pPr marL="0" indent="0">
              <a:lnSpc>
                <a:spcPct val="140000"/>
              </a:lnSpc>
              <a:buNone/>
            </a:pPr>
            <a:r>
              <a:rPr lang="en-US" sz="1300" dirty="0">
                <a:solidFill>
                  <a:srgbClr val="707070"/>
                </a:solidFill>
                <a:latin typeface="Arial" pitchFamily="34" charset="0"/>
                <a:ea typeface="Arial" pitchFamily="34" charset="-122"/>
                <a:cs typeface="Arial" pitchFamily="34" charset="-120"/>
              </a:rPr>
              <a:t>sensitive information.</a:t>
            </a:r>
            <a:endParaRPr lang="en-US" sz="1300" dirty="0"/>
          </a:p>
        </p:txBody>
      </p:sp>
      <p:sp>
        <p:nvSpPr>
          <p:cNvPr id="14" name="Shape 11"/>
          <p:cNvSpPr/>
          <p:nvPr/>
        </p:nvSpPr>
        <p:spPr>
          <a:xfrm>
            <a:off x="731520" y="3840480"/>
            <a:ext cx="768096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5" name="Shape 12"/>
          <p:cNvSpPr/>
          <p:nvPr/>
        </p:nvSpPr>
        <p:spPr>
          <a:xfrm>
            <a:off x="731520" y="3840480"/>
            <a:ext cx="73152" cy="731520"/>
          </a:xfrm>
          <a:prstGeom prst="rect">
            <a:avLst/>
          </a:prstGeom>
          <a:solidFill>
            <a:srgbClr val="CF3338"/>
          </a:solidFill>
          <a:ln/>
        </p:spPr>
        <p:txBody>
          <a:bodyPr/>
          <a:lstStyle/>
          <a:p>
            <a:endParaRPr lang="en-US"/>
          </a:p>
        </p:txBody>
      </p:sp>
      <p:sp>
        <p:nvSpPr>
          <p:cNvPr id="16" name="Text 13"/>
          <p:cNvSpPr/>
          <p:nvPr/>
        </p:nvSpPr>
        <p:spPr>
          <a:xfrm>
            <a:off x="1005840" y="3931920"/>
            <a:ext cx="7132320" cy="548640"/>
          </a:xfrm>
          <a:prstGeom prst="rect">
            <a:avLst/>
          </a:prstGeom>
          <a:noFill/>
          <a:ln/>
        </p:spPr>
        <p:txBody>
          <a:bodyPr wrap="square" rtlCol="0" anchor="ctr"/>
          <a:lstStyle/>
          <a:p>
            <a:pPr marL="0" indent="0">
              <a:buNone/>
            </a:pPr>
            <a:r>
              <a:rPr lang="en-US" sz="1400" b="1" dirty="0">
                <a:solidFill>
                  <a:srgbClr val="1F2120"/>
                </a:solidFill>
                <a:latin typeface="Arial" pitchFamily="34" charset="0"/>
                <a:ea typeface="Arial" pitchFamily="34" charset="-122"/>
                <a:cs typeface="Arial" pitchFamily="34" charset="-120"/>
              </a:rPr>
              <a:t>Ask your IT team before using any AI tool with sensitive or proprietary data.</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Making the Decision</a:t>
            </a:r>
            <a:endParaRPr lang="en-US" sz="2800" dirty="0"/>
          </a:p>
        </p:txBody>
      </p:sp>
      <p:sp>
        <p:nvSpPr>
          <p:cNvPr id="3" name="Text 1"/>
          <p:cNvSpPr/>
          <p:nvPr/>
        </p:nvSpPr>
        <p:spPr>
          <a:xfrm>
            <a:off x="731520" y="822960"/>
            <a:ext cx="7315200" cy="365760"/>
          </a:xfrm>
          <a:prstGeom prst="rect">
            <a:avLst/>
          </a:prstGeom>
          <a:noFill/>
          <a:ln/>
        </p:spPr>
        <p:txBody>
          <a:bodyPr wrap="square" rtlCol="0" anchor="ctr"/>
          <a:lstStyle/>
          <a:p>
            <a:pPr marL="0" indent="0">
              <a:buNone/>
            </a:pPr>
            <a:r>
              <a:rPr lang="en-US" sz="1300" i="1" dirty="0">
                <a:solidFill>
                  <a:srgbClr val="707070"/>
                </a:solidFill>
                <a:latin typeface="Arial" pitchFamily="34" charset="0"/>
                <a:ea typeface="Arial" pitchFamily="34" charset="-122"/>
                <a:cs typeface="Arial" pitchFamily="34" charset="-120"/>
              </a:rPr>
              <a:t>Given the rapidly evolving feature space...</a:t>
            </a:r>
            <a:endParaRPr lang="en-US" sz="1300" dirty="0"/>
          </a:p>
        </p:txBody>
      </p:sp>
      <p:sp>
        <p:nvSpPr>
          <p:cNvPr id="4" name="Shape 2"/>
          <p:cNvSpPr/>
          <p:nvPr/>
        </p:nvSpPr>
        <p:spPr>
          <a:xfrm>
            <a:off x="457200" y="1371600"/>
            <a:ext cx="3931920" cy="3017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457200" y="1371600"/>
            <a:ext cx="3931920" cy="54864"/>
          </a:xfrm>
          <a:prstGeom prst="rect">
            <a:avLst/>
          </a:prstGeom>
          <a:solidFill>
            <a:srgbClr val="CF3338"/>
          </a:solidFill>
          <a:ln/>
        </p:spPr>
        <p:txBody>
          <a:bodyPr/>
          <a:lstStyle/>
          <a:p>
            <a:endParaRPr lang="en-US"/>
          </a:p>
        </p:txBody>
      </p:sp>
      <p:sp>
        <p:nvSpPr>
          <p:cNvPr id="6" name="Text 4"/>
          <p:cNvSpPr/>
          <p:nvPr/>
        </p:nvSpPr>
        <p:spPr>
          <a:xfrm>
            <a:off x="640080" y="1508760"/>
            <a:ext cx="3566160" cy="365760"/>
          </a:xfrm>
          <a:prstGeom prst="rect">
            <a:avLst/>
          </a:prstGeom>
          <a:noFill/>
          <a:ln/>
        </p:spPr>
        <p:txBody>
          <a:bodyPr wrap="square" rtlCol="0" anchor="ctr"/>
          <a:lstStyle/>
          <a:p>
            <a:pPr marL="0" indent="0">
              <a:buNone/>
            </a:pPr>
            <a:r>
              <a:rPr lang="en-US" sz="1800" b="1" dirty="0">
                <a:solidFill>
                  <a:srgbClr val="CF3338"/>
                </a:solidFill>
                <a:latin typeface="Arial Black" pitchFamily="34" charset="0"/>
                <a:ea typeface="Arial Black" pitchFamily="34" charset="-122"/>
                <a:cs typeface="Arial Black" pitchFamily="34" charset="-120"/>
              </a:rPr>
              <a:t>Most Users</a:t>
            </a:r>
            <a:endParaRPr lang="en-US" sz="1800" dirty="0"/>
          </a:p>
        </p:txBody>
      </p:sp>
      <p:sp>
        <p:nvSpPr>
          <p:cNvPr id="7" name="Text 5"/>
          <p:cNvSpPr/>
          <p:nvPr/>
        </p:nvSpPr>
        <p:spPr>
          <a:xfrm>
            <a:off x="640080" y="1874520"/>
            <a:ext cx="3566160" cy="320040"/>
          </a:xfrm>
          <a:prstGeom prst="rect">
            <a:avLst/>
          </a:prstGeom>
          <a:noFill/>
          <a:ln/>
        </p:spPr>
        <p:txBody>
          <a:bodyPr wrap="square" rtlCol="0" anchor="ctr"/>
          <a:lstStyle/>
          <a:p>
            <a:pPr marL="0" indent="0">
              <a:buNone/>
            </a:pPr>
            <a:r>
              <a:rPr lang="en-US" sz="1400" b="1" dirty="0">
                <a:solidFill>
                  <a:srgbClr val="1F2120"/>
                </a:solidFill>
                <a:latin typeface="Arial" pitchFamily="34" charset="0"/>
                <a:ea typeface="Arial" pitchFamily="34" charset="-122"/>
                <a:cs typeface="Arial" pitchFamily="34" charset="-120"/>
              </a:rPr>
              <a:t>Copilot for Microsoft 365</a:t>
            </a:r>
            <a:endParaRPr lang="en-US" sz="1400" dirty="0"/>
          </a:p>
        </p:txBody>
      </p:sp>
      <p:sp>
        <p:nvSpPr>
          <p:cNvPr id="8" name="Text 6"/>
          <p:cNvSpPr/>
          <p:nvPr/>
        </p:nvSpPr>
        <p:spPr>
          <a:xfrm>
            <a:off x="640080" y="2286000"/>
            <a:ext cx="3566160" cy="1920240"/>
          </a:xfrm>
          <a:prstGeom prst="rect">
            <a:avLst/>
          </a:prstGeom>
          <a:noFill/>
          <a:ln/>
        </p:spPr>
        <p:txBody>
          <a:bodyPr wrap="square" rtlCol="0" anchor="ctr"/>
          <a:lstStyle/>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Paid add-on to M365 (~$30/user/mo)</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Tighter Excel integration</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Data stays in Microsoft ecosystem</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Enterprise admin controls</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One subscription covers the full suite</a:t>
            </a:r>
            <a:endParaRPr lang="en-US" sz="1200" dirty="0"/>
          </a:p>
        </p:txBody>
      </p:sp>
      <p:sp>
        <p:nvSpPr>
          <p:cNvPr id="9" name="Shape 7"/>
          <p:cNvSpPr/>
          <p:nvPr/>
        </p:nvSpPr>
        <p:spPr>
          <a:xfrm>
            <a:off x="4754880" y="1371600"/>
            <a:ext cx="3931920" cy="3017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0" name="Shape 8"/>
          <p:cNvSpPr/>
          <p:nvPr/>
        </p:nvSpPr>
        <p:spPr>
          <a:xfrm>
            <a:off x="4754880" y="1371600"/>
            <a:ext cx="3931920" cy="54864"/>
          </a:xfrm>
          <a:prstGeom prst="rect">
            <a:avLst/>
          </a:prstGeom>
          <a:solidFill>
            <a:srgbClr val="CF3338"/>
          </a:solidFill>
          <a:ln/>
        </p:spPr>
        <p:txBody>
          <a:bodyPr/>
          <a:lstStyle/>
          <a:p>
            <a:endParaRPr lang="en-US"/>
          </a:p>
        </p:txBody>
      </p:sp>
      <p:sp>
        <p:nvSpPr>
          <p:cNvPr id="11" name="Text 9"/>
          <p:cNvSpPr/>
          <p:nvPr/>
        </p:nvSpPr>
        <p:spPr>
          <a:xfrm>
            <a:off x="4937760" y="1508760"/>
            <a:ext cx="3566160" cy="365760"/>
          </a:xfrm>
          <a:prstGeom prst="rect">
            <a:avLst/>
          </a:prstGeom>
          <a:noFill/>
          <a:ln/>
        </p:spPr>
        <p:txBody>
          <a:bodyPr wrap="square" rtlCol="0" anchor="ctr"/>
          <a:lstStyle/>
          <a:p>
            <a:pPr marL="0" indent="0">
              <a:buNone/>
            </a:pPr>
            <a:r>
              <a:rPr lang="en-US" sz="1800" b="1" dirty="0">
                <a:solidFill>
                  <a:srgbClr val="CF3338"/>
                </a:solidFill>
                <a:latin typeface="Arial Black" pitchFamily="34" charset="0"/>
                <a:ea typeface="Arial Black" pitchFamily="34" charset="-122"/>
                <a:cs typeface="Arial Black" pitchFamily="34" charset="-120"/>
              </a:rPr>
              <a:t>Power Users</a:t>
            </a:r>
            <a:endParaRPr lang="en-US" sz="1800" dirty="0"/>
          </a:p>
        </p:txBody>
      </p:sp>
      <p:sp>
        <p:nvSpPr>
          <p:cNvPr id="12" name="Text 10"/>
          <p:cNvSpPr/>
          <p:nvPr/>
        </p:nvSpPr>
        <p:spPr>
          <a:xfrm>
            <a:off x="4937760" y="1874520"/>
            <a:ext cx="3566160" cy="320040"/>
          </a:xfrm>
          <a:prstGeom prst="rect">
            <a:avLst/>
          </a:prstGeom>
          <a:noFill/>
          <a:ln/>
        </p:spPr>
        <p:txBody>
          <a:bodyPr wrap="square" rtlCol="0" anchor="ctr"/>
          <a:lstStyle/>
          <a:p>
            <a:pPr marL="0" indent="0">
              <a:buNone/>
            </a:pPr>
            <a:r>
              <a:rPr lang="en-US" sz="1400" b="1" dirty="0">
                <a:solidFill>
                  <a:srgbClr val="1F2120"/>
                </a:solidFill>
                <a:latin typeface="Arial" pitchFamily="34" charset="0"/>
                <a:ea typeface="Arial" pitchFamily="34" charset="-122"/>
                <a:cs typeface="Arial" pitchFamily="34" charset="-120"/>
              </a:rPr>
              <a:t>Claude (especially Cowork &amp; Code)</a:t>
            </a:r>
            <a:endParaRPr lang="en-US" sz="1400" dirty="0"/>
          </a:p>
        </p:txBody>
      </p:sp>
      <p:sp>
        <p:nvSpPr>
          <p:cNvPr id="13" name="Text 11"/>
          <p:cNvSpPr/>
          <p:nvPr/>
        </p:nvSpPr>
        <p:spPr>
          <a:xfrm>
            <a:off x="4937760" y="2286000"/>
            <a:ext cx="3566160" cy="1920240"/>
          </a:xfrm>
          <a:prstGeom prst="rect">
            <a:avLst/>
          </a:prstGeom>
          <a:noFill/>
          <a:ln/>
        </p:spPr>
        <p:txBody>
          <a:bodyPr wrap="square" rtlCol="0" anchor="ctr"/>
          <a:lstStyle/>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Full deliverable generation (Cowork)</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Developer-style workflows (Code)</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More flexible for complex tasks</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Separate subscription required</a:t>
            </a:r>
            <a:endParaRPr lang="en-US" sz="1200" dirty="0"/>
          </a:p>
          <a:p>
            <a:pPr marL="342900" indent="-342900">
              <a:spcAft>
                <a:spcPts val="400"/>
              </a:spcAft>
              <a:buSzPct val="100000"/>
              <a:buChar char="•"/>
            </a:pPr>
            <a:r>
              <a:rPr lang="en-US" sz="1200" dirty="0">
                <a:solidFill>
                  <a:srgbClr val="707070"/>
                </a:solidFill>
                <a:latin typeface="Arial" pitchFamily="34" charset="0"/>
                <a:ea typeface="Arial" pitchFamily="34" charset="-122"/>
                <a:cs typeface="Arial" pitchFamily="34" charset="-120"/>
              </a:rPr>
              <a:t>Microsoft building own version (TBA)</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What's Coming Next</a:t>
            </a:r>
            <a:endParaRPr lang="en-US" sz="2800" dirty="0"/>
          </a:p>
        </p:txBody>
      </p:sp>
      <p:sp>
        <p:nvSpPr>
          <p:cNvPr id="3" name="Text 1"/>
          <p:cNvSpPr/>
          <p:nvPr/>
        </p:nvSpPr>
        <p:spPr>
          <a:xfrm>
            <a:off x="731520" y="1005840"/>
            <a:ext cx="7315200" cy="3200400"/>
          </a:xfrm>
          <a:prstGeom prst="rect">
            <a:avLst/>
          </a:prstGeom>
          <a:noFill/>
          <a:ln/>
        </p:spPr>
        <p:txBody>
          <a:bodyPr wrap="square" rtlCol="0" anchor="ctr"/>
          <a:lstStyle/>
          <a:p>
            <a:pPr marL="0" indent="0">
              <a:spcAft>
                <a:spcPts val="600"/>
              </a:spcAft>
              <a:buNone/>
            </a:pPr>
            <a:r>
              <a:rPr lang="en-US" sz="1400" b="1" dirty="0">
                <a:solidFill>
                  <a:srgbClr val="707070"/>
                </a:solidFill>
                <a:latin typeface="Arial" pitchFamily="34" charset="0"/>
                <a:ea typeface="Arial" pitchFamily="34" charset="-122"/>
                <a:cs typeface="Arial" pitchFamily="34" charset="-120"/>
              </a:rPr>
              <a:t>The landscape is shifting fast:</a:t>
            </a:r>
            <a:endParaRPr lang="en-US" sz="1400" dirty="0"/>
          </a:p>
          <a:p>
            <a:pPr marL="0" indent="0">
              <a:spcAft>
                <a:spcPts val="600"/>
              </a:spcAft>
              <a:buNone/>
            </a:pP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Copilot now supports third-party models (Claude, Gemini)</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Microsoft has announced a Cowork-like tool built on Anthropic tech</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Claude's Excel add-in continues to improve</a:t>
            </a:r>
            <a:endParaRPr lang="en-US" sz="1400" dirty="0"/>
          </a:p>
          <a:p>
            <a:pPr marL="342900" indent="-342900">
              <a:spcAft>
                <a:spcPts val="600"/>
              </a:spcAft>
              <a:buSzPct val="100000"/>
              <a:buChar char="•"/>
            </a:pPr>
            <a:r>
              <a:rPr lang="en-US" sz="1400" dirty="0">
                <a:solidFill>
                  <a:srgbClr val="707070"/>
                </a:solidFill>
                <a:latin typeface="Arial" pitchFamily="34" charset="0"/>
                <a:ea typeface="Arial" pitchFamily="34" charset="-122"/>
                <a:cs typeface="Arial" pitchFamily="34" charset="-120"/>
              </a:rPr>
              <a:t>New models ship regularly. Today's comparison may shift</a:t>
            </a:r>
            <a:endParaRPr lang="en-US" sz="1400" dirty="0"/>
          </a:p>
          <a:p>
            <a:pPr marL="0" indent="0">
              <a:spcAft>
                <a:spcPts val="600"/>
              </a:spcAft>
              <a:buNone/>
            </a:pPr>
            <a:endParaRPr lang="en-US" sz="1400" dirty="0"/>
          </a:p>
          <a:p>
            <a:pPr marL="0" indent="0">
              <a:spcAft>
                <a:spcPts val="600"/>
              </a:spcAft>
              <a:buNone/>
            </a:pPr>
            <a:r>
              <a:rPr lang="en-US" sz="1800" b="1" dirty="0">
                <a:solidFill>
                  <a:srgbClr val="CF3338"/>
                </a:solidFill>
                <a:latin typeface="Arial" pitchFamily="34" charset="0"/>
                <a:ea typeface="Arial" pitchFamily="34" charset="-122"/>
                <a:cs typeface="Arial" pitchFamily="34" charset="-120"/>
              </a:rPr>
              <a:t>Focus on principles, not products.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274320"/>
            <a:ext cx="7315200" cy="640080"/>
          </a:xfrm>
          <a:prstGeom prst="rect">
            <a:avLst/>
          </a:prstGeom>
          <a:noFill/>
          <a:ln/>
        </p:spPr>
        <p:txBody>
          <a:bodyPr wrap="square"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Your Takeaway Toolkit</a:t>
            </a:r>
            <a:endParaRPr lang="en-US" sz="2800" dirty="0"/>
          </a:p>
        </p:txBody>
      </p:sp>
      <p:sp>
        <p:nvSpPr>
          <p:cNvPr id="3" name="Text 1"/>
          <p:cNvSpPr/>
          <p:nvPr/>
        </p:nvSpPr>
        <p:spPr>
          <a:xfrm>
            <a:off x="731520" y="1005840"/>
            <a:ext cx="7315200" cy="2743200"/>
          </a:xfrm>
          <a:prstGeom prst="rect">
            <a:avLst/>
          </a:prstGeom>
          <a:noFill/>
          <a:ln/>
        </p:spPr>
        <p:txBody>
          <a:bodyPr wrap="square" rtlCol="0" anchor="ctr"/>
          <a:lstStyle/>
          <a:p>
            <a:pPr marL="0" indent="0">
              <a:spcAft>
                <a:spcPts val="800"/>
              </a:spcAft>
              <a:buNone/>
            </a:pPr>
            <a:r>
              <a:rPr lang="en-US" sz="1400" b="1" dirty="0">
                <a:solidFill>
                  <a:srgbClr val="707070"/>
                </a:solidFill>
                <a:latin typeface="Arial" pitchFamily="34" charset="0"/>
                <a:ea typeface="Arial" pitchFamily="34" charset="-122"/>
                <a:cs typeface="Arial" pitchFamily="34" charset="-120"/>
              </a:rPr>
              <a:t>Included in your workshop materials:</a:t>
            </a:r>
            <a:endParaRPr lang="en-US" sz="1400" dirty="0"/>
          </a:p>
          <a:p>
            <a:pPr marL="0" indent="0">
              <a:spcAft>
                <a:spcPts val="800"/>
              </a:spcAft>
              <a:buNone/>
            </a:pP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Comparison handout: "Consumer Report" format</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Excel AI Style Guide: paste into any AI session for consistent results</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Excel AI Prompt Library: ready-to-paste prompts for common tasks</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"Which tool?“: decision flowchart</a:t>
            </a:r>
            <a:endParaRPr lang="en-US" sz="1400" dirty="0"/>
          </a:p>
          <a:p>
            <a:pPr marL="342900" indent="-342900">
              <a:spcAft>
                <a:spcPts val="800"/>
              </a:spcAft>
              <a:buSzPct val="100000"/>
              <a:buChar char="•"/>
            </a:pPr>
            <a:r>
              <a:rPr lang="en-US" sz="1400" dirty="0">
                <a:solidFill>
                  <a:srgbClr val="707070"/>
                </a:solidFill>
                <a:latin typeface="Arial" pitchFamily="34" charset="0"/>
                <a:ea typeface="Arial" pitchFamily="34" charset="-122"/>
                <a:cs typeface="Arial" pitchFamily="34" charset="-120"/>
              </a:rPr>
              <a:t>Practice workbook: the same dataset I used, ready for you to try</a:t>
            </a:r>
            <a:endParaRPr lang="en-US" sz="1400" dirty="0"/>
          </a:p>
        </p:txBody>
      </p:sp>
      <p:sp>
        <p:nvSpPr>
          <p:cNvPr id="4" name="Shape 2"/>
          <p:cNvSpPr/>
          <p:nvPr/>
        </p:nvSpPr>
        <p:spPr>
          <a:xfrm>
            <a:off x="731520" y="3840480"/>
            <a:ext cx="7680960" cy="54864"/>
          </a:xfrm>
          <a:prstGeom prst="rect">
            <a:avLst/>
          </a:prstGeom>
          <a:solidFill>
            <a:srgbClr val="CF3338"/>
          </a:solidFill>
          <a:ln/>
        </p:spPr>
        <p:txBody>
          <a:bodyPr/>
          <a:lstStyle/>
          <a:p>
            <a:endParaRPr lang="en-US"/>
          </a:p>
        </p:txBody>
      </p:sp>
      <p:sp>
        <p:nvSpPr>
          <p:cNvPr id="5" name="Text 3"/>
          <p:cNvSpPr/>
          <p:nvPr/>
        </p:nvSpPr>
        <p:spPr>
          <a:xfrm>
            <a:off x="731520" y="4023360"/>
            <a:ext cx="7315200" cy="365760"/>
          </a:xfrm>
          <a:prstGeom prst="rect">
            <a:avLst/>
          </a:prstGeom>
          <a:noFill/>
          <a:ln/>
        </p:spPr>
        <p:txBody>
          <a:bodyPr wrap="square" rtlCol="0" anchor="ctr"/>
          <a:lstStyle/>
          <a:p>
            <a:pPr marL="0" indent="0">
              <a:buNone/>
            </a:pP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914400"/>
            <a:ext cx="6400800" cy="1828800"/>
          </a:xfrm>
          <a:prstGeom prst="rect">
            <a:avLst/>
          </a:prstGeom>
          <a:noFill/>
          <a:ln/>
        </p:spPr>
        <p:txBody>
          <a:bodyPr wrap="square" rtlCol="0" anchor="ctr"/>
          <a:lstStyle/>
          <a:p>
            <a:pPr marL="0" indent="0">
              <a:buNone/>
            </a:pPr>
            <a:r>
              <a:rPr lang="en-US" sz="4400" b="1" dirty="0">
                <a:solidFill>
                  <a:srgbClr val="CF3338"/>
                </a:solidFill>
                <a:latin typeface="Arial Black" pitchFamily="34" charset="0"/>
                <a:ea typeface="Arial Black" pitchFamily="34" charset="-122"/>
                <a:cs typeface="Arial Black" pitchFamily="34" charset="-120"/>
              </a:rPr>
              <a:t>Questions?</a:t>
            </a:r>
            <a:endParaRPr lang="en-US" sz="4400" dirty="0"/>
          </a:p>
        </p:txBody>
      </p:sp>
      <p:sp>
        <p:nvSpPr>
          <p:cNvPr id="3" name="Text 1"/>
          <p:cNvSpPr/>
          <p:nvPr/>
        </p:nvSpPr>
        <p:spPr>
          <a:xfrm>
            <a:off x="731520" y="3200400"/>
            <a:ext cx="5486400" cy="731520"/>
          </a:xfrm>
          <a:prstGeom prst="rect">
            <a:avLst/>
          </a:prstGeom>
          <a:noFill/>
          <a:ln/>
        </p:spPr>
        <p:txBody>
          <a:bodyPr wrap="square" rtlCol="0" anchor="ctr"/>
          <a:lstStyle/>
          <a:p>
            <a:pPr marL="0" indent="0">
              <a:lnSpc>
                <a:spcPct val="150000"/>
              </a:lnSpc>
              <a:buNone/>
            </a:pPr>
            <a:r>
              <a:rPr lang="en-US" sz="1400" dirty="0">
                <a:solidFill>
                  <a:srgbClr val="707070"/>
                </a:solidFill>
                <a:latin typeface="Arial" pitchFamily="34" charset="0"/>
                <a:ea typeface="Arial" pitchFamily="34" charset="-122"/>
                <a:cs typeface="Arial" pitchFamily="34" charset="-120"/>
              </a:rPr>
              <a:t>George Mount | Stringfest Analytics</a:t>
            </a:r>
            <a:endParaRPr lang="en-US" sz="1400" dirty="0"/>
          </a:p>
          <a:p>
            <a:pPr marL="0" indent="0">
              <a:lnSpc>
                <a:spcPct val="150000"/>
              </a:lnSpc>
              <a:buNone/>
            </a:pPr>
            <a:r>
              <a:rPr lang="en-US" sz="1400" dirty="0">
                <a:solidFill>
                  <a:srgbClr val="707070"/>
                </a:solidFill>
                <a:latin typeface="Arial" pitchFamily="34" charset="0"/>
                <a:ea typeface="Arial" pitchFamily="34" charset="-122"/>
                <a:cs typeface="Arial" pitchFamily="34" charset="-120"/>
              </a:rPr>
              <a:t>stringfestanalytics.com</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731520" y="731520"/>
            <a:ext cx="6400800" cy="1828800"/>
          </a:xfrm>
          <a:prstGeom prst="rect">
            <a:avLst/>
          </a:prstGeom>
          <a:noFill/>
          <a:ln/>
        </p:spPr>
        <p:txBody>
          <a:bodyPr wrap="square" rtlCol="0" anchor="ctr"/>
          <a:lstStyle/>
          <a:p>
            <a:pPr marL="0" indent="0">
              <a:buNone/>
            </a:pPr>
            <a:r>
              <a:rPr lang="en-US" sz="4400" b="1" dirty="0">
                <a:solidFill>
                  <a:srgbClr val="CF3338"/>
                </a:solidFill>
                <a:latin typeface="Arial Black" pitchFamily="34" charset="0"/>
                <a:ea typeface="Arial Black" pitchFamily="34" charset="-122"/>
                <a:cs typeface="Arial Black" pitchFamily="34" charset="-120"/>
              </a:rPr>
              <a:t>Thank You</a:t>
            </a:r>
            <a:endParaRPr lang="en-US" sz="4400" dirty="0"/>
          </a:p>
        </p:txBody>
      </p:sp>
      <p:sp>
        <p:nvSpPr>
          <p:cNvPr id="3" name="Text 1"/>
          <p:cNvSpPr/>
          <p:nvPr/>
        </p:nvSpPr>
        <p:spPr>
          <a:xfrm>
            <a:off x="731520" y="2743200"/>
            <a:ext cx="5486400" cy="457200"/>
          </a:xfrm>
          <a:prstGeom prst="rect">
            <a:avLst/>
          </a:prstGeom>
          <a:noFill/>
          <a:ln/>
        </p:spPr>
        <p:txBody>
          <a:bodyPr wrap="square" rtlCol="0" anchor="ctr"/>
          <a:lstStyle/>
          <a:p>
            <a:pPr marL="0" indent="0">
              <a:buNone/>
            </a:pPr>
            <a:r>
              <a:rPr lang="en-US" sz="1600" dirty="0">
                <a:solidFill>
                  <a:srgbClr val="1F2120"/>
                </a:solidFill>
                <a:latin typeface="Arial" pitchFamily="34" charset="0"/>
                <a:ea typeface="Arial" pitchFamily="34" charset="-122"/>
                <a:cs typeface="Arial" pitchFamily="34" charset="-120"/>
              </a:rPr>
              <a:t>George Mount | Stringfest Analytics</a:t>
            </a:r>
            <a:endParaRPr lang="en-US" sz="1600" dirty="0"/>
          </a:p>
        </p:txBody>
      </p:sp>
      <p:sp>
        <p:nvSpPr>
          <p:cNvPr id="4" name="Text 2"/>
          <p:cNvSpPr/>
          <p:nvPr/>
        </p:nvSpPr>
        <p:spPr>
          <a:xfrm>
            <a:off x="731520" y="3200400"/>
            <a:ext cx="5486400" cy="365760"/>
          </a:xfrm>
          <a:prstGeom prst="rect">
            <a:avLst/>
          </a:prstGeom>
          <a:noFill/>
          <a:ln/>
        </p:spPr>
        <p:txBody>
          <a:bodyPr wrap="square" rtlCol="0" anchor="ctr"/>
          <a:lstStyle/>
          <a:p>
            <a:pPr marL="0" indent="0">
              <a:buNone/>
            </a:pPr>
            <a:r>
              <a:rPr lang="en-US" sz="1200" dirty="0">
                <a:solidFill>
                  <a:srgbClr val="707070"/>
                </a:solidFill>
                <a:latin typeface="Arial" pitchFamily="34" charset="0"/>
                <a:ea typeface="Arial" pitchFamily="34" charset="-122"/>
                <a:cs typeface="Arial" pitchFamily="34" charset="-120"/>
              </a:rPr>
              <a:t>Microsoft Excel MVP | LinkedIn Learning Instructor | O'Reilly Author</a:t>
            </a:r>
            <a:endParaRPr lang="en-US" sz="1200" dirty="0"/>
          </a:p>
        </p:txBody>
      </p:sp>
      <p:sp>
        <p:nvSpPr>
          <p:cNvPr id="5" name="Text 3"/>
          <p:cNvSpPr/>
          <p:nvPr/>
        </p:nvSpPr>
        <p:spPr>
          <a:xfrm>
            <a:off x="731520" y="3749040"/>
            <a:ext cx="3657600" cy="365760"/>
          </a:xfrm>
          <a:prstGeom prst="rect">
            <a:avLst/>
          </a:prstGeom>
          <a:noFill/>
          <a:ln/>
        </p:spPr>
        <p:txBody>
          <a:bodyPr wrap="square" rtlCol="0" anchor="ctr"/>
          <a:lstStyle/>
          <a:p>
            <a:pPr marL="0" indent="0">
              <a:buNone/>
            </a:pPr>
            <a:r>
              <a:rPr lang="en-US" sz="1400" b="1" dirty="0">
                <a:solidFill>
                  <a:srgbClr val="CF3338"/>
                </a:solidFill>
                <a:latin typeface="Arial" pitchFamily="34" charset="0"/>
                <a:ea typeface="Arial" pitchFamily="34" charset="-122"/>
                <a:cs typeface="Arial" pitchFamily="34" charset="-120"/>
              </a:rPr>
              <a:t>stringfestanalytics.com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3011</Words>
  <Application>Microsoft Office PowerPoint</Application>
  <PresentationFormat>On-screen Show (16:9)</PresentationFormat>
  <Paragraphs>318</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vs Claude in Excel: A Side-by-Side Road Test</dc:title>
  <dc:subject>PptxGenJS Presentation</dc:subject>
  <dc:creator>George Mount</dc:creator>
  <cp:lastModifiedBy>George Mount</cp:lastModifiedBy>
  <cp:revision>4</cp:revision>
  <dcterms:created xsi:type="dcterms:W3CDTF">2026-03-23T14:28:24Z</dcterms:created>
  <dcterms:modified xsi:type="dcterms:W3CDTF">2026-04-09T19:07:04Z</dcterms:modified>
</cp:coreProperties>
</file>